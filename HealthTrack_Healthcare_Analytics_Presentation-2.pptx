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0791" cy="6858000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2057400"/>
            <a:ext cx="2651760" cy="265176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89720" y="2057400"/>
            <a:ext cx="1920240" cy="192024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89720" y="2057400"/>
            <a:ext cx="1188720" cy="118872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67665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Healthcare Analytics</a:t>
            </a:r>
          </a:p>
          <a:p>
            <a:pPr>
              <a:defRPr sz="2200">
                <a:solidFill>
                  <a:srgbClr val="C8E6E7"/>
                </a:solidFill>
                <a:latin typeface="Aptos"/>
              </a:defRPr>
            </a:pPr>
            <a:r>
              <a:t>Power BI End-to-End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43200"/>
            <a:ext cx="6217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HealthTrack • Hospital Performance Dashboard</a:t>
            </a:r>
          </a:p>
          <a:p>
            <a:pPr>
              <a:defRPr sz="1200">
                <a:solidFill>
                  <a:srgbClr val="CDD7DC"/>
                </a:solidFill>
                <a:latin typeface="Aptos"/>
              </a:defRPr>
            </a:pPr>
            <a:r>
              <a:t>A short project overview before the live Power BI demonstration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1965960" cy="384048"/>
          </a:xfrm>
          <a:prstGeom prst="round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Admissions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069080"/>
            <a:ext cx="1965960" cy="384048"/>
          </a:xfrm>
          <a:prstGeom prst="round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36008"/>
            <a:ext cx="1965960" cy="384048"/>
          </a:xfrm>
          <a:prstGeom prst="round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Financials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636008"/>
            <a:ext cx="1965960" cy="384048"/>
          </a:xfrm>
          <a:prstGeom prst="roundRect">
            <a:avLst/>
          </a:prstGeom>
          <a:solidFill>
            <a:srgbClr val="27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52"/>
                </a:solidFill>
                <a:latin typeface="Aptos Display"/>
              </a:defRPr>
            </a:pPr>
            <a:r>
              <a:t>1. 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What the CMO needs the dashboard to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691640"/>
          </a:xfrm>
          <a:prstGeom prst="roundRect">
            <a:avLst/>
          </a:prstGeom>
          <a:solidFill>
            <a:srgbClr val="F4F7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Q1 • Admissions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How many patients are admitted each month, and which departments are busiest?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5166360" cy="1691640"/>
          </a:xfrm>
          <a:prstGeom prst="roundRect">
            <a:avLst/>
          </a:prstGeom>
          <a:solidFill>
            <a:srgbClr val="F4F7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Q2 • Operations &amp; Billing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What are the average Length of Stay and Total Bill by department and hospital?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437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166360" cy="1691640"/>
          </a:xfrm>
          <a:prstGeom prst="roundRect">
            <a:avLst/>
          </a:prstGeom>
          <a:solidFill>
            <a:srgbClr val="F4F7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Q3 • Financial Coverage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How much revenue is covered by insurance versus paid out-of-pocket?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691640"/>
          </a:xfrm>
          <a:prstGeom prst="rect">
            <a:avLst/>
          </a:prstGeom>
          <a:solidFill>
            <a:srgbClr val="4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566160"/>
            <a:ext cx="5166360" cy="1691640"/>
          </a:xfrm>
          <a:prstGeom prst="roundRect">
            <a:avLst/>
          </a:prstGeom>
          <a:solidFill>
            <a:srgbClr val="F4F7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Q4 • Quality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What is the patient satisfaction trend, and which doctors perform best?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566160"/>
            <a:ext cx="73152" cy="1691640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  <a:latin typeface="Aptos"/>
              </a:defRPr>
            </a:pPr>
            <a:r>
              <a:t>HealthTrack • Healthcare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52"/>
                </a:solidFill>
                <a:latin typeface="Aptos Display"/>
              </a:defRPr>
            </a:pPr>
            <a:r>
              <a:t>2. ETL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From raw hospital exports to analysis-ready data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475488" cy="475488"/>
          </a:xfrm>
          <a:prstGeom prst="ellipse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810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52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084832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0"/>
                </a:solidFill>
                <a:latin typeface="Aptos"/>
              </a:defRPr>
            </a:pPr>
            <a:r>
              <a:t>Import HC_Patients.csv and HC_Admissions.csv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1828800"/>
            <a:ext cx="475488" cy="475488"/>
          </a:xfrm>
          <a:prstGeom prst="ellipse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7952" y="1810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52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084832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0"/>
                </a:solidFill>
                <a:latin typeface="Aptos"/>
              </a:defRPr>
            </a:pPr>
            <a:r>
              <a:t>Fix data types, review fields, and prepare columns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1828800"/>
            <a:ext cx="475488" cy="475488"/>
          </a:xfrm>
          <a:prstGeom prst="ellipse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810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52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084832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0"/>
                </a:solidFill>
                <a:latin typeface="Aptos"/>
              </a:defRPr>
            </a:pPr>
            <a:r>
              <a:t>Create required calculated columns and analysis fields</a:t>
            </a:r>
          </a:p>
        </p:txBody>
      </p:sp>
      <p:sp>
        <p:nvSpPr>
          <p:cNvPr id="15" name="Oval 14"/>
          <p:cNvSpPr/>
          <p:nvPr/>
        </p:nvSpPr>
        <p:spPr>
          <a:xfrm>
            <a:off x="9052560" y="1828800"/>
            <a:ext cx="475488" cy="475488"/>
          </a:xfrm>
          <a:prstGeom prst="ellipse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4352" y="18105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3752"/>
                </a:solidFill>
                <a:latin typeface="Aptos"/>
              </a:defRPr>
            </a:pPr>
            <a:r>
              <a:t>Date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2084832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970"/>
                </a:solidFill>
                <a:latin typeface="Aptos"/>
              </a:defRPr>
            </a:pPr>
            <a:r>
              <a:t>Build DimDate using M code for time intelligence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26080" y="1975104"/>
            <a:ext cx="457200" cy="256032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669280" y="1975104"/>
            <a:ext cx="457200" cy="256032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412480" y="1975104"/>
            <a:ext cx="457200" cy="256032"/>
          </a:xfrm>
          <a:prstGeom prst="rightArrow">
            <a:avLst/>
          </a:prstGeom>
          <a:solidFill>
            <a:srgbClr val="BE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3886200"/>
            <a:ext cx="9784080" cy="1097280"/>
          </a:xfrm>
          <a:prstGeom prst="roundRect">
            <a:avLst/>
          </a:prstGeom>
          <a:solidFill>
            <a:srgbClr val="E0F3F3"/>
          </a:solidFill>
          <a:ln>
            <a:solidFill>
              <a:srgbClr val="BE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93752"/>
                </a:solidFill>
                <a:latin typeface="Aptos"/>
              </a:defRPr>
            </a:pPr>
            <a:r>
              <a:t>Goal: create reliable, consistent data before building visuals or calculations.</a:t>
            </a:r>
          </a:p>
          <a:p>
            <a:pPr algn="ctr">
              <a:defRPr sz="1100">
                <a:solidFill>
                  <a:srgbClr val="5F6970"/>
                </a:solidFill>
                <a:latin typeface="Aptos"/>
              </a:defRPr>
            </a:pPr>
            <a:r>
              <a:t>Power Query is used for preparation; DAX is used later for analytical measures.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  <a:latin typeface="Aptos"/>
              </a:defRPr>
            </a:pPr>
            <a:r>
              <a:t>HealthTrack • Healthcare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52"/>
                </a:solidFill>
                <a:latin typeface="Aptos Display"/>
              </a:defRPr>
            </a:pPr>
            <a:r>
              <a:t>3. Data Model &amp; DAX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A structured model makes the report interactive and reusable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303520" cy="4206240"/>
          </a:xfrm>
          <a:prstGeom prst="roundRect">
            <a:avLst/>
          </a:prstGeom>
          <a:solidFill>
            <a:srgbClr val="E8F0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Data Modeling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3-table star-schema structure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2 relationships connecting the model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Dedicated DimDate table for time-based analysis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Designed for consistent filtering across report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206240"/>
          </a:xfrm>
          <a:prstGeom prst="rect">
            <a:avLst/>
          </a:prstGeom>
          <a:solidFill>
            <a:srgbClr val="437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206240"/>
          </a:xfrm>
          <a:prstGeom prst="roundRect">
            <a:avLst/>
          </a:prstGeom>
          <a:solidFill>
            <a:srgbClr val="E0F3F3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DAX Measures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14 measures created for KPIs and visuals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COUNTROWS, SUM, AVERAGE, DIVIDE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CALCULATE and FILTER for filter context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TOTALYTD, PREVIOUSYEAR, DATESMTD for time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4206240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  <a:latin typeface="Aptos"/>
              </a:defRPr>
            </a:pPr>
            <a:r>
              <a:t>HealthTrack • Healthcare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52"/>
                </a:solidFill>
                <a:latin typeface="Aptos Display"/>
              </a:defRPr>
            </a:pPr>
            <a:r>
              <a:t>4. Dashboard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Four pages, each mapped directly to a business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298448"/>
            <a:ext cx="5943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280160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2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075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858C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89304"/>
            <a:ext cx="6492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0"/>
                </a:solidFill>
                <a:latin typeface="Aptos"/>
              </a:defRPr>
            </a:pPr>
            <a:r>
              <a:t>4 KPI cards • monthly admissions • hospital ranking • admission type • slicers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23744"/>
            <a:ext cx="5943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505456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2"/>
                </a:solidFill>
                <a:latin typeface="Aptos"/>
              </a:defRPr>
            </a:pPr>
            <a:r>
              <a:t>Department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858C"/>
                </a:solidFill>
                <a:latin typeface="Aptos"/>
              </a:defRPr>
            </a:pPr>
            <a:r>
              <a:t>Q1 + 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4600"/>
            <a:ext cx="6492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0"/>
                </a:solidFill>
                <a:latin typeface="Aptos"/>
              </a:defRPr>
            </a:pPr>
            <a:r>
              <a:t>Admissions by department • Avg LOS • doctor admissions • department vs hospital matrix • slicer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49039"/>
            <a:ext cx="5943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730752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2"/>
                </a:solidFill>
                <a:latin typeface="Aptos"/>
              </a:defRPr>
            </a:pPr>
            <a:r>
              <a:t>Financial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758183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858C"/>
                </a:solidFill>
                <a:latin typeface="Aptos"/>
              </a:defRPr>
            </a:pPr>
            <a:r>
              <a:t>Q2 + 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39896"/>
            <a:ext cx="6492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0"/>
                </a:solidFill>
                <a:latin typeface="Aptos"/>
              </a:defRPr>
            </a:pPr>
            <a:r>
              <a:t>Insurance vs out-of-pocket • monthly revenue • hospital revenue • 4 KPIs • insurance gauge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974336"/>
            <a:ext cx="5943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956048"/>
            <a:ext cx="2423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3752"/>
                </a:solidFill>
                <a:latin typeface="Aptos"/>
              </a:defRPr>
            </a:pPr>
            <a:r>
              <a:t>Quality &amp; 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83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858C"/>
                </a:solidFill>
                <a:latin typeface="Aptos"/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965192"/>
            <a:ext cx="6492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0"/>
                </a:solidFill>
                <a:latin typeface="Aptos"/>
              </a:defRPr>
            </a:pPr>
            <a:r>
              <a:t>Doctor satisfaction • bill vs satisfaction scatter • department benchmark • patient status table • drill-through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  <a:latin typeface="Aptos"/>
              </a:defRPr>
            </a:pPr>
            <a:r>
              <a:t>HealthTrack • Healthcare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752"/>
                </a:solidFill>
                <a:latin typeface="Aptos Display"/>
              </a:defRPr>
            </a:pPr>
            <a:r>
              <a:t>5. Interactivity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0"/>
                </a:solidFill>
                <a:latin typeface="Aptos"/>
              </a:defRPr>
            </a:pPr>
            <a:r>
              <a:t>Turning the report into a decision-support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343400"/>
          </a:xfrm>
          <a:prstGeom prst="roundRect">
            <a:avLst/>
          </a:prstGeom>
          <a:solidFill>
            <a:srgbClr val="F4F7F9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Interactive Features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Year and admission-type slicers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Department filtering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Drill-through to detail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Conditional formatting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Analytics average / constant 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343400"/>
          </a:xfrm>
          <a:prstGeom prst="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70832" y="1417320"/>
            <a:ext cx="3429000" cy="4343400"/>
          </a:xfrm>
          <a:prstGeom prst="roundRect">
            <a:avLst/>
          </a:prstGeom>
          <a:solidFill>
            <a:srgbClr val="E8F0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Analytical Views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Monthly trends and comparisons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Department and hospital rankings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Insurance vs out-of-pocket mix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Doctor satisfaction comparison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Bill amount vs satisfaction relationship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417320"/>
            <a:ext cx="73152" cy="4343400"/>
          </a:xfrm>
          <a:prstGeom prst="rect">
            <a:avLst/>
          </a:prstGeom>
          <a:solidFill>
            <a:srgbClr val="437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29000" cy="4343400"/>
          </a:xfrm>
          <a:prstGeom prst="roundRect">
            <a:avLst/>
          </a:prstGeom>
          <a:solidFill>
            <a:srgbClr val="E0F3F3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182880" tIns="164592" bIns="109728"/>
          <a:lstStyle/>
          <a:p>
            <a:pPr algn="ctr">
              <a:defRPr sz="1600" b="1">
                <a:solidFill>
                  <a:srgbClr val="193752"/>
                </a:solidFill>
                <a:latin typeface="Aptos"/>
              </a:defRPr>
            </a:pPr>
            <a:r>
              <a:t>Business Value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Identify high-volume areas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Monitor operational performance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Understand revenue coverage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Spot quality improvement areas</a:t>
            </a:r>
          </a:p>
          <a:p>
            <a:pPr>
              <a:spcBef>
                <a:spcPts val="500"/>
              </a:spcBef>
              <a:defRPr sz="1200">
                <a:solidFill>
                  <a:srgbClr val="263238"/>
                </a:solidFill>
                <a:latin typeface="Aptos"/>
              </a:defRPr>
            </a:pPr>
            <a:r>
              <a:t>Support data-driven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17320"/>
            <a:ext cx="73152" cy="4343400"/>
          </a:xfrm>
          <a:prstGeom prst="rect">
            <a:avLst/>
          </a:prstGeom>
          <a:solidFill>
            <a:srgbClr val="42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6473952"/>
            <a:ext cx="10881360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  <a:latin typeface="Aptos"/>
              </a:defRPr>
            </a:pPr>
            <a:r>
              <a:t>HealthTrack • Healthcare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Now, let’s move to the live Power BI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240280"/>
            <a:ext cx="97840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CFE1E7"/>
                </a:solidFill>
                <a:latin typeface="Aptos"/>
              </a:defRPr>
            </a:pPr>
            <a:r>
              <a:t>I’ll walk through the four pages and show how the dashboard answers the CMO’s business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77639"/>
            <a:ext cx="24231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Executive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79" y="3977639"/>
            <a:ext cx="2423160" cy="566928"/>
          </a:xfrm>
          <a:prstGeom prst="roundRect">
            <a:avLst/>
          </a:prstGeom>
          <a:solidFill>
            <a:srgbClr val="437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Department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77639"/>
            <a:ext cx="2423160" cy="566928"/>
          </a:xfrm>
          <a:prstGeom prst="roundRect">
            <a:avLst/>
          </a:prstGeom>
          <a:solidFill>
            <a:srgbClr val="218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Financial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19" y="3977639"/>
            <a:ext cx="2423160" cy="566928"/>
          </a:xfrm>
          <a:prstGeom prst="roundRect">
            <a:avLst/>
          </a:prstGeom>
          <a:solidFill>
            <a:srgbClr val="437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Quality &amp;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7492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9CDD6"/>
                </a:solidFill>
                <a:latin typeface="Aptos"/>
              </a:defRPr>
            </a:pPr>
            <a:r>
              <a:t>Final step: publish the completed report to Power BI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