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Healthcare Patient Dashboard project. This is a complete end-to-end project. Two CSV files, full Power Query cleaning, star schema model, DAX measures, and a 4-page professional report. Every single click is documented on the following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scenario aloud to students. The business questions are the anchor. Every step of Power Query, modeling, and DAX they do must serve one of these four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students through each column name. Tell them: the Patient_ID column appears in BOTH files — that is the key we will use to create the relationship in the data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Power Query. Tell students: Power Query runs BEFORE your data gets into the model. Every transformation here is automatically re-applied every time the data refreshes. We never touch the original CSV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students must click Transform Data not Load. Walk around the room and verify each student has Power Query Editor open with BOTH tables visible in the Queries panel on the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on Step 5 — Conditional Column. Students find this confusing. The next slide shows exactly what to type in that dialog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useful Power Query skills — conditional columns let you group numeric data into categories without writing any code. Students should check the column appears and has correct values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6-8 are time intelligence preparation. Students often forget the Month Number column and then wonder why their months appear in alphabetical order on charts. Enforce that all 3 date-derived columns are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 code creates a proper calendar table. Read each line with students if they want to understand it. But the key message is: paste it exactly, click Done, and verify you see date rows from 2023-01-01 to 2024-12-31.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step. Walk around the room. If a student has wrong row counts or missing columns, it must be fixed NOW before they go into the data model. It is much harder to fix after Close &amp;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Data Model. The star schema concept is: one fact table (Admissions) in the center, dimension tables (Patients, DimDate) around it. Each dimension connects to the fact table via a key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students through the drag and drop. Very visual. Common mistake: dragging the wrong column. After each drag, click the relationship line to inspect it — confirm columns match and cardinality is One to 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Measures Table is a professional best practice. It does not affect any calculations — it is purely organisational. Every measure created in the next section should be placed in this table by selecting "Measures" as the home table when writing DAX.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DAX. Remind students: measures are not stored in rows. They calculate dynamically based on whatever filter context the visual applies. A measure for Total Admissions shows the total for whatever hospital, department, or month is selected.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writing the first measure together as a class before students write any on their own. Type it live on screen so they see the process: select Measures table → New Measure → type formula → Enter → check the Fields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each measure one at a time. After each one, add it to a card visual on the canvas to verify it shows a sensible number. Total Admissions should be 1000. Total Patients should be less than 1000 (some patients admitted multiple times). If numbers look wrong, check the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Insurance Rate % and Recovery Rate % are the most complex here. For Insurance Rate: ask students "if we spend 100 PKR in bills and insurance pays 62 PKR, what is the rate?" Walk through the DIVIDE logic. For Recovery Rate: show how FILTER creates a subset, then COUNTROWS counts only that subset.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intelligence is the most impressive part of DAX for non-technical stakeholders. When the CMO sees YTD Revenue updating automatically as the date changes, it creates an "aha" moment. Tell students: this is why the Date table setup in Section 2 was so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Report Design. Tell students: now you have clean data, a proper model, and calculated measures. This is the fun part. Every step is described exactly — what visual to add, what measure to use, where to put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theme and header setup takes 10 minutes but dramatically improves the final look. Tell students: a consistent header, colors, and fonts is what separates a student project from a professional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this page together with students. Add one visual at a time. After adding each visual, click somewhere else on the canvas to deselect, then click the visual again to format it. Teach them: Visual → Format → toggle on data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reference card for Page 1. Keep it on screen while students build. Common issues: wrong well (dragging to wrong field slot), missing legend well, wrong sort order. Walk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Matrix visual with conditional formatting (data bars) is the most impressive visual on this page. Walk students through it step by step: add Matrix, add rows, columns, and values, then go to Format → Values → Conditional Formatting → Data bars.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100% Stacked Bar is the most impactful visual for Q3. A hospital that shows 40% blue (out-of-pocket) has many uninsured patients — that is a finding the CMO will care about. Point this out when students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Scatter Chart (bubble chart) on this page is usually the most "wow" visual for students. The relationship between bill amount and satisfaction is a genuine insight. Tell students: this is the kind of analysis a healthcare consultant would charge thousands for. You just built it in Power 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Formatting is often skipped in student projects and it is always noticeable. Build in 15 minutes for this step. The alignment trick (Ctrl+select all visuals → Align) alone will transform how the report looks. Show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every student through publishing. Common failures: not signed in to Desktop (fix: sign in first), wrong workspace (fix: select My Workspace), upload error (fix: check internet connection). After publishing, make sure every student can see their report in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summary slide is useful for a student self-assessment. They should be able to check each item. If any page is incomplete, they go back to the relevant step slide and complete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project here. Ask 2-3 students to share their screen and walk through their dashboard. Ask them: what insight surprised you most? What would you add next? This reflection cements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A2B4A"/>
          </a:solidFill>
          <a:ln/>
        </p:spPr>
      </p:sp>
      <p:sp>
        <p:nvSpPr>
          <p:cNvPr id="3" name="Shape 1"/>
          <p:cNvSpPr/>
          <p:nvPr/>
        </p:nvSpPr>
        <p:spPr>
          <a:xfrm>
            <a:off x="0" y="0"/>
            <a:ext cx="502920" cy="6858000"/>
          </a:xfrm>
          <a:prstGeom prst="rect">
            <a:avLst/>
          </a:prstGeom>
          <a:solidFill>
            <a:srgbClr val="006D77"/>
          </a:solidFill>
          <a:ln/>
        </p:spPr>
      </p:sp>
      <p:sp>
        <p:nvSpPr>
          <p:cNvPr id="4" name="Shape 2"/>
          <p:cNvSpPr/>
          <p:nvPr/>
        </p:nvSpPr>
        <p:spPr>
          <a:xfrm>
            <a:off x="0" y="6446520"/>
            <a:ext cx="12161520" cy="411480"/>
          </a:xfrm>
          <a:prstGeom prst="rect">
            <a:avLst/>
          </a:prstGeom>
          <a:solidFill>
            <a:srgbClr val="E29F18"/>
          </a:solidFill>
          <a:ln/>
        </p:spPr>
      </p:sp>
      <p:sp>
        <p:nvSpPr>
          <p:cNvPr id="5" name="Shape 3"/>
          <p:cNvSpPr/>
          <p:nvPr/>
        </p:nvSpPr>
        <p:spPr>
          <a:xfrm>
            <a:off x="8686800" y="914400"/>
            <a:ext cx="3017520" cy="5029200"/>
          </a:xfrm>
          <a:prstGeom prst="roundRect">
            <a:avLst>
              <a:gd name="adj" fmla="val 4545"/>
            </a:avLst>
          </a:prstGeom>
          <a:solidFill>
            <a:srgbClr val="1A2B4A"/>
          </a:solidFill>
          <a:ln w="12700">
            <a:solidFill>
              <a:srgbClr val="1A2B4A"/>
            </a:solidFill>
            <a:prstDash val="solid"/>
          </a:ln>
        </p:spPr>
      </p:sp>
      <p:sp>
        <p:nvSpPr>
          <p:cNvPr id="6" name="Text 4"/>
          <p:cNvSpPr/>
          <p:nvPr/>
        </p:nvSpPr>
        <p:spPr>
          <a:xfrm>
            <a:off x="8686800" y="2286000"/>
            <a:ext cx="3017520" cy="1371600"/>
          </a:xfrm>
          <a:prstGeom prst="rect">
            <a:avLst/>
          </a:prstGeom>
          <a:noFill/>
          <a:ln/>
        </p:spPr>
        <p:txBody>
          <a:bodyPr wrap="square" rtlCol="0" anchor="ctr"/>
          <a:lstStyle/>
          <a:p>
            <a:pPr algn="ctr" indent="0" marL="0">
              <a:buNone/>
            </a:pPr>
            <a:r>
              <a:rPr lang="en-US" sz="7200" dirty="0">
                <a:solidFill>
                  <a:srgbClr val="000000"/>
                </a:solidFill>
              </a:rPr>
              <a:t>🏥</a:t>
            </a:r>
            <a:endParaRPr lang="en-US" sz="7200" dirty="0"/>
          </a:p>
        </p:txBody>
      </p:sp>
      <p:sp>
        <p:nvSpPr>
          <p:cNvPr id="7" name="Text 5"/>
          <p:cNvSpPr/>
          <p:nvPr/>
        </p:nvSpPr>
        <p:spPr>
          <a:xfrm>
            <a:off x="822960" y="822960"/>
            <a:ext cx="7498080" cy="475488"/>
          </a:xfrm>
          <a:prstGeom prst="rect">
            <a:avLst/>
          </a:prstGeom>
          <a:noFill/>
          <a:ln/>
        </p:spPr>
        <p:txBody>
          <a:bodyPr wrap="square" rtlCol="0" anchor="ctr"/>
          <a:lstStyle/>
          <a:p>
            <a:pPr indent="0" marL="0">
              <a:buNone/>
            </a:pPr>
            <a:r>
              <a:rPr lang="en-US" sz="1200" b="1" spc="500" kern="0" dirty="0">
                <a:solidFill>
                  <a:srgbClr val="83C5BE"/>
                </a:solidFill>
                <a:latin typeface="Calibri" pitchFamily="34" charset="0"/>
                <a:ea typeface="Calibri" pitchFamily="34" charset="-122"/>
                <a:cs typeface="Calibri" pitchFamily="34" charset="-120"/>
              </a:rPr>
              <a:t>HEALTHCARE ANALYTICS</a:t>
            </a:r>
            <a:endParaRPr lang="en-US" sz="1200" dirty="0"/>
          </a:p>
        </p:txBody>
      </p:sp>
      <p:sp>
        <p:nvSpPr>
          <p:cNvPr id="8" name="Text 6"/>
          <p:cNvSpPr/>
          <p:nvPr/>
        </p:nvSpPr>
        <p:spPr>
          <a:xfrm>
            <a:off x="822960" y="1353312"/>
            <a:ext cx="7498080" cy="2011680"/>
          </a:xfrm>
          <a:prstGeom prst="rect">
            <a:avLst/>
          </a:prstGeom>
          <a:noFill/>
          <a:ln/>
        </p:spPr>
        <p:txBody>
          <a:bodyPr wrap="square" rtlCol="0" anchor="ctr"/>
          <a:lstStyle/>
          <a:p>
            <a:pPr indent="0" marL="0">
              <a:lnSpc>
                <a:spcPct val="110000"/>
              </a:lnSpc>
              <a:buNone/>
            </a:pPr>
            <a:r>
              <a:rPr lang="en-US" sz="4800" b="1" dirty="0">
                <a:solidFill>
                  <a:srgbClr val="FFFFFF"/>
                </a:solidFill>
                <a:latin typeface="Calibri" pitchFamily="34" charset="0"/>
                <a:ea typeface="Calibri" pitchFamily="34" charset="-122"/>
                <a:cs typeface="Calibri" pitchFamily="34" charset="-120"/>
              </a:rPr>
              <a:t>Hospital Patient</a:t>
            </a:r>
            <a:endParaRPr lang="en-US" sz="4800" dirty="0"/>
          </a:p>
          <a:p>
            <a:pPr indent="0" marL="0">
              <a:lnSpc>
                <a:spcPct val="110000"/>
              </a:lnSpc>
              <a:buNone/>
            </a:pPr>
            <a:r>
              <a:rPr lang="en-US" sz="4800" b="1" dirty="0">
                <a:solidFill>
                  <a:srgbClr val="FFFFFF"/>
                </a:solidFill>
                <a:latin typeface="Calibri" pitchFamily="34" charset="0"/>
                <a:ea typeface="Calibri" pitchFamily="34" charset="-122"/>
                <a:cs typeface="Calibri" pitchFamily="34" charset="-120"/>
              </a:rPr>
              <a:t>Dashboard</a:t>
            </a:r>
            <a:endParaRPr lang="en-US" sz="4800" dirty="0"/>
          </a:p>
        </p:txBody>
      </p:sp>
      <p:sp>
        <p:nvSpPr>
          <p:cNvPr id="9" name="Text 7"/>
          <p:cNvSpPr/>
          <p:nvPr/>
        </p:nvSpPr>
        <p:spPr>
          <a:xfrm>
            <a:off x="822960" y="3493008"/>
            <a:ext cx="7315200" cy="548640"/>
          </a:xfrm>
          <a:prstGeom prst="rect">
            <a:avLst/>
          </a:prstGeom>
          <a:noFill/>
          <a:ln/>
        </p:spPr>
        <p:txBody>
          <a:bodyPr wrap="square" rtlCol="0" anchor="ctr"/>
          <a:lstStyle/>
          <a:p>
            <a:pPr indent="0" marL="0">
              <a:buNone/>
            </a:pPr>
            <a:r>
              <a:rPr lang="en-US" sz="1600" i="1" dirty="0">
                <a:solidFill>
                  <a:srgbClr val="A8D8E0"/>
                </a:solidFill>
                <a:latin typeface="Calibri" pitchFamily="34" charset="0"/>
                <a:ea typeface="Calibri" pitchFamily="34" charset="-122"/>
                <a:cs typeface="Calibri" pitchFamily="34" charset="-120"/>
              </a:rPr>
              <a:t>End-to-End Power BI Project — Power Query · Data Modeling · DAX · Reporting</a:t>
            </a:r>
            <a:endParaRPr lang="en-US" sz="1600" dirty="0"/>
          </a:p>
        </p:txBody>
      </p:sp>
      <p:sp>
        <p:nvSpPr>
          <p:cNvPr id="10" name="Shape 8"/>
          <p:cNvSpPr/>
          <p:nvPr/>
        </p:nvSpPr>
        <p:spPr>
          <a:xfrm>
            <a:off x="822960" y="4251960"/>
            <a:ext cx="2029968" cy="658368"/>
          </a:xfrm>
          <a:prstGeom prst="roundRect">
            <a:avLst>
              <a:gd name="adj" fmla="val 11111"/>
            </a:avLst>
          </a:prstGeom>
          <a:solidFill>
            <a:srgbClr val="006D77"/>
          </a:solidFill>
          <a:ln/>
        </p:spPr>
      </p:sp>
      <p:sp>
        <p:nvSpPr>
          <p:cNvPr id="11" name="Text 9"/>
          <p:cNvSpPr/>
          <p:nvPr/>
        </p:nvSpPr>
        <p:spPr>
          <a:xfrm>
            <a:off x="822960" y="4251960"/>
            <a:ext cx="2029968" cy="658368"/>
          </a:xfrm>
          <a:prstGeom prst="rect">
            <a:avLst/>
          </a:prstGeom>
          <a:noFill/>
          <a:ln/>
        </p:spPr>
        <p:txBody>
          <a:bodyPr wrap="square" rtlCol="0" anchor="ctr"/>
          <a:lstStyle/>
          <a:p>
            <a:pPr algn="ctr" indent="0" marL="0">
              <a:lnSpc>
                <a:spcPct val="110000"/>
              </a:lnSpc>
              <a:buNone/>
            </a:pPr>
            <a:r>
              <a:rPr lang="en-US" sz="1000" b="1" dirty="0">
                <a:solidFill>
                  <a:srgbClr val="FFFFFF"/>
                </a:solidFill>
                <a:latin typeface="Calibri" pitchFamily="34" charset="0"/>
                <a:ea typeface="Calibri" pitchFamily="34" charset="-122"/>
                <a:cs typeface="Calibri" pitchFamily="34" charset="-120"/>
              </a:rPr>
              <a:t>📋 2 CSV Files</a:t>
            </a:r>
            <a:endParaRPr lang="en-US" sz="1000" dirty="0"/>
          </a:p>
          <a:p>
            <a:pPr algn="ctr" indent="0" marL="0">
              <a:lnSpc>
                <a:spcPct val="110000"/>
              </a:lnSpc>
              <a:buNone/>
            </a:pPr>
            <a:r>
              <a:rPr lang="en-US" sz="1000" b="1" dirty="0">
                <a:solidFill>
                  <a:srgbClr val="FFFFFF"/>
                </a:solidFill>
                <a:latin typeface="Calibri" pitchFamily="34" charset="0"/>
                <a:ea typeface="Calibri" pitchFamily="34" charset="-122"/>
                <a:cs typeface="Calibri" pitchFamily="34" charset="-120"/>
              </a:rPr>
              <a:t>Dataset</a:t>
            </a:r>
            <a:endParaRPr lang="en-US" sz="1000" dirty="0"/>
          </a:p>
        </p:txBody>
      </p:sp>
      <p:sp>
        <p:nvSpPr>
          <p:cNvPr id="12" name="Shape 10"/>
          <p:cNvSpPr/>
          <p:nvPr/>
        </p:nvSpPr>
        <p:spPr>
          <a:xfrm>
            <a:off x="2999232" y="4251960"/>
            <a:ext cx="2029968" cy="658368"/>
          </a:xfrm>
          <a:prstGeom prst="roundRect">
            <a:avLst>
              <a:gd name="adj" fmla="val 11111"/>
            </a:avLst>
          </a:prstGeom>
          <a:solidFill>
            <a:srgbClr val="006D77"/>
          </a:solidFill>
          <a:ln/>
        </p:spPr>
      </p:sp>
      <p:sp>
        <p:nvSpPr>
          <p:cNvPr id="13" name="Text 11"/>
          <p:cNvSpPr/>
          <p:nvPr/>
        </p:nvSpPr>
        <p:spPr>
          <a:xfrm>
            <a:off x="2999232" y="4251960"/>
            <a:ext cx="2029968" cy="658368"/>
          </a:xfrm>
          <a:prstGeom prst="rect">
            <a:avLst/>
          </a:prstGeom>
          <a:noFill/>
          <a:ln/>
        </p:spPr>
        <p:txBody>
          <a:bodyPr wrap="square" rtlCol="0" anchor="ctr"/>
          <a:lstStyle/>
          <a:p>
            <a:pPr algn="ctr" indent="0" marL="0">
              <a:lnSpc>
                <a:spcPct val="110000"/>
              </a:lnSpc>
              <a:buNone/>
            </a:pPr>
            <a:r>
              <a:rPr lang="en-US" sz="1000" b="1" dirty="0">
                <a:solidFill>
                  <a:srgbClr val="FFFFFF"/>
                </a:solidFill>
                <a:latin typeface="Calibri" pitchFamily="34" charset="0"/>
                <a:ea typeface="Calibri" pitchFamily="34" charset="-122"/>
                <a:cs typeface="Calibri" pitchFamily="34" charset="-120"/>
              </a:rPr>
              <a:t>🔧 Power Query</a:t>
            </a:r>
            <a:endParaRPr lang="en-US" sz="1000" dirty="0"/>
          </a:p>
          <a:p>
            <a:pPr algn="ctr" indent="0" marL="0">
              <a:lnSpc>
                <a:spcPct val="110000"/>
              </a:lnSpc>
              <a:buNone/>
            </a:pPr>
            <a:r>
              <a:rPr lang="en-US" sz="1000" b="1" dirty="0">
                <a:solidFill>
                  <a:srgbClr val="FFFFFF"/>
                </a:solidFill>
                <a:latin typeface="Calibri" pitchFamily="34" charset="0"/>
                <a:ea typeface="Calibri" pitchFamily="34" charset="-122"/>
                <a:cs typeface="Calibri" pitchFamily="34" charset="-120"/>
              </a:rPr>
              <a:t>Clean &amp; Shape</a:t>
            </a:r>
            <a:endParaRPr lang="en-US" sz="1000" dirty="0"/>
          </a:p>
        </p:txBody>
      </p:sp>
      <p:sp>
        <p:nvSpPr>
          <p:cNvPr id="14" name="Shape 12"/>
          <p:cNvSpPr/>
          <p:nvPr/>
        </p:nvSpPr>
        <p:spPr>
          <a:xfrm>
            <a:off x="5175504" y="4251960"/>
            <a:ext cx="2029968" cy="658368"/>
          </a:xfrm>
          <a:prstGeom prst="roundRect">
            <a:avLst>
              <a:gd name="adj" fmla="val 11111"/>
            </a:avLst>
          </a:prstGeom>
          <a:solidFill>
            <a:srgbClr val="006D77"/>
          </a:solidFill>
          <a:ln/>
        </p:spPr>
      </p:sp>
      <p:sp>
        <p:nvSpPr>
          <p:cNvPr id="15" name="Text 13"/>
          <p:cNvSpPr/>
          <p:nvPr/>
        </p:nvSpPr>
        <p:spPr>
          <a:xfrm>
            <a:off x="5175504" y="4251960"/>
            <a:ext cx="2029968" cy="658368"/>
          </a:xfrm>
          <a:prstGeom prst="rect">
            <a:avLst/>
          </a:prstGeom>
          <a:noFill/>
          <a:ln/>
        </p:spPr>
        <p:txBody>
          <a:bodyPr wrap="square" rtlCol="0" anchor="ctr"/>
          <a:lstStyle/>
          <a:p>
            <a:pPr algn="ctr" indent="0" marL="0">
              <a:lnSpc>
                <a:spcPct val="110000"/>
              </a:lnSpc>
              <a:buNone/>
            </a:pPr>
            <a:r>
              <a:rPr lang="en-US" sz="1000" b="1" dirty="0">
                <a:solidFill>
                  <a:srgbClr val="FFFFFF"/>
                </a:solidFill>
                <a:latin typeface="Calibri" pitchFamily="34" charset="0"/>
                <a:ea typeface="Calibri" pitchFamily="34" charset="-122"/>
                <a:cs typeface="Calibri" pitchFamily="34" charset="-120"/>
              </a:rPr>
              <a:t>🔗 Data Model</a:t>
            </a:r>
            <a:endParaRPr lang="en-US" sz="1000" dirty="0"/>
          </a:p>
          <a:p>
            <a:pPr algn="ctr" indent="0" marL="0">
              <a:lnSpc>
                <a:spcPct val="110000"/>
              </a:lnSpc>
              <a:buNone/>
            </a:pPr>
            <a:r>
              <a:rPr lang="en-US" sz="1000" b="1" dirty="0">
                <a:solidFill>
                  <a:srgbClr val="FFFFFF"/>
                </a:solidFill>
                <a:latin typeface="Calibri" pitchFamily="34" charset="0"/>
                <a:ea typeface="Calibri" pitchFamily="34" charset="-122"/>
                <a:cs typeface="Calibri" pitchFamily="34" charset="-120"/>
              </a:rPr>
              <a:t>Star Schema</a:t>
            </a:r>
            <a:endParaRPr lang="en-US" sz="1000" dirty="0"/>
          </a:p>
        </p:txBody>
      </p:sp>
      <p:sp>
        <p:nvSpPr>
          <p:cNvPr id="16" name="Shape 14"/>
          <p:cNvSpPr/>
          <p:nvPr/>
        </p:nvSpPr>
        <p:spPr>
          <a:xfrm>
            <a:off x="7351776" y="4251960"/>
            <a:ext cx="2029968" cy="658368"/>
          </a:xfrm>
          <a:prstGeom prst="roundRect">
            <a:avLst>
              <a:gd name="adj" fmla="val 11111"/>
            </a:avLst>
          </a:prstGeom>
          <a:solidFill>
            <a:srgbClr val="006D77"/>
          </a:solidFill>
          <a:ln/>
        </p:spPr>
      </p:sp>
      <p:sp>
        <p:nvSpPr>
          <p:cNvPr id="17" name="Text 15"/>
          <p:cNvSpPr/>
          <p:nvPr/>
        </p:nvSpPr>
        <p:spPr>
          <a:xfrm>
            <a:off x="7351776" y="4251960"/>
            <a:ext cx="2029968" cy="658368"/>
          </a:xfrm>
          <a:prstGeom prst="rect">
            <a:avLst/>
          </a:prstGeom>
          <a:noFill/>
          <a:ln/>
        </p:spPr>
        <p:txBody>
          <a:bodyPr wrap="square" rtlCol="0" anchor="ctr"/>
          <a:lstStyle/>
          <a:p>
            <a:pPr algn="ctr" indent="0" marL="0">
              <a:lnSpc>
                <a:spcPct val="110000"/>
              </a:lnSpc>
              <a:buNone/>
            </a:pPr>
            <a:r>
              <a:rPr lang="en-US" sz="1000" b="1" dirty="0">
                <a:solidFill>
                  <a:srgbClr val="FFFFFF"/>
                </a:solidFill>
                <a:latin typeface="Calibri" pitchFamily="34" charset="0"/>
                <a:ea typeface="Calibri" pitchFamily="34" charset="-122"/>
                <a:cs typeface="Calibri" pitchFamily="34" charset="-120"/>
              </a:rPr>
              <a:t>📐 DAX</a:t>
            </a:r>
            <a:endParaRPr lang="en-US" sz="1000" dirty="0"/>
          </a:p>
          <a:p>
            <a:pPr algn="ctr" indent="0" marL="0">
              <a:lnSpc>
                <a:spcPct val="110000"/>
              </a:lnSpc>
              <a:buNone/>
            </a:pPr>
            <a:r>
              <a:rPr lang="en-US" sz="1000" b="1" dirty="0">
                <a:solidFill>
                  <a:srgbClr val="FFFFFF"/>
                </a:solidFill>
                <a:latin typeface="Calibri" pitchFamily="34" charset="0"/>
                <a:ea typeface="Calibri" pitchFamily="34" charset="-122"/>
                <a:cs typeface="Calibri" pitchFamily="34" charset="-120"/>
              </a:rPr>
              <a:t>Measures</a:t>
            </a:r>
            <a:endParaRPr lang="en-US" sz="1000" dirty="0"/>
          </a:p>
        </p:txBody>
      </p:sp>
      <p:sp>
        <p:nvSpPr>
          <p:cNvPr id="18" name="Shape 16"/>
          <p:cNvSpPr/>
          <p:nvPr/>
        </p:nvSpPr>
        <p:spPr>
          <a:xfrm>
            <a:off x="9528048" y="4251960"/>
            <a:ext cx="2029968" cy="658368"/>
          </a:xfrm>
          <a:prstGeom prst="roundRect">
            <a:avLst>
              <a:gd name="adj" fmla="val 11111"/>
            </a:avLst>
          </a:prstGeom>
          <a:solidFill>
            <a:srgbClr val="006D77"/>
          </a:solidFill>
          <a:ln/>
        </p:spPr>
      </p:sp>
      <p:sp>
        <p:nvSpPr>
          <p:cNvPr id="19" name="Text 17"/>
          <p:cNvSpPr/>
          <p:nvPr/>
        </p:nvSpPr>
        <p:spPr>
          <a:xfrm>
            <a:off x="9528048" y="4251960"/>
            <a:ext cx="2029968" cy="658368"/>
          </a:xfrm>
          <a:prstGeom prst="rect">
            <a:avLst/>
          </a:prstGeom>
          <a:noFill/>
          <a:ln/>
        </p:spPr>
        <p:txBody>
          <a:bodyPr wrap="square" rtlCol="0" anchor="ctr"/>
          <a:lstStyle/>
          <a:p>
            <a:pPr algn="ctr" indent="0" marL="0">
              <a:lnSpc>
                <a:spcPct val="110000"/>
              </a:lnSpc>
              <a:buNone/>
            </a:pPr>
            <a:r>
              <a:rPr lang="en-US" sz="1000" b="1" dirty="0">
                <a:solidFill>
                  <a:srgbClr val="FFFFFF"/>
                </a:solidFill>
                <a:latin typeface="Calibri" pitchFamily="34" charset="0"/>
                <a:ea typeface="Calibri" pitchFamily="34" charset="-122"/>
                <a:cs typeface="Calibri" pitchFamily="34" charset="-120"/>
              </a:rPr>
              <a:t>📊 Report</a:t>
            </a:r>
            <a:endParaRPr lang="en-US" sz="1000" dirty="0"/>
          </a:p>
          <a:p>
            <a:pPr algn="ctr" indent="0" marL="0">
              <a:lnSpc>
                <a:spcPct val="110000"/>
              </a:lnSpc>
              <a:buNone/>
            </a:pPr>
            <a:r>
              <a:rPr lang="en-US" sz="1000" b="1" dirty="0">
                <a:solidFill>
                  <a:srgbClr val="FFFFFF"/>
                </a:solidFill>
                <a:latin typeface="Calibri" pitchFamily="34" charset="0"/>
                <a:ea typeface="Calibri" pitchFamily="34" charset="-122"/>
                <a:cs typeface="Calibri" pitchFamily="34" charset="-120"/>
              </a:rPr>
              <a:t>4 Pages</a:t>
            </a:r>
            <a:endParaRPr lang="en-US" sz="1000" dirty="0"/>
          </a:p>
        </p:txBody>
      </p:sp>
      <p:sp>
        <p:nvSpPr>
          <p:cNvPr id="20" name="Text 18"/>
          <p:cNvSpPr/>
          <p:nvPr/>
        </p:nvSpPr>
        <p:spPr>
          <a:xfrm>
            <a:off x="822960" y="5166360"/>
            <a:ext cx="10058400" cy="365760"/>
          </a:xfrm>
          <a:prstGeom prst="rect">
            <a:avLst/>
          </a:prstGeom>
          <a:noFill/>
          <a:ln/>
        </p:spPr>
        <p:txBody>
          <a:bodyPr wrap="square" rtlCol="0" anchor="ctr"/>
          <a:lstStyle/>
          <a:p>
            <a:pPr indent="0" marL="0">
              <a:buNone/>
            </a:pPr>
            <a:r>
              <a:rPr lang="en-US" sz="1100" spc="100" kern="0" dirty="0">
                <a:solidFill>
                  <a:srgbClr val="83C5BE"/>
                </a:solidFill>
                <a:latin typeface="Calibri" pitchFamily="34" charset="0"/>
                <a:ea typeface="Calibri" pitchFamily="34" charset="-122"/>
                <a:cs typeface="Calibri" pitchFamily="34" charset="-120"/>
              </a:rPr>
              <a:t>BASIC → INTERMEDIATE  •  ALL STEPS INCLUDED  •  BEGINNER FRIENDLY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AFA"/>
          </a:solidFill>
          <a:ln/>
        </p:spPr>
      </p:sp>
      <p:sp>
        <p:nvSpPr>
          <p:cNvPr id="3" name="Shape 1"/>
          <p:cNvSpPr/>
          <p:nvPr/>
        </p:nvSpPr>
        <p:spPr>
          <a:xfrm>
            <a:off x="0" y="0"/>
            <a:ext cx="82296" cy="6858000"/>
          </a:xfrm>
          <a:prstGeom prst="rect">
            <a:avLst/>
          </a:prstGeom>
          <a:solidFill>
            <a:srgbClr val="006D77"/>
          </a:solidFill>
          <a:ln/>
        </p:spPr>
      </p:sp>
      <p:sp>
        <p:nvSpPr>
          <p:cNvPr id="4" name="Shape 2"/>
          <p:cNvSpPr/>
          <p:nvPr/>
        </p:nvSpPr>
        <p:spPr>
          <a:xfrm>
            <a:off x="0" y="0"/>
            <a:ext cx="12161520" cy="1371600"/>
          </a:xfrm>
          <a:prstGeom prst="rect">
            <a:avLst/>
          </a:prstGeom>
          <a:solidFill>
            <a:srgbClr val="006D77"/>
          </a:solidFill>
          <a:ln/>
        </p:spPr>
      </p:sp>
      <p:sp>
        <p:nvSpPr>
          <p:cNvPr id="5" name="Text 3"/>
          <p:cNvSpPr/>
          <p:nvPr/>
        </p:nvSpPr>
        <p:spPr>
          <a:xfrm>
            <a:off x="320040" y="164592"/>
            <a:ext cx="1152144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Project Overview — Your Scenario</a:t>
            </a:r>
            <a:endParaRPr lang="en-US" sz="2400" dirty="0"/>
          </a:p>
        </p:txBody>
      </p:sp>
      <p:sp>
        <p:nvSpPr>
          <p:cNvPr id="6" name="Text 4"/>
          <p:cNvSpPr/>
          <p:nvPr/>
        </p:nvSpPr>
        <p:spPr>
          <a:xfrm>
            <a:off x="320040" y="822960"/>
            <a:ext cx="11521440" cy="411480"/>
          </a:xfrm>
          <a:prstGeom prst="rect">
            <a:avLst/>
          </a:prstGeom>
          <a:noFill/>
          <a:ln/>
        </p:spPr>
        <p:txBody>
          <a:bodyPr wrap="square" rtlCol="0" anchor="ctr"/>
          <a:lstStyle/>
          <a:p>
            <a:pPr indent="0" marL="0">
              <a:buNone/>
            </a:pPr>
            <a:r>
              <a:rPr lang="en-US" sz="1200" i="1" dirty="0">
                <a:solidFill>
                  <a:srgbClr val="83C5BE"/>
                </a:solidFill>
                <a:latin typeface="Calibri" pitchFamily="34" charset="0"/>
                <a:ea typeface="Calibri" pitchFamily="34" charset="-122"/>
                <a:cs typeface="Calibri" pitchFamily="34" charset="-120"/>
              </a:rPr>
              <a:t>Read this first so you understand WHAT you are building and WHY</a:t>
            </a:r>
            <a:endParaRPr lang="en-US" sz="1200" dirty="0"/>
          </a:p>
        </p:txBody>
      </p:sp>
      <p:sp>
        <p:nvSpPr>
          <p:cNvPr id="7" name="Shape 5"/>
          <p:cNvSpPr/>
          <p:nvPr/>
        </p:nvSpPr>
        <p:spPr>
          <a:xfrm>
            <a:off x="320040" y="1444752"/>
            <a:ext cx="11475720" cy="1261872"/>
          </a:xfrm>
          <a:prstGeom prst="roundRect">
            <a:avLst>
              <a:gd name="adj" fmla="val 6522"/>
            </a:avLst>
          </a:prstGeom>
          <a:solidFill>
            <a:srgbClr val="EDF6F9"/>
          </a:solidFill>
          <a:ln w="10160">
            <a:solidFill>
              <a:srgbClr val="006D77"/>
            </a:solidFill>
            <a:prstDash val="solid"/>
          </a:ln>
        </p:spPr>
      </p:sp>
      <p:sp>
        <p:nvSpPr>
          <p:cNvPr id="8" name="Text 6"/>
          <p:cNvSpPr/>
          <p:nvPr/>
        </p:nvSpPr>
        <p:spPr>
          <a:xfrm>
            <a:off x="475488" y="1508760"/>
            <a:ext cx="2286000" cy="365760"/>
          </a:xfrm>
          <a:prstGeom prst="rect">
            <a:avLst/>
          </a:prstGeom>
          <a:noFill/>
          <a:ln/>
        </p:spPr>
        <p:txBody>
          <a:bodyPr wrap="square" rtlCol="0" anchor="ctr"/>
          <a:lstStyle/>
          <a:p>
            <a:pPr indent="0" marL="0">
              <a:buNone/>
            </a:pPr>
            <a:r>
              <a:rPr lang="en-US" sz="1300" b="1" dirty="0">
                <a:solidFill>
                  <a:srgbClr val="006D77"/>
                </a:solidFill>
                <a:latin typeface="Calibri" pitchFamily="34" charset="0"/>
                <a:ea typeface="Calibri" pitchFamily="34" charset="-122"/>
                <a:cs typeface="Calibri" pitchFamily="34" charset="-120"/>
              </a:rPr>
              <a:t>🏥  Your Role</a:t>
            </a:r>
            <a:endParaRPr lang="en-US" sz="1300" dirty="0"/>
          </a:p>
        </p:txBody>
      </p:sp>
      <p:sp>
        <p:nvSpPr>
          <p:cNvPr id="9" name="Text 7"/>
          <p:cNvSpPr/>
          <p:nvPr/>
        </p:nvSpPr>
        <p:spPr>
          <a:xfrm>
            <a:off x="475488" y="1874520"/>
            <a:ext cx="11155680" cy="658368"/>
          </a:xfrm>
          <a:prstGeom prst="rect">
            <a:avLst/>
          </a:prstGeom>
          <a:noFill/>
          <a:ln/>
        </p:spPr>
        <p:txBody>
          <a:bodyPr wrap="square" rtlCol="0" anchor="ctr"/>
          <a:lstStyle/>
          <a:p>
            <a:pPr indent="0" marL="0">
              <a:buNone/>
            </a:pPr>
            <a:r>
              <a:rPr lang="en-US" sz="1200" dirty="0">
                <a:solidFill>
                  <a:srgbClr val="1A2B4A"/>
                </a:solidFill>
                <a:latin typeface="Calibri" pitchFamily="34" charset="0"/>
                <a:ea typeface="Calibri" pitchFamily="34" charset="-122"/>
                <a:cs typeface="Calibri" pitchFamily="34" charset="-120"/>
              </a:rPr>
              <a:t>You are a Data Analyst at HealthTrack, a hospital management consultancy. The Chief Medical Officer (CMO) has given you two raw data files exported from the hospital system and asked you to build a dashboard to monitor hospital performance.</a:t>
            </a:r>
            <a:endParaRPr lang="en-US" sz="1200" dirty="0"/>
          </a:p>
        </p:txBody>
      </p:sp>
      <p:sp>
        <p:nvSpPr>
          <p:cNvPr id="10" name="Text 8"/>
          <p:cNvSpPr/>
          <p:nvPr/>
        </p:nvSpPr>
        <p:spPr>
          <a:xfrm>
            <a:off x="320040" y="2834640"/>
            <a:ext cx="11475720" cy="347472"/>
          </a:xfrm>
          <a:prstGeom prst="rect">
            <a:avLst/>
          </a:prstGeom>
          <a:noFill/>
          <a:ln/>
        </p:spPr>
        <p:txBody>
          <a:bodyPr wrap="square" rtlCol="0" anchor="ctr"/>
          <a:lstStyle/>
          <a:p>
            <a:pPr indent="0" marL="0">
              <a:buNone/>
            </a:pPr>
            <a:r>
              <a:rPr lang="en-US" sz="1100" b="1" spc="200" kern="0" dirty="0">
                <a:solidFill>
                  <a:srgbClr val="006D77"/>
                </a:solidFill>
                <a:latin typeface="Calibri" pitchFamily="34" charset="0"/>
                <a:ea typeface="Calibri" pitchFamily="34" charset="-122"/>
                <a:cs typeface="Calibri" pitchFamily="34" charset="-120"/>
              </a:rPr>
              <a:t>BUSINESS QUESTIONS YOUR DASHBOARD MUST ANSWER</a:t>
            </a:r>
            <a:endParaRPr lang="en-US" sz="1100" dirty="0"/>
          </a:p>
        </p:txBody>
      </p:sp>
      <p:sp>
        <p:nvSpPr>
          <p:cNvPr id="11" name="Shape 9"/>
          <p:cNvSpPr/>
          <p:nvPr/>
        </p:nvSpPr>
        <p:spPr>
          <a:xfrm>
            <a:off x="320040" y="3273552"/>
            <a:ext cx="5596128" cy="1143000"/>
          </a:xfrm>
          <a:prstGeom prst="roundRect">
            <a:avLst>
              <a:gd name="adj" fmla="val 7200"/>
            </a:avLst>
          </a:prstGeom>
          <a:solidFill>
            <a:srgbClr val="FFFFFF"/>
          </a:solidFill>
          <a:ln w="10160">
            <a:solidFill>
              <a:srgbClr val="D0DCE4"/>
            </a:solidFill>
            <a:prstDash val="solid"/>
          </a:ln>
        </p:spPr>
      </p:sp>
      <p:sp>
        <p:nvSpPr>
          <p:cNvPr id="12" name="Shape 10"/>
          <p:cNvSpPr/>
          <p:nvPr/>
        </p:nvSpPr>
        <p:spPr>
          <a:xfrm>
            <a:off x="320040" y="3273552"/>
            <a:ext cx="685800" cy="1143000"/>
          </a:xfrm>
          <a:prstGeom prst="roundRect">
            <a:avLst>
              <a:gd name="adj" fmla="val 12000"/>
            </a:avLst>
          </a:prstGeom>
          <a:solidFill>
            <a:srgbClr val="006D77"/>
          </a:solidFill>
          <a:ln/>
        </p:spPr>
      </p:sp>
      <p:sp>
        <p:nvSpPr>
          <p:cNvPr id="13" name="Text 11"/>
          <p:cNvSpPr/>
          <p:nvPr/>
        </p:nvSpPr>
        <p:spPr>
          <a:xfrm>
            <a:off x="320040" y="3273552"/>
            <a:ext cx="685800" cy="11430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Q1</a:t>
            </a:r>
            <a:endParaRPr lang="en-US" sz="1500" dirty="0"/>
          </a:p>
        </p:txBody>
      </p:sp>
      <p:sp>
        <p:nvSpPr>
          <p:cNvPr id="14" name="Text 12"/>
          <p:cNvSpPr/>
          <p:nvPr/>
        </p:nvSpPr>
        <p:spPr>
          <a:xfrm>
            <a:off x="1124712" y="3529584"/>
            <a:ext cx="4681728" cy="621792"/>
          </a:xfrm>
          <a:prstGeom prst="rect">
            <a:avLst/>
          </a:prstGeom>
          <a:noFill/>
          <a:ln/>
        </p:spPr>
        <p:txBody>
          <a:bodyPr wrap="square" rtlCol="0" anchor="ctr"/>
          <a:lstStyle/>
          <a:p>
            <a:pPr indent="0" marL="0">
              <a:buNone/>
            </a:pPr>
            <a:r>
              <a:rPr lang="en-US" sz="1200" dirty="0">
                <a:solidFill>
                  <a:srgbClr val="1A2B4A"/>
                </a:solidFill>
                <a:latin typeface="Calibri" pitchFamily="34" charset="0"/>
                <a:ea typeface="Calibri" pitchFamily="34" charset="-122"/>
                <a:cs typeface="Calibri" pitchFamily="34" charset="-120"/>
              </a:rPr>
              <a:t>How many patients were admitted each month and which departments are busiest?</a:t>
            </a:r>
            <a:endParaRPr lang="en-US" sz="1200" dirty="0"/>
          </a:p>
        </p:txBody>
      </p:sp>
      <p:sp>
        <p:nvSpPr>
          <p:cNvPr id="15" name="Shape 13"/>
          <p:cNvSpPr/>
          <p:nvPr/>
        </p:nvSpPr>
        <p:spPr>
          <a:xfrm>
            <a:off x="6080760" y="3273552"/>
            <a:ext cx="5596128" cy="1143000"/>
          </a:xfrm>
          <a:prstGeom prst="roundRect">
            <a:avLst>
              <a:gd name="adj" fmla="val 7200"/>
            </a:avLst>
          </a:prstGeom>
          <a:solidFill>
            <a:srgbClr val="FFFFFF"/>
          </a:solidFill>
          <a:ln w="10160">
            <a:solidFill>
              <a:srgbClr val="D0DCE4"/>
            </a:solidFill>
            <a:prstDash val="solid"/>
          </a:ln>
        </p:spPr>
      </p:sp>
      <p:sp>
        <p:nvSpPr>
          <p:cNvPr id="16" name="Shape 14"/>
          <p:cNvSpPr/>
          <p:nvPr/>
        </p:nvSpPr>
        <p:spPr>
          <a:xfrm>
            <a:off x="6080760" y="3273552"/>
            <a:ext cx="685800" cy="1143000"/>
          </a:xfrm>
          <a:prstGeom prst="roundRect">
            <a:avLst>
              <a:gd name="adj" fmla="val 12000"/>
            </a:avLst>
          </a:prstGeom>
          <a:solidFill>
            <a:srgbClr val="008891"/>
          </a:solidFill>
          <a:ln/>
        </p:spPr>
      </p:sp>
      <p:sp>
        <p:nvSpPr>
          <p:cNvPr id="17" name="Text 15"/>
          <p:cNvSpPr/>
          <p:nvPr/>
        </p:nvSpPr>
        <p:spPr>
          <a:xfrm>
            <a:off x="6080760" y="3273552"/>
            <a:ext cx="685800" cy="11430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Q2</a:t>
            </a:r>
            <a:endParaRPr lang="en-US" sz="1500" dirty="0"/>
          </a:p>
        </p:txBody>
      </p:sp>
      <p:sp>
        <p:nvSpPr>
          <p:cNvPr id="18" name="Text 16"/>
          <p:cNvSpPr/>
          <p:nvPr/>
        </p:nvSpPr>
        <p:spPr>
          <a:xfrm>
            <a:off x="6885432" y="3529584"/>
            <a:ext cx="4681728" cy="621792"/>
          </a:xfrm>
          <a:prstGeom prst="rect">
            <a:avLst/>
          </a:prstGeom>
          <a:noFill/>
          <a:ln/>
        </p:spPr>
        <p:txBody>
          <a:bodyPr wrap="square" rtlCol="0" anchor="ctr"/>
          <a:lstStyle/>
          <a:p>
            <a:pPr indent="0" marL="0">
              <a:buNone/>
            </a:pPr>
            <a:r>
              <a:rPr lang="en-US" sz="1200" dirty="0">
                <a:solidFill>
                  <a:srgbClr val="1A2B4A"/>
                </a:solidFill>
                <a:latin typeface="Calibri" pitchFamily="34" charset="0"/>
                <a:ea typeface="Calibri" pitchFamily="34" charset="-122"/>
                <a:cs typeface="Calibri" pitchFamily="34" charset="-120"/>
              </a:rPr>
              <a:t>What is the average Length of Stay and Total Bill by department and hospital?</a:t>
            </a:r>
            <a:endParaRPr lang="en-US" sz="1200" dirty="0"/>
          </a:p>
        </p:txBody>
      </p:sp>
      <p:sp>
        <p:nvSpPr>
          <p:cNvPr id="19" name="Shape 17"/>
          <p:cNvSpPr/>
          <p:nvPr/>
        </p:nvSpPr>
        <p:spPr>
          <a:xfrm>
            <a:off x="320040" y="4535424"/>
            <a:ext cx="5596128" cy="1143000"/>
          </a:xfrm>
          <a:prstGeom prst="roundRect">
            <a:avLst>
              <a:gd name="adj" fmla="val 7200"/>
            </a:avLst>
          </a:prstGeom>
          <a:solidFill>
            <a:srgbClr val="FFFFFF"/>
          </a:solidFill>
          <a:ln w="10160">
            <a:solidFill>
              <a:srgbClr val="D0DCE4"/>
            </a:solidFill>
            <a:prstDash val="solid"/>
          </a:ln>
        </p:spPr>
      </p:sp>
      <p:sp>
        <p:nvSpPr>
          <p:cNvPr id="20" name="Shape 18"/>
          <p:cNvSpPr/>
          <p:nvPr/>
        </p:nvSpPr>
        <p:spPr>
          <a:xfrm>
            <a:off x="320040" y="4535424"/>
            <a:ext cx="685800" cy="1143000"/>
          </a:xfrm>
          <a:prstGeom prst="roundRect">
            <a:avLst>
              <a:gd name="adj" fmla="val 12000"/>
            </a:avLst>
          </a:prstGeom>
          <a:solidFill>
            <a:srgbClr val="E29F18"/>
          </a:solidFill>
          <a:ln/>
        </p:spPr>
      </p:sp>
      <p:sp>
        <p:nvSpPr>
          <p:cNvPr id="21" name="Text 19"/>
          <p:cNvSpPr/>
          <p:nvPr/>
        </p:nvSpPr>
        <p:spPr>
          <a:xfrm>
            <a:off x="320040" y="4535424"/>
            <a:ext cx="685800" cy="11430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Q3</a:t>
            </a:r>
            <a:endParaRPr lang="en-US" sz="1500" dirty="0"/>
          </a:p>
        </p:txBody>
      </p:sp>
      <p:sp>
        <p:nvSpPr>
          <p:cNvPr id="22" name="Text 20"/>
          <p:cNvSpPr/>
          <p:nvPr/>
        </p:nvSpPr>
        <p:spPr>
          <a:xfrm>
            <a:off x="1124712" y="4791456"/>
            <a:ext cx="4681728" cy="621792"/>
          </a:xfrm>
          <a:prstGeom prst="rect">
            <a:avLst/>
          </a:prstGeom>
          <a:noFill/>
          <a:ln/>
        </p:spPr>
        <p:txBody>
          <a:bodyPr wrap="square" rtlCol="0" anchor="ctr"/>
          <a:lstStyle/>
          <a:p>
            <a:pPr indent="0" marL="0">
              <a:buNone/>
            </a:pPr>
            <a:r>
              <a:rPr lang="en-US" sz="1200" dirty="0">
                <a:solidFill>
                  <a:srgbClr val="1A2B4A"/>
                </a:solidFill>
                <a:latin typeface="Calibri" pitchFamily="34" charset="0"/>
                <a:ea typeface="Calibri" pitchFamily="34" charset="-122"/>
                <a:cs typeface="Calibri" pitchFamily="34" charset="-120"/>
              </a:rPr>
              <a:t>How much revenue is covered by insurance vs paid out-of-pocket?</a:t>
            </a:r>
            <a:endParaRPr lang="en-US" sz="1200" dirty="0"/>
          </a:p>
        </p:txBody>
      </p:sp>
      <p:sp>
        <p:nvSpPr>
          <p:cNvPr id="23" name="Shape 21"/>
          <p:cNvSpPr/>
          <p:nvPr/>
        </p:nvSpPr>
        <p:spPr>
          <a:xfrm>
            <a:off x="6080760" y="4535424"/>
            <a:ext cx="5596128" cy="1143000"/>
          </a:xfrm>
          <a:prstGeom prst="roundRect">
            <a:avLst>
              <a:gd name="adj" fmla="val 7200"/>
            </a:avLst>
          </a:prstGeom>
          <a:solidFill>
            <a:srgbClr val="FFFFFF"/>
          </a:solidFill>
          <a:ln w="10160">
            <a:solidFill>
              <a:srgbClr val="D0DCE4"/>
            </a:solidFill>
            <a:prstDash val="solid"/>
          </a:ln>
        </p:spPr>
      </p:sp>
      <p:sp>
        <p:nvSpPr>
          <p:cNvPr id="24" name="Shape 22"/>
          <p:cNvSpPr/>
          <p:nvPr/>
        </p:nvSpPr>
        <p:spPr>
          <a:xfrm>
            <a:off x="6080760" y="4535424"/>
            <a:ext cx="685800" cy="1143000"/>
          </a:xfrm>
          <a:prstGeom prst="roundRect">
            <a:avLst>
              <a:gd name="adj" fmla="val 12000"/>
            </a:avLst>
          </a:prstGeom>
          <a:solidFill>
            <a:srgbClr val="E67E22"/>
          </a:solidFill>
          <a:ln/>
        </p:spPr>
      </p:sp>
      <p:sp>
        <p:nvSpPr>
          <p:cNvPr id="25" name="Text 23"/>
          <p:cNvSpPr/>
          <p:nvPr/>
        </p:nvSpPr>
        <p:spPr>
          <a:xfrm>
            <a:off x="6080760" y="4535424"/>
            <a:ext cx="685800" cy="11430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Q4</a:t>
            </a:r>
            <a:endParaRPr lang="en-US" sz="1500" dirty="0"/>
          </a:p>
        </p:txBody>
      </p:sp>
      <p:sp>
        <p:nvSpPr>
          <p:cNvPr id="26" name="Text 24"/>
          <p:cNvSpPr/>
          <p:nvPr/>
        </p:nvSpPr>
        <p:spPr>
          <a:xfrm>
            <a:off x="6885432" y="4791456"/>
            <a:ext cx="4681728" cy="621792"/>
          </a:xfrm>
          <a:prstGeom prst="rect">
            <a:avLst/>
          </a:prstGeom>
          <a:noFill/>
          <a:ln/>
        </p:spPr>
        <p:txBody>
          <a:bodyPr wrap="square" rtlCol="0" anchor="ctr"/>
          <a:lstStyle/>
          <a:p>
            <a:pPr indent="0" marL="0">
              <a:buNone/>
            </a:pPr>
            <a:r>
              <a:rPr lang="en-US" sz="1200" dirty="0">
                <a:solidFill>
                  <a:srgbClr val="1A2B4A"/>
                </a:solidFill>
                <a:latin typeface="Calibri" pitchFamily="34" charset="0"/>
                <a:ea typeface="Calibri" pitchFamily="34" charset="-122"/>
                <a:cs typeface="Calibri" pitchFamily="34" charset="-120"/>
              </a:rPr>
              <a:t>What is the patient satisfaction score trend and which doctors perform best?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AFA"/>
          </a:solidFill>
          <a:ln/>
        </p:spPr>
      </p:sp>
      <p:sp>
        <p:nvSpPr>
          <p:cNvPr id="3" name="Shape 1"/>
          <p:cNvSpPr/>
          <p:nvPr/>
        </p:nvSpPr>
        <p:spPr>
          <a:xfrm>
            <a:off x="0" y="0"/>
            <a:ext cx="82296" cy="6858000"/>
          </a:xfrm>
          <a:prstGeom prst="rect">
            <a:avLst/>
          </a:prstGeom>
          <a:solidFill>
            <a:srgbClr val="006D77"/>
          </a:solidFill>
          <a:ln/>
        </p:spPr>
      </p:sp>
      <p:sp>
        <p:nvSpPr>
          <p:cNvPr id="4" name="Shape 2"/>
          <p:cNvSpPr/>
          <p:nvPr/>
        </p:nvSpPr>
        <p:spPr>
          <a:xfrm>
            <a:off x="0" y="0"/>
            <a:ext cx="12161520" cy="1371600"/>
          </a:xfrm>
          <a:prstGeom prst="rect">
            <a:avLst/>
          </a:prstGeom>
          <a:solidFill>
            <a:srgbClr val="006D77"/>
          </a:solidFill>
          <a:ln/>
        </p:spPr>
      </p:sp>
      <p:sp>
        <p:nvSpPr>
          <p:cNvPr id="5" name="Text 3"/>
          <p:cNvSpPr/>
          <p:nvPr/>
        </p:nvSpPr>
        <p:spPr>
          <a:xfrm>
            <a:off x="320040" y="164592"/>
            <a:ext cx="1152144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Your Dataset — Two CSV Files</a:t>
            </a:r>
            <a:endParaRPr lang="en-US" sz="2400" dirty="0"/>
          </a:p>
        </p:txBody>
      </p:sp>
      <p:sp>
        <p:nvSpPr>
          <p:cNvPr id="6" name="Text 4"/>
          <p:cNvSpPr/>
          <p:nvPr/>
        </p:nvSpPr>
        <p:spPr>
          <a:xfrm>
            <a:off x="320040" y="822960"/>
            <a:ext cx="11521440" cy="411480"/>
          </a:xfrm>
          <a:prstGeom prst="rect">
            <a:avLst/>
          </a:prstGeom>
          <a:noFill/>
          <a:ln/>
        </p:spPr>
        <p:txBody>
          <a:bodyPr wrap="square" rtlCol="0" anchor="ctr"/>
          <a:lstStyle/>
          <a:p>
            <a:pPr indent="0" marL="0">
              <a:buNone/>
            </a:pPr>
            <a:r>
              <a:rPr lang="en-US" sz="1200" i="1" dirty="0">
                <a:solidFill>
                  <a:srgbClr val="83C5BE"/>
                </a:solidFill>
                <a:latin typeface="Calibri" pitchFamily="34" charset="0"/>
                <a:ea typeface="Calibri" pitchFamily="34" charset="-122"/>
                <a:cs typeface="Calibri" pitchFamily="34" charset="-120"/>
              </a:rPr>
              <a:t>Both files are included in the project folder. Do NOT edit them in Excel before loading.</a:t>
            </a:r>
            <a:endParaRPr lang="en-US" sz="1200" dirty="0"/>
          </a:p>
        </p:txBody>
      </p:sp>
      <p:sp>
        <p:nvSpPr>
          <p:cNvPr id="7" name="Shape 5"/>
          <p:cNvSpPr/>
          <p:nvPr/>
        </p:nvSpPr>
        <p:spPr>
          <a:xfrm>
            <a:off x="320040" y="1444752"/>
            <a:ext cx="5577840" cy="5074920"/>
          </a:xfrm>
          <a:prstGeom prst="roundRect">
            <a:avLst>
              <a:gd name="adj" fmla="val 1802"/>
            </a:avLst>
          </a:prstGeom>
          <a:solidFill>
            <a:srgbClr val="FFFFFF"/>
          </a:solidFill>
          <a:ln w="10160">
            <a:solidFill>
              <a:srgbClr val="D0DCE4"/>
            </a:solidFill>
            <a:prstDash val="solid"/>
          </a:ln>
        </p:spPr>
      </p:sp>
      <p:sp>
        <p:nvSpPr>
          <p:cNvPr id="8" name="Shape 6"/>
          <p:cNvSpPr/>
          <p:nvPr/>
        </p:nvSpPr>
        <p:spPr>
          <a:xfrm>
            <a:off x="320040" y="1444752"/>
            <a:ext cx="5577840" cy="658368"/>
          </a:xfrm>
          <a:prstGeom prst="roundRect">
            <a:avLst>
              <a:gd name="adj" fmla="val 13889"/>
            </a:avLst>
          </a:prstGeom>
          <a:solidFill>
            <a:srgbClr val="006D77"/>
          </a:solidFill>
          <a:ln/>
        </p:spPr>
      </p:sp>
      <p:sp>
        <p:nvSpPr>
          <p:cNvPr id="9" name="Text 7"/>
          <p:cNvSpPr/>
          <p:nvPr/>
        </p:nvSpPr>
        <p:spPr>
          <a:xfrm>
            <a:off x="457200" y="1508760"/>
            <a:ext cx="5303520" cy="53035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HC_Patients.csv  —  500 rows</a:t>
            </a:r>
            <a:endParaRPr lang="en-US" sz="1400" dirty="0"/>
          </a:p>
        </p:txBody>
      </p:sp>
      <p:sp>
        <p:nvSpPr>
          <p:cNvPr id="10" name="Shape 8"/>
          <p:cNvSpPr/>
          <p:nvPr/>
        </p:nvSpPr>
        <p:spPr>
          <a:xfrm>
            <a:off x="438912" y="2212848"/>
            <a:ext cx="1920240" cy="438912"/>
          </a:xfrm>
          <a:prstGeom prst="rect">
            <a:avLst/>
          </a:prstGeom>
          <a:solidFill>
            <a:srgbClr val="EDF6F9"/>
          </a:solidFill>
          <a:ln w="6350">
            <a:solidFill>
              <a:srgbClr val="D0DCE4"/>
            </a:solidFill>
            <a:prstDash val="solid"/>
          </a:ln>
        </p:spPr>
      </p:sp>
      <p:sp>
        <p:nvSpPr>
          <p:cNvPr id="11" name="Shape 9"/>
          <p:cNvSpPr/>
          <p:nvPr/>
        </p:nvSpPr>
        <p:spPr>
          <a:xfrm>
            <a:off x="2359152" y="2212848"/>
            <a:ext cx="3429000" cy="438912"/>
          </a:xfrm>
          <a:prstGeom prst="rect">
            <a:avLst/>
          </a:prstGeom>
          <a:solidFill>
            <a:srgbClr val="EDF6F9"/>
          </a:solidFill>
          <a:ln w="6350">
            <a:solidFill>
              <a:srgbClr val="D0DCE4"/>
            </a:solidFill>
            <a:prstDash val="solid"/>
          </a:ln>
        </p:spPr>
      </p:sp>
      <p:sp>
        <p:nvSpPr>
          <p:cNvPr id="12" name="Text 10"/>
          <p:cNvSpPr/>
          <p:nvPr/>
        </p:nvSpPr>
        <p:spPr>
          <a:xfrm>
            <a:off x="475488" y="2212848"/>
            <a:ext cx="1828800" cy="438912"/>
          </a:xfrm>
          <a:prstGeom prst="rect">
            <a:avLst/>
          </a:prstGeom>
          <a:noFill/>
          <a:ln/>
        </p:spPr>
        <p:txBody>
          <a:bodyPr wrap="square" rtlCol="0" anchor="ctr"/>
          <a:lstStyle/>
          <a:p>
            <a:pPr indent="0" marL="0">
              <a:buNone/>
            </a:pPr>
            <a:r>
              <a:rPr lang="en-US" sz="1000" b="1" dirty="0">
                <a:solidFill>
                  <a:srgbClr val="006D77"/>
                </a:solidFill>
                <a:latin typeface="Courier New" pitchFamily="34" charset="0"/>
                <a:ea typeface="Courier New" pitchFamily="34" charset="-122"/>
                <a:cs typeface="Courier New" pitchFamily="34" charset="-120"/>
              </a:rPr>
              <a:t>Patient_ID</a:t>
            </a:r>
            <a:endParaRPr lang="en-US" sz="1000" dirty="0"/>
          </a:p>
        </p:txBody>
      </p:sp>
      <p:sp>
        <p:nvSpPr>
          <p:cNvPr id="13" name="Text 11"/>
          <p:cNvSpPr/>
          <p:nvPr/>
        </p:nvSpPr>
        <p:spPr>
          <a:xfrm>
            <a:off x="2395728" y="2212848"/>
            <a:ext cx="3337560" cy="438912"/>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Unique patient code  e.g. P0001</a:t>
            </a:r>
            <a:endParaRPr lang="en-US" sz="1000" dirty="0"/>
          </a:p>
        </p:txBody>
      </p:sp>
      <p:sp>
        <p:nvSpPr>
          <p:cNvPr id="14" name="Shape 12"/>
          <p:cNvSpPr/>
          <p:nvPr/>
        </p:nvSpPr>
        <p:spPr>
          <a:xfrm>
            <a:off x="438912" y="2734056"/>
            <a:ext cx="1920240" cy="438912"/>
          </a:xfrm>
          <a:prstGeom prst="rect">
            <a:avLst/>
          </a:prstGeom>
          <a:solidFill>
            <a:srgbClr val="FFFFFF"/>
          </a:solidFill>
          <a:ln w="6350">
            <a:solidFill>
              <a:srgbClr val="D0DCE4"/>
            </a:solidFill>
            <a:prstDash val="solid"/>
          </a:ln>
        </p:spPr>
      </p:sp>
      <p:sp>
        <p:nvSpPr>
          <p:cNvPr id="15" name="Shape 13"/>
          <p:cNvSpPr/>
          <p:nvPr/>
        </p:nvSpPr>
        <p:spPr>
          <a:xfrm>
            <a:off x="2359152" y="2734056"/>
            <a:ext cx="3429000" cy="438912"/>
          </a:xfrm>
          <a:prstGeom prst="rect">
            <a:avLst/>
          </a:prstGeom>
          <a:solidFill>
            <a:srgbClr val="FFFFFF"/>
          </a:solidFill>
          <a:ln w="6350">
            <a:solidFill>
              <a:srgbClr val="D0DCE4"/>
            </a:solidFill>
            <a:prstDash val="solid"/>
          </a:ln>
        </p:spPr>
      </p:sp>
      <p:sp>
        <p:nvSpPr>
          <p:cNvPr id="16" name="Text 14"/>
          <p:cNvSpPr/>
          <p:nvPr/>
        </p:nvSpPr>
        <p:spPr>
          <a:xfrm>
            <a:off x="475488" y="2734056"/>
            <a:ext cx="1828800" cy="438912"/>
          </a:xfrm>
          <a:prstGeom prst="rect">
            <a:avLst/>
          </a:prstGeom>
          <a:noFill/>
          <a:ln/>
        </p:spPr>
        <p:txBody>
          <a:bodyPr wrap="square" rtlCol="0" anchor="ctr"/>
          <a:lstStyle/>
          <a:p>
            <a:pPr indent="0" marL="0">
              <a:buNone/>
            </a:pPr>
            <a:r>
              <a:rPr lang="en-US" sz="1000" b="1" dirty="0">
                <a:solidFill>
                  <a:srgbClr val="006D77"/>
                </a:solidFill>
                <a:latin typeface="Courier New" pitchFamily="34" charset="0"/>
                <a:ea typeface="Courier New" pitchFamily="34" charset="-122"/>
                <a:cs typeface="Courier New" pitchFamily="34" charset="-120"/>
              </a:rPr>
              <a:t>Patient_Name</a:t>
            </a:r>
            <a:endParaRPr lang="en-US" sz="1000" dirty="0"/>
          </a:p>
        </p:txBody>
      </p:sp>
      <p:sp>
        <p:nvSpPr>
          <p:cNvPr id="17" name="Text 15"/>
          <p:cNvSpPr/>
          <p:nvPr/>
        </p:nvSpPr>
        <p:spPr>
          <a:xfrm>
            <a:off x="2395728" y="2734056"/>
            <a:ext cx="3337560" cy="438912"/>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Full name</a:t>
            </a:r>
            <a:endParaRPr lang="en-US" sz="1000" dirty="0"/>
          </a:p>
        </p:txBody>
      </p:sp>
      <p:sp>
        <p:nvSpPr>
          <p:cNvPr id="18" name="Shape 16"/>
          <p:cNvSpPr/>
          <p:nvPr/>
        </p:nvSpPr>
        <p:spPr>
          <a:xfrm>
            <a:off x="438912" y="3255264"/>
            <a:ext cx="1920240" cy="438912"/>
          </a:xfrm>
          <a:prstGeom prst="rect">
            <a:avLst/>
          </a:prstGeom>
          <a:solidFill>
            <a:srgbClr val="EDF6F9"/>
          </a:solidFill>
          <a:ln w="6350">
            <a:solidFill>
              <a:srgbClr val="D0DCE4"/>
            </a:solidFill>
            <a:prstDash val="solid"/>
          </a:ln>
        </p:spPr>
      </p:sp>
      <p:sp>
        <p:nvSpPr>
          <p:cNvPr id="19" name="Shape 17"/>
          <p:cNvSpPr/>
          <p:nvPr/>
        </p:nvSpPr>
        <p:spPr>
          <a:xfrm>
            <a:off x="2359152" y="3255264"/>
            <a:ext cx="3429000" cy="438912"/>
          </a:xfrm>
          <a:prstGeom prst="rect">
            <a:avLst/>
          </a:prstGeom>
          <a:solidFill>
            <a:srgbClr val="EDF6F9"/>
          </a:solidFill>
          <a:ln w="6350">
            <a:solidFill>
              <a:srgbClr val="D0DCE4"/>
            </a:solidFill>
            <a:prstDash val="solid"/>
          </a:ln>
        </p:spPr>
      </p:sp>
      <p:sp>
        <p:nvSpPr>
          <p:cNvPr id="20" name="Text 18"/>
          <p:cNvSpPr/>
          <p:nvPr/>
        </p:nvSpPr>
        <p:spPr>
          <a:xfrm>
            <a:off x="475488" y="3255264"/>
            <a:ext cx="1828800" cy="438912"/>
          </a:xfrm>
          <a:prstGeom prst="rect">
            <a:avLst/>
          </a:prstGeom>
          <a:noFill/>
          <a:ln/>
        </p:spPr>
        <p:txBody>
          <a:bodyPr wrap="square" rtlCol="0" anchor="ctr"/>
          <a:lstStyle/>
          <a:p>
            <a:pPr indent="0" marL="0">
              <a:buNone/>
            </a:pPr>
            <a:r>
              <a:rPr lang="en-US" sz="1000" b="1" dirty="0">
                <a:solidFill>
                  <a:srgbClr val="006D77"/>
                </a:solidFill>
                <a:latin typeface="Courier New" pitchFamily="34" charset="0"/>
                <a:ea typeface="Courier New" pitchFamily="34" charset="-122"/>
                <a:cs typeface="Courier New" pitchFamily="34" charset="-120"/>
              </a:rPr>
              <a:t>Age</a:t>
            </a:r>
            <a:endParaRPr lang="en-US" sz="1000" dirty="0"/>
          </a:p>
        </p:txBody>
      </p:sp>
      <p:sp>
        <p:nvSpPr>
          <p:cNvPr id="21" name="Text 19"/>
          <p:cNvSpPr/>
          <p:nvPr/>
        </p:nvSpPr>
        <p:spPr>
          <a:xfrm>
            <a:off x="2395728" y="3255264"/>
            <a:ext cx="3337560" cy="438912"/>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Numeric age in years</a:t>
            </a:r>
            <a:endParaRPr lang="en-US" sz="1000" dirty="0"/>
          </a:p>
        </p:txBody>
      </p:sp>
      <p:sp>
        <p:nvSpPr>
          <p:cNvPr id="22" name="Shape 20"/>
          <p:cNvSpPr/>
          <p:nvPr/>
        </p:nvSpPr>
        <p:spPr>
          <a:xfrm>
            <a:off x="438912" y="3776472"/>
            <a:ext cx="1920240" cy="438912"/>
          </a:xfrm>
          <a:prstGeom prst="rect">
            <a:avLst/>
          </a:prstGeom>
          <a:solidFill>
            <a:srgbClr val="FFFFFF"/>
          </a:solidFill>
          <a:ln w="6350">
            <a:solidFill>
              <a:srgbClr val="D0DCE4"/>
            </a:solidFill>
            <a:prstDash val="solid"/>
          </a:ln>
        </p:spPr>
      </p:sp>
      <p:sp>
        <p:nvSpPr>
          <p:cNvPr id="23" name="Shape 21"/>
          <p:cNvSpPr/>
          <p:nvPr/>
        </p:nvSpPr>
        <p:spPr>
          <a:xfrm>
            <a:off x="2359152" y="3776472"/>
            <a:ext cx="3429000" cy="438912"/>
          </a:xfrm>
          <a:prstGeom prst="rect">
            <a:avLst/>
          </a:prstGeom>
          <a:solidFill>
            <a:srgbClr val="FFFFFF"/>
          </a:solidFill>
          <a:ln w="6350">
            <a:solidFill>
              <a:srgbClr val="D0DCE4"/>
            </a:solidFill>
            <a:prstDash val="solid"/>
          </a:ln>
        </p:spPr>
      </p:sp>
      <p:sp>
        <p:nvSpPr>
          <p:cNvPr id="24" name="Text 22"/>
          <p:cNvSpPr/>
          <p:nvPr/>
        </p:nvSpPr>
        <p:spPr>
          <a:xfrm>
            <a:off x="475488" y="3776472"/>
            <a:ext cx="1828800" cy="438912"/>
          </a:xfrm>
          <a:prstGeom prst="rect">
            <a:avLst/>
          </a:prstGeom>
          <a:noFill/>
          <a:ln/>
        </p:spPr>
        <p:txBody>
          <a:bodyPr wrap="square" rtlCol="0" anchor="ctr"/>
          <a:lstStyle/>
          <a:p>
            <a:pPr indent="0" marL="0">
              <a:buNone/>
            </a:pPr>
            <a:r>
              <a:rPr lang="en-US" sz="1000" b="1" dirty="0">
                <a:solidFill>
                  <a:srgbClr val="006D77"/>
                </a:solidFill>
                <a:latin typeface="Courier New" pitchFamily="34" charset="0"/>
                <a:ea typeface="Courier New" pitchFamily="34" charset="-122"/>
                <a:cs typeface="Courier New" pitchFamily="34" charset="-120"/>
              </a:rPr>
              <a:t>Gender</a:t>
            </a:r>
            <a:endParaRPr lang="en-US" sz="1000" dirty="0"/>
          </a:p>
        </p:txBody>
      </p:sp>
      <p:sp>
        <p:nvSpPr>
          <p:cNvPr id="25" name="Text 23"/>
          <p:cNvSpPr/>
          <p:nvPr/>
        </p:nvSpPr>
        <p:spPr>
          <a:xfrm>
            <a:off x="2395728" y="3776472"/>
            <a:ext cx="3337560" cy="438912"/>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Male / Female</a:t>
            </a:r>
            <a:endParaRPr lang="en-US" sz="1000" dirty="0"/>
          </a:p>
        </p:txBody>
      </p:sp>
      <p:sp>
        <p:nvSpPr>
          <p:cNvPr id="26" name="Shape 24"/>
          <p:cNvSpPr/>
          <p:nvPr/>
        </p:nvSpPr>
        <p:spPr>
          <a:xfrm>
            <a:off x="438912" y="4297680"/>
            <a:ext cx="1920240" cy="438912"/>
          </a:xfrm>
          <a:prstGeom prst="rect">
            <a:avLst/>
          </a:prstGeom>
          <a:solidFill>
            <a:srgbClr val="EDF6F9"/>
          </a:solidFill>
          <a:ln w="6350">
            <a:solidFill>
              <a:srgbClr val="D0DCE4"/>
            </a:solidFill>
            <a:prstDash val="solid"/>
          </a:ln>
        </p:spPr>
      </p:sp>
      <p:sp>
        <p:nvSpPr>
          <p:cNvPr id="27" name="Shape 25"/>
          <p:cNvSpPr/>
          <p:nvPr/>
        </p:nvSpPr>
        <p:spPr>
          <a:xfrm>
            <a:off x="2359152" y="4297680"/>
            <a:ext cx="3429000" cy="438912"/>
          </a:xfrm>
          <a:prstGeom prst="rect">
            <a:avLst/>
          </a:prstGeom>
          <a:solidFill>
            <a:srgbClr val="EDF6F9"/>
          </a:solidFill>
          <a:ln w="6350">
            <a:solidFill>
              <a:srgbClr val="D0DCE4"/>
            </a:solidFill>
            <a:prstDash val="solid"/>
          </a:ln>
        </p:spPr>
      </p:sp>
      <p:sp>
        <p:nvSpPr>
          <p:cNvPr id="28" name="Text 26"/>
          <p:cNvSpPr/>
          <p:nvPr/>
        </p:nvSpPr>
        <p:spPr>
          <a:xfrm>
            <a:off x="475488" y="4297680"/>
            <a:ext cx="1828800" cy="438912"/>
          </a:xfrm>
          <a:prstGeom prst="rect">
            <a:avLst/>
          </a:prstGeom>
          <a:noFill/>
          <a:ln/>
        </p:spPr>
        <p:txBody>
          <a:bodyPr wrap="square" rtlCol="0" anchor="ctr"/>
          <a:lstStyle/>
          <a:p>
            <a:pPr indent="0" marL="0">
              <a:buNone/>
            </a:pPr>
            <a:r>
              <a:rPr lang="en-US" sz="1000" b="1" dirty="0">
                <a:solidFill>
                  <a:srgbClr val="006D77"/>
                </a:solidFill>
                <a:latin typeface="Courier New" pitchFamily="34" charset="0"/>
                <a:ea typeface="Courier New" pitchFamily="34" charset="-122"/>
                <a:cs typeface="Courier New" pitchFamily="34" charset="-120"/>
              </a:rPr>
              <a:t>Blood_Group</a:t>
            </a:r>
            <a:endParaRPr lang="en-US" sz="1000" dirty="0"/>
          </a:p>
        </p:txBody>
      </p:sp>
      <p:sp>
        <p:nvSpPr>
          <p:cNvPr id="29" name="Text 27"/>
          <p:cNvSpPr/>
          <p:nvPr/>
        </p:nvSpPr>
        <p:spPr>
          <a:xfrm>
            <a:off x="2395728" y="4297680"/>
            <a:ext cx="3337560" cy="438912"/>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e.g. A+, O-</a:t>
            </a:r>
            <a:endParaRPr lang="en-US" sz="1000" dirty="0"/>
          </a:p>
        </p:txBody>
      </p:sp>
      <p:sp>
        <p:nvSpPr>
          <p:cNvPr id="30" name="Shape 28"/>
          <p:cNvSpPr/>
          <p:nvPr/>
        </p:nvSpPr>
        <p:spPr>
          <a:xfrm>
            <a:off x="438912" y="4818888"/>
            <a:ext cx="1920240" cy="438912"/>
          </a:xfrm>
          <a:prstGeom prst="rect">
            <a:avLst/>
          </a:prstGeom>
          <a:solidFill>
            <a:srgbClr val="FFFFFF"/>
          </a:solidFill>
          <a:ln w="6350">
            <a:solidFill>
              <a:srgbClr val="D0DCE4"/>
            </a:solidFill>
            <a:prstDash val="solid"/>
          </a:ln>
        </p:spPr>
      </p:sp>
      <p:sp>
        <p:nvSpPr>
          <p:cNvPr id="31" name="Shape 29"/>
          <p:cNvSpPr/>
          <p:nvPr/>
        </p:nvSpPr>
        <p:spPr>
          <a:xfrm>
            <a:off x="2359152" y="4818888"/>
            <a:ext cx="3429000" cy="438912"/>
          </a:xfrm>
          <a:prstGeom prst="rect">
            <a:avLst/>
          </a:prstGeom>
          <a:solidFill>
            <a:srgbClr val="FFFFFF"/>
          </a:solidFill>
          <a:ln w="6350">
            <a:solidFill>
              <a:srgbClr val="D0DCE4"/>
            </a:solidFill>
            <a:prstDash val="solid"/>
          </a:ln>
        </p:spPr>
      </p:sp>
      <p:sp>
        <p:nvSpPr>
          <p:cNvPr id="32" name="Text 30"/>
          <p:cNvSpPr/>
          <p:nvPr/>
        </p:nvSpPr>
        <p:spPr>
          <a:xfrm>
            <a:off x="475488" y="4818888"/>
            <a:ext cx="1828800" cy="438912"/>
          </a:xfrm>
          <a:prstGeom prst="rect">
            <a:avLst/>
          </a:prstGeom>
          <a:noFill/>
          <a:ln/>
        </p:spPr>
        <p:txBody>
          <a:bodyPr wrap="square" rtlCol="0" anchor="ctr"/>
          <a:lstStyle/>
          <a:p>
            <a:pPr indent="0" marL="0">
              <a:buNone/>
            </a:pPr>
            <a:r>
              <a:rPr lang="en-US" sz="1000" b="1" dirty="0">
                <a:solidFill>
                  <a:srgbClr val="006D77"/>
                </a:solidFill>
                <a:latin typeface="Courier New" pitchFamily="34" charset="0"/>
                <a:ea typeface="Courier New" pitchFamily="34" charset="-122"/>
                <a:cs typeface="Courier New" pitchFamily="34" charset="-120"/>
              </a:rPr>
              <a:t>City</a:t>
            </a:r>
            <a:endParaRPr lang="en-US" sz="1000" dirty="0"/>
          </a:p>
        </p:txBody>
      </p:sp>
      <p:sp>
        <p:nvSpPr>
          <p:cNvPr id="33" name="Text 31"/>
          <p:cNvSpPr/>
          <p:nvPr/>
        </p:nvSpPr>
        <p:spPr>
          <a:xfrm>
            <a:off x="2395728" y="4818888"/>
            <a:ext cx="3337560" cy="438912"/>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Patient home city</a:t>
            </a:r>
            <a:endParaRPr lang="en-US" sz="1000" dirty="0"/>
          </a:p>
        </p:txBody>
      </p:sp>
      <p:sp>
        <p:nvSpPr>
          <p:cNvPr id="34" name="Shape 32"/>
          <p:cNvSpPr/>
          <p:nvPr/>
        </p:nvSpPr>
        <p:spPr>
          <a:xfrm>
            <a:off x="438912" y="5340096"/>
            <a:ext cx="1920240" cy="438912"/>
          </a:xfrm>
          <a:prstGeom prst="rect">
            <a:avLst/>
          </a:prstGeom>
          <a:solidFill>
            <a:srgbClr val="EDF6F9"/>
          </a:solidFill>
          <a:ln w="6350">
            <a:solidFill>
              <a:srgbClr val="D0DCE4"/>
            </a:solidFill>
            <a:prstDash val="solid"/>
          </a:ln>
        </p:spPr>
      </p:sp>
      <p:sp>
        <p:nvSpPr>
          <p:cNvPr id="35" name="Shape 33"/>
          <p:cNvSpPr/>
          <p:nvPr/>
        </p:nvSpPr>
        <p:spPr>
          <a:xfrm>
            <a:off x="2359152" y="5340096"/>
            <a:ext cx="3429000" cy="438912"/>
          </a:xfrm>
          <a:prstGeom prst="rect">
            <a:avLst/>
          </a:prstGeom>
          <a:solidFill>
            <a:srgbClr val="EDF6F9"/>
          </a:solidFill>
          <a:ln w="6350">
            <a:solidFill>
              <a:srgbClr val="D0DCE4"/>
            </a:solidFill>
            <a:prstDash val="solid"/>
          </a:ln>
        </p:spPr>
      </p:sp>
      <p:sp>
        <p:nvSpPr>
          <p:cNvPr id="36" name="Text 34"/>
          <p:cNvSpPr/>
          <p:nvPr/>
        </p:nvSpPr>
        <p:spPr>
          <a:xfrm>
            <a:off x="475488" y="5340096"/>
            <a:ext cx="1828800" cy="438912"/>
          </a:xfrm>
          <a:prstGeom prst="rect">
            <a:avLst/>
          </a:prstGeom>
          <a:noFill/>
          <a:ln/>
        </p:spPr>
        <p:txBody>
          <a:bodyPr wrap="square" rtlCol="0" anchor="ctr"/>
          <a:lstStyle/>
          <a:p>
            <a:pPr indent="0" marL="0">
              <a:buNone/>
            </a:pPr>
            <a:r>
              <a:rPr lang="en-US" sz="1000" b="1" dirty="0">
                <a:solidFill>
                  <a:srgbClr val="006D77"/>
                </a:solidFill>
                <a:latin typeface="Courier New" pitchFamily="34" charset="0"/>
                <a:ea typeface="Courier New" pitchFamily="34" charset="-122"/>
                <a:cs typeface="Courier New" pitchFamily="34" charset="-120"/>
              </a:rPr>
              <a:t>Insurance_Provider</a:t>
            </a:r>
            <a:endParaRPr lang="en-US" sz="1000" dirty="0"/>
          </a:p>
        </p:txBody>
      </p:sp>
      <p:sp>
        <p:nvSpPr>
          <p:cNvPr id="37" name="Text 35"/>
          <p:cNvSpPr/>
          <p:nvPr/>
        </p:nvSpPr>
        <p:spPr>
          <a:xfrm>
            <a:off x="2395728" y="5340096"/>
            <a:ext cx="3337560" cy="438912"/>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Insurance company name or No Insurance</a:t>
            </a:r>
            <a:endParaRPr lang="en-US" sz="1000" dirty="0"/>
          </a:p>
        </p:txBody>
      </p:sp>
      <p:sp>
        <p:nvSpPr>
          <p:cNvPr id="38" name="Shape 36"/>
          <p:cNvSpPr/>
          <p:nvPr/>
        </p:nvSpPr>
        <p:spPr>
          <a:xfrm>
            <a:off x="438912" y="5861304"/>
            <a:ext cx="1920240" cy="438912"/>
          </a:xfrm>
          <a:prstGeom prst="rect">
            <a:avLst/>
          </a:prstGeom>
          <a:solidFill>
            <a:srgbClr val="FFFFFF"/>
          </a:solidFill>
          <a:ln w="6350">
            <a:solidFill>
              <a:srgbClr val="D0DCE4"/>
            </a:solidFill>
            <a:prstDash val="solid"/>
          </a:ln>
        </p:spPr>
      </p:sp>
      <p:sp>
        <p:nvSpPr>
          <p:cNvPr id="39" name="Shape 37"/>
          <p:cNvSpPr/>
          <p:nvPr/>
        </p:nvSpPr>
        <p:spPr>
          <a:xfrm>
            <a:off x="2359152" y="5861304"/>
            <a:ext cx="3429000" cy="438912"/>
          </a:xfrm>
          <a:prstGeom prst="rect">
            <a:avLst/>
          </a:prstGeom>
          <a:solidFill>
            <a:srgbClr val="FFFFFF"/>
          </a:solidFill>
          <a:ln w="6350">
            <a:solidFill>
              <a:srgbClr val="D0DCE4"/>
            </a:solidFill>
            <a:prstDash val="solid"/>
          </a:ln>
        </p:spPr>
      </p:sp>
      <p:sp>
        <p:nvSpPr>
          <p:cNvPr id="40" name="Text 38"/>
          <p:cNvSpPr/>
          <p:nvPr/>
        </p:nvSpPr>
        <p:spPr>
          <a:xfrm>
            <a:off x="475488" y="5861304"/>
            <a:ext cx="1828800" cy="438912"/>
          </a:xfrm>
          <a:prstGeom prst="rect">
            <a:avLst/>
          </a:prstGeom>
          <a:noFill/>
          <a:ln/>
        </p:spPr>
        <p:txBody>
          <a:bodyPr wrap="square" rtlCol="0" anchor="ctr"/>
          <a:lstStyle/>
          <a:p>
            <a:pPr indent="0" marL="0">
              <a:buNone/>
            </a:pPr>
            <a:r>
              <a:rPr lang="en-US" sz="1000" b="1" dirty="0">
                <a:solidFill>
                  <a:srgbClr val="006D77"/>
                </a:solidFill>
                <a:latin typeface="Courier New" pitchFamily="34" charset="0"/>
                <a:ea typeface="Courier New" pitchFamily="34" charset="-122"/>
                <a:cs typeface="Courier New" pitchFamily="34" charset="-120"/>
              </a:rPr>
              <a:t>Contact</a:t>
            </a:r>
            <a:endParaRPr lang="en-US" sz="1000" dirty="0"/>
          </a:p>
        </p:txBody>
      </p:sp>
      <p:sp>
        <p:nvSpPr>
          <p:cNvPr id="41" name="Text 39"/>
          <p:cNvSpPr/>
          <p:nvPr/>
        </p:nvSpPr>
        <p:spPr>
          <a:xfrm>
            <a:off x="2395728" y="5861304"/>
            <a:ext cx="3337560" cy="438912"/>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Phone number</a:t>
            </a:r>
            <a:endParaRPr lang="en-US" sz="1000" dirty="0"/>
          </a:p>
        </p:txBody>
      </p:sp>
      <p:sp>
        <p:nvSpPr>
          <p:cNvPr id="42" name="Shape 40"/>
          <p:cNvSpPr/>
          <p:nvPr/>
        </p:nvSpPr>
        <p:spPr>
          <a:xfrm>
            <a:off x="6263640" y="1444752"/>
            <a:ext cx="5577840" cy="5074920"/>
          </a:xfrm>
          <a:prstGeom prst="roundRect">
            <a:avLst>
              <a:gd name="adj" fmla="val 1802"/>
            </a:avLst>
          </a:prstGeom>
          <a:solidFill>
            <a:srgbClr val="FFFFFF"/>
          </a:solidFill>
          <a:ln w="10160">
            <a:solidFill>
              <a:srgbClr val="D0DCE4"/>
            </a:solidFill>
            <a:prstDash val="solid"/>
          </a:ln>
        </p:spPr>
      </p:sp>
      <p:sp>
        <p:nvSpPr>
          <p:cNvPr id="43" name="Shape 41"/>
          <p:cNvSpPr/>
          <p:nvPr/>
        </p:nvSpPr>
        <p:spPr>
          <a:xfrm>
            <a:off x="6263640" y="1444752"/>
            <a:ext cx="5577840" cy="658368"/>
          </a:xfrm>
          <a:prstGeom prst="roundRect">
            <a:avLst>
              <a:gd name="adj" fmla="val 13889"/>
            </a:avLst>
          </a:prstGeom>
          <a:solidFill>
            <a:srgbClr val="008891"/>
          </a:solidFill>
          <a:ln/>
        </p:spPr>
      </p:sp>
      <p:sp>
        <p:nvSpPr>
          <p:cNvPr id="44" name="Text 42"/>
          <p:cNvSpPr/>
          <p:nvPr/>
        </p:nvSpPr>
        <p:spPr>
          <a:xfrm>
            <a:off x="6400800" y="1508760"/>
            <a:ext cx="5303520" cy="53035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HC_Admissions.csv  —  1000 rows</a:t>
            </a:r>
            <a:endParaRPr lang="en-US" sz="1400" dirty="0"/>
          </a:p>
        </p:txBody>
      </p:sp>
      <p:sp>
        <p:nvSpPr>
          <p:cNvPr id="45" name="Shape 43"/>
          <p:cNvSpPr/>
          <p:nvPr/>
        </p:nvSpPr>
        <p:spPr>
          <a:xfrm>
            <a:off x="6336792" y="2212848"/>
            <a:ext cx="2148840" cy="219456"/>
          </a:xfrm>
          <a:prstGeom prst="rect">
            <a:avLst/>
          </a:prstGeom>
          <a:solidFill>
            <a:srgbClr val="EDF8F9"/>
          </a:solidFill>
          <a:ln w="6350">
            <a:solidFill>
              <a:srgbClr val="D0DCE4"/>
            </a:solidFill>
            <a:prstDash val="solid"/>
          </a:ln>
        </p:spPr>
      </p:sp>
      <p:sp>
        <p:nvSpPr>
          <p:cNvPr id="46" name="Shape 44"/>
          <p:cNvSpPr/>
          <p:nvPr/>
        </p:nvSpPr>
        <p:spPr>
          <a:xfrm>
            <a:off x="8485632" y="2212848"/>
            <a:ext cx="3246120" cy="219456"/>
          </a:xfrm>
          <a:prstGeom prst="rect">
            <a:avLst/>
          </a:prstGeom>
          <a:solidFill>
            <a:srgbClr val="EDF8F9"/>
          </a:solidFill>
          <a:ln w="6350">
            <a:solidFill>
              <a:srgbClr val="D0DCE4"/>
            </a:solidFill>
            <a:prstDash val="solid"/>
          </a:ln>
        </p:spPr>
      </p:sp>
      <p:sp>
        <p:nvSpPr>
          <p:cNvPr id="47" name="Text 45"/>
          <p:cNvSpPr/>
          <p:nvPr/>
        </p:nvSpPr>
        <p:spPr>
          <a:xfrm>
            <a:off x="6373368" y="2212848"/>
            <a:ext cx="2057400" cy="219456"/>
          </a:xfrm>
          <a:prstGeom prst="rect">
            <a:avLst/>
          </a:prstGeom>
          <a:noFill/>
          <a:ln/>
        </p:spPr>
        <p:txBody>
          <a:bodyPr wrap="square" rtlCol="0" anchor="ctr"/>
          <a:lstStyle/>
          <a:p>
            <a:pPr indent="0" marL="0">
              <a:buNone/>
            </a:pPr>
            <a:r>
              <a:rPr lang="en-US" sz="900" b="1" dirty="0">
                <a:solidFill>
                  <a:srgbClr val="008891"/>
                </a:solidFill>
                <a:latin typeface="Courier New" pitchFamily="34" charset="0"/>
                <a:ea typeface="Courier New" pitchFamily="34" charset="-122"/>
                <a:cs typeface="Courier New" pitchFamily="34" charset="-120"/>
              </a:rPr>
              <a:t>Admission_ID</a:t>
            </a:r>
            <a:endParaRPr lang="en-US" sz="900" dirty="0"/>
          </a:p>
        </p:txBody>
      </p:sp>
      <p:sp>
        <p:nvSpPr>
          <p:cNvPr id="48" name="Text 46"/>
          <p:cNvSpPr/>
          <p:nvPr/>
        </p:nvSpPr>
        <p:spPr>
          <a:xfrm>
            <a:off x="8522208" y="2212848"/>
            <a:ext cx="3154680" cy="219456"/>
          </a:xfrm>
          <a:prstGeom prst="rect">
            <a:avLst/>
          </a:prstGeom>
          <a:noFill/>
          <a:ln/>
        </p:spPr>
        <p:txBody>
          <a:bodyPr wrap="square" rtlCol="0" anchor="ctr"/>
          <a:lstStyle/>
          <a:p>
            <a:pPr indent="0" marL="0">
              <a:buNone/>
            </a:pPr>
            <a:r>
              <a:rPr lang="en-US" sz="900" dirty="0">
                <a:solidFill>
                  <a:srgbClr val="3D5A6C"/>
                </a:solidFill>
                <a:latin typeface="Calibri" pitchFamily="34" charset="0"/>
                <a:ea typeface="Calibri" pitchFamily="34" charset="-122"/>
                <a:cs typeface="Calibri" pitchFamily="34" charset="-120"/>
              </a:rPr>
              <a:t>Unique admission code  e.g. ADM0001</a:t>
            </a:r>
            <a:endParaRPr lang="en-US" sz="900" dirty="0"/>
          </a:p>
        </p:txBody>
      </p:sp>
      <p:sp>
        <p:nvSpPr>
          <p:cNvPr id="49" name="Shape 47"/>
          <p:cNvSpPr/>
          <p:nvPr/>
        </p:nvSpPr>
        <p:spPr>
          <a:xfrm>
            <a:off x="6336792" y="2478024"/>
            <a:ext cx="2148840" cy="219456"/>
          </a:xfrm>
          <a:prstGeom prst="rect">
            <a:avLst/>
          </a:prstGeom>
          <a:solidFill>
            <a:srgbClr val="FFFFFF"/>
          </a:solidFill>
          <a:ln w="6350">
            <a:solidFill>
              <a:srgbClr val="D0DCE4"/>
            </a:solidFill>
            <a:prstDash val="solid"/>
          </a:ln>
        </p:spPr>
      </p:sp>
      <p:sp>
        <p:nvSpPr>
          <p:cNvPr id="50" name="Shape 48"/>
          <p:cNvSpPr/>
          <p:nvPr/>
        </p:nvSpPr>
        <p:spPr>
          <a:xfrm>
            <a:off x="8485632" y="2478024"/>
            <a:ext cx="3246120" cy="219456"/>
          </a:xfrm>
          <a:prstGeom prst="rect">
            <a:avLst/>
          </a:prstGeom>
          <a:solidFill>
            <a:srgbClr val="FFFFFF"/>
          </a:solidFill>
          <a:ln w="6350">
            <a:solidFill>
              <a:srgbClr val="D0DCE4"/>
            </a:solidFill>
            <a:prstDash val="solid"/>
          </a:ln>
        </p:spPr>
      </p:sp>
      <p:sp>
        <p:nvSpPr>
          <p:cNvPr id="51" name="Text 49"/>
          <p:cNvSpPr/>
          <p:nvPr/>
        </p:nvSpPr>
        <p:spPr>
          <a:xfrm>
            <a:off x="6373368" y="2478024"/>
            <a:ext cx="2057400" cy="219456"/>
          </a:xfrm>
          <a:prstGeom prst="rect">
            <a:avLst/>
          </a:prstGeom>
          <a:noFill/>
          <a:ln/>
        </p:spPr>
        <p:txBody>
          <a:bodyPr wrap="square" rtlCol="0" anchor="ctr"/>
          <a:lstStyle/>
          <a:p>
            <a:pPr indent="0" marL="0">
              <a:buNone/>
            </a:pPr>
            <a:r>
              <a:rPr lang="en-US" sz="900" b="1" dirty="0">
                <a:solidFill>
                  <a:srgbClr val="008891"/>
                </a:solidFill>
                <a:latin typeface="Courier New" pitchFamily="34" charset="0"/>
                <a:ea typeface="Courier New" pitchFamily="34" charset="-122"/>
                <a:cs typeface="Courier New" pitchFamily="34" charset="-120"/>
              </a:rPr>
              <a:t>Patient_ID</a:t>
            </a:r>
            <a:endParaRPr lang="en-US" sz="900" dirty="0"/>
          </a:p>
        </p:txBody>
      </p:sp>
      <p:sp>
        <p:nvSpPr>
          <p:cNvPr id="52" name="Text 50"/>
          <p:cNvSpPr/>
          <p:nvPr/>
        </p:nvSpPr>
        <p:spPr>
          <a:xfrm>
            <a:off x="8522208" y="2478024"/>
            <a:ext cx="3154680" cy="219456"/>
          </a:xfrm>
          <a:prstGeom prst="rect">
            <a:avLst/>
          </a:prstGeom>
          <a:noFill/>
          <a:ln/>
        </p:spPr>
        <p:txBody>
          <a:bodyPr wrap="square" rtlCol="0" anchor="ctr"/>
          <a:lstStyle/>
          <a:p>
            <a:pPr indent="0" marL="0">
              <a:buNone/>
            </a:pPr>
            <a:r>
              <a:rPr lang="en-US" sz="900" dirty="0">
                <a:solidFill>
                  <a:srgbClr val="3D5A6C"/>
                </a:solidFill>
                <a:latin typeface="Calibri" pitchFamily="34" charset="0"/>
                <a:ea typeface="Calibri" pitchFamily="34" charset="-122"/>
                <a:cs typeface="Calibri" pitchFamily="34" charset="-120"/>
              </a:rPr>
              <a:t>Links to Patients table</a:t>
            </a:r>
            <a:endParaRPr lang="en-US" sz="900" dirty="0"/>
          </a:p>
        </p:txBody>
      </p:sp>
      <p:sp>
        <p:nvSpPr>
          <p:cNvPr id="53" name="Shape 51"/>
          <p:cNvSpPr/>
          <p:nvPr/>
        </p:nvSpPr>
        <p:spPr>
          <a:xfrm>
            <a:off x="6336792" y="2743200"/>
            <a:ext cx="2148840" cy="219456"/>
          </a:xfrm>
          <a:prstGeom prst="rect">
            <a:avLst/>
          </a:prstGeom>
          <a:solidFill>
            <a:srgbClr val="EDF8F9"/>
          </a:solidFill>
          <a:ln w="6350">
            <a:solidFill>
              <a:srgbClr val="D0DCE4"/>
            </a:solidFill>
            <a:prstDash val="solid"/>
          </a:ln>
        </p:spPr>
      </p:sp>
      <p:sp>
        <p:nvSpPr>
          <p:cNvPr id="54" name="Shape 52"/>
          <p:cNvSpPr/>
          <p:nvPr/>
        </p:nvSpPr>
        <p:spPr>
          <a:xfrm>
            <a:off x="8485632" y="2743200"/>
            <a:ext cx="3246120" cy="219456"/>
          </a:xfrm>
          <a:prstGeom prst="rect">
            <a:avLst/>
          </a:prstGeom>
          <a:solidFill>
            <a:srgbClr val="EDF8F9"/>
          </a:solidFill>
          <a:ln w="6350">
            <a:solidFill>
              <a:srgbClr val="D0DCE4"/>
            </a:solidFill>
            <a:prstDash val="solid"/>
          </a:ln>
        </p:spPr>
      </p:sp>
      <p:sp>
        <p:nvSpPr>
          <p:cNvPr id="55" name="Text 53"/>
          <p:cNvSpPr/>
          <p:nvPr/>
        </p:nvSpPr>
        <p:spPr>
          <a:xfrm>
            <a:off x="6373368" y="2743200"/>
            <a:ext cx="2057400" cy="219456"/>
          </a:xfrm>
          <a:prstGeom prst="rect">
            <a:avLst/>
          </a:prstGeom>
          <a:noFill/>
          <a:ln/>
        </p:spPr>
        <p:txBody>
          <a:bodyPr wrap="square" rtlCol="0" anchor="ctr"/>
          <a:lstStyle/>
          <a:p>
            <a:pPr indent="0" marL="0">
              <a:buNone/>
            </a:pPr>
            <a:r>
              <a:rPr lang="en-US" sz="900" b="1" dirty="0">
                <a:solidFill>
                  <a:srgbClr val="008891"/>
                </a:solidFill>
                <a:latin typeface="Courier New" pitchFamily="34" charset="0"/>
                <a:ea typeface="Courier New" pitchFamily="34" charset="-122"/>
                <a:cs typeface="Courier New" pitchFamily="34" charset="-120"/>
              </a:rPr>
              <a:t>Hospital</a:t>
            </a:r>
            <a:endParaRPr lang="en-US" sz="900" dirty="0"/>
          </a:p>
        </p:txBody>
      </p:sp>
      <p:sp>
        <p:nvSpPr>
          <p:cNvPr id="56" name="Text 54"/>
          <p:cNvSpPr/>
          <p:nvPr/>
        </p:nvSpPr>
        <p:spPr>
          <a:xfrm>
            <a:off x="8522208" y="2743200"/>
            <a:ext cx="3154680" cy="219456"/>
          </a:xfrm>
          <a:prstGeom prst="rect">
            <a:avLst/>
          </a:prstGeom>
          <a:noFill/>
          <a:ln/>
        </p:spPr>
        <p:txBody>
          <a:bodyPr wrap="square" rtlCol="0" anchor="ctr"/>
          <a:lstStyle/>
          <a:p>
            <a:pPr indent="0" marL="0">
              <a:buNone/>
            </a:pPr>
            <a:r>
              <a:rPr lang="en-US" sz="900" dirty="0">
                <a:solidFill>
                  <a:srgbClr val="3D5A6C"/>
                </a:solidFill>
                <a:latin typeface="Calibri" pitchFamily="34" charset="0"/>
                <a:ea typeface="Calibri" pitchFamily="34" charset="-122"/>
                <a:cs typeface="Calibri" pitchFamily="34" charset="-120"/>
              </a:rPr>
              <a:t>Which hospital</a:t>
            </a:r>
            <a:endParaRPr lang="en-US" sz="900" dirty="0"/>
          </a:p>
        </p:txBody>
      </p:sp>
      <p:sp>
        <p:nvSpPr>
          <p:cNvPr id="57" name="Shape 55"/>
          <p:cNvSpPr/>
          <p:nvPr/>
        </p:nvSpPr>
        <p:spPr>
          <a:xfrm>
            <a:off x="6336792" y="3008376"/>
            <a:ext cx="2148840" cy="219456"/>
          </a:xfrm>
          <a:prstGeom prst="rect">
            <a:avLst/>
          </a:prstGeom>
          <a:solidFill>
            <a:srgbClr val="FFFFFF"/>
          </a:solidFill>
          <a:ln w="6350">
            <a:solidFill>
              <a:srgbClr val="D0DCE4"/>
            </a:solidFill>
            <a:prstDash val="solid"/>
          </a:ln>
        </p:spPr>
      </p:sp>
      <p:sp>
        <p:nvSpPr>
          <p:cNvPr id="58" name="Shape 56"/>
          <p:cNvSpPr/>
          <p:nvPr/>
        </p:nvSpPr>
        <p:spPr>
          <a:xfrm>
            <a:off x="8485632" y="3008376"/>
            <a:ext cx="3246120" cy="219456"/>
          </a:xfrm>
          <a:prstGeom prst="rect">
            <a:avLst/>
          </a:prstGeom>
          <a:solidFill>
            <a:srgbClr val="FFFFFF"/>
          </a:solidFill>
          <a:ln w="6350">
            <a:solidFill>
              <a:srgbClr val="D0DCE4"/>
            </a:solidFill>
            <a:prstDash val="solid"/>
          </a:ln>
        </p:spPr>
      </p:sp>
      <p:sp>
        <p:nvSpPr>
          <p:cNvPr id="59" name="Text 57"/>
          <p:cNvSpPr/>
          <p:nvPr/>
        </p:nvSpPr>
        <p:spPr>
          <a:xfrm>
            <a:off x="6373368" y="3008376"/>
            <a:ext cx="2057400" cy="219456"/>
          </a:xfrm>
          <a:prstGeom prst="rect">
            <a:avLst/>
          </a:prstGeom>
          <a:noFill/>
          <a:ln/>
        </p:spPr>
        <p:txBody>
          <a:bodyPr wrap="square" rtlCol="0" anchor="ctr"/>
          <a:lstStyle/>
          <a:p>
            <a:pPr indent="0" marL="0">
              <a:buNone/>
            </a:pPr>
            <a:r>
              <a:rPr lang="en-US" sz="900" b="1" dirty="0">
                <a:solidFill>
                  <a:srgbClr val="008891"/>
                </a:solidFill>
                <a:latin typeface="Courier New" pitchFamily="34" charset="0"/>
                <a:ea typeface="Courier New" pitchFamily="34" charset="-122"/>
                <a:cs typeface="Courier New" pitchFamily="34" charset="-120"/>
              </a:rPr>
              <a:t>Department</a:t>
            </a:r>
            <a:endParaRPr lang="en-US" sz="900" dirty="0"/>
          </a:p>
        </p:txBody>
      </p:sp>
      <p:sp>
        <p:nvSpPr>
          <p:cNvPr id="60" name="Text 58"/>
          <p:cNvSpPr/>
          <p:nvPr/>
        </p:nvSpPr>
        <p:spPr>
          <a:xfrm>
            <a:off x="8522208" y="3008376"/>
            <a:ext cx="3154680" cy="219456"/>
          </a:xfrm>
          <a:prstGeom prst="rect">
            <a:avLst/>
          </a:prstGeom>
          <a:noFill/>
          <a:ln/>
        </p:spPr>
        <p:txBody>
          <a:bodyPr wrap="square" rtlCol="0" anchor="ctr"/>
          <a:lstStyle/>
          <a:p>
            <a:pPr indent="0" marL="0">
              <a:buNone/>
            </a:pPr>
            <a:r>
              <a:rPr lang="en-US" sz="900" dirty="0">
                <a:solidFill>
                  <a:srgbClr val="3D5A6C"/>
                </a:solidFill>
                <a:latin typeface="Calibri" pitchFamily="34" charset="0"/>
                <a:ea typeface="Calibri" pitchFamily="34" charset="-122"/>
                <a:cs typeface="Calibri" pitchFamily="34" charset="-120"/>
              </a:rPr>
              <a:t>Medical department</a:t>
            </a:r>
            <a:endParaRPr lang="en-US" sz="900" dirty="0"/>
          </a:p>
        </p:txBody>
      </p:sp>
      <p:sp>
        <p:nvSpPr>
          <p:cNvPr id="61" name="Shape 59"/>
          <p:cNvSpPr/>
          <p:nvPr/>
        </p:nvSpPr>
        <p:spPr>
          <a:xfrm>
            <a:off x="6336792" y="3273552"/>
            <a:ext cx="2148840" cy="219456"/>
          </a:xfrm>
          <a:prstGeom prst="rect">
            <a:avLst/>
          </a:prstGeom>
          <a:solidFill>
            <a:srgbClr val="EDF8F9"/>
          </a:solidFill>
          <a:ln w="6350">
            <a:solidFill>
              <a:srgbClr val="D0DCE4"/>
            </a:solidFill>
            <a:prstDash val="solid"/>
          </a:ln>
        </p:spPr>
      </p:sp>
      <p:sp>
        <p:nvSpPr>
          <p:cNvPr id="62" name="Shape 60"/>
          <p:cNvSpPr/>
          <p:nvPr/>
        </p:nvSpPr>
        <p:spPr>
          <a:xfrm>
            <a:off x="8485632" y="3273552"/>
            <a:ext cx="3246120" cy="219456"/>
          </a:xfrm>
          <a:prstGeom prst="rect">
            <a:avLst/>
          </a:prstGeom>
          <a:solidFill>
            <a:srgbClr val="EDF8F9"/>
          </a:solidFill>
          <a:ln w="6350">
            <a:solidFill>
              <a:srgbClr val="D0DCE4"/>
            </a:solidFill>
            <a:prstDash val="solid"/>
          </a:ln>
        </p:spPr>
      </p:sp>
      <p:sp>
        <p:nvSpPr>
          <p:cNvPr id="63" name="Text 61"/>
          <p:cNvSpPr/>
          <p:nvPr/>
        </p:nvSpPr>
        <p:spPr>
          <a:xfrm>
            <a:off x="6373368" y="3273552"/>
            <a:ext cx="2057400" cy="219456"/>
          </a:xfrm>
          <a:prstGeom prst="rect">
            <a:avLst/>
          </a:prstGeom>
          <a:noFill/>
          <a:ln/>
        </p:spPr>
        <p:txBody>
          <a:bodyPr wrap="square" rtlCol="0" anchor="ctr"/>
          <a:lstStyle/>
          <a:p>
            <a:pPr indent="0" marL="0">
              <a:buNone/>
            </a:pPr>
            <a:r>
              <a:rPr lang="en-US" sz="900" b="1" dirty="0">
                <a:solidFill>
                  <a:srgbClr val="008891"/>
                </a:solidFill>
                <a:latin typeface="Courier New" pitchFamily="34" charset="0"/>
                <a:ea typeface="Courier New" pitchFamily="34" charset="-122"/>
                <a:cs typeface="Courier New" pitchFamily="34" charset="-120"/>
              </a:rPr>
              <a:t>Doctor</a:t>
            </a:r>
            <a:endParaRPr lang="en-US" sz="900" dirty="0"/>
          </a:p>
        </p:txBody>
      </p:sp>
      <p:sp>
        <p:nvSpPr>
          <p:cNvPr id="64" name="Text 62"/>
          <p:cNvSpPr/>
          <p:nvPr/>
        </p:nvSpPr>
        <p:spPr>
          <a:xfrm>
            <a:off x="8522208" y="3273552"/>
            <a:ext cx="3154680" cy="219456"/>
          </a:xfrm>
          <a:prstGeom prst="rect">
            <a:avLst/>
          </a:prstGeom>
          <a:noFill/>
          <a:ln/>
        </p:spPr>
        <p:txBody>
          <a:bodyPr wrap="square" rtlCol="0" anchor="ctr"/>
          <a:lstStyle/>
          <a:p>
            <a:pPr indent="0" marL="0">
              <a:buNone/>
            </a:pPr>
            <a:r>
              <a:rPr lang="en-US" sz="900" dirty="0">
                <a:solidFill>
                  <a:srgbClr val="3D5A6C"/>
                </a:solidFill>
                <a:latin typeface="Calibri" pitchFamily="34" charset="0"/>
                <a:ea typeface="Calibri" pitchFamily="34" charset="-122"/>
                <a:cs typeface="Calibri" pitchFamily="34" charset="-120"/>
              </a:rPr>
              <a:t>Treating doctor name</a:t>
            </a:r>
            <a:endParaRPr lang="en-US" sz="900" dirty="0"/>
          </a:p>
        </p:txBody>
      </p:sp>
      <p:sp>
        <p:nvSpPr>
          <p:cNvPr id="65" name="Shape 63"/>
          <p:cNvSpPr/>
          <p:nvPr/>
        </p:nvSpPr>
        <p:spPr>
          <a:xfrm>
            <a:off x="6336792" y="3538728"/>
            <a:ext cx="2148840" cy="219456"/>
          </a:xfrm>
          <a:prstGeom prst="rect">
            <a:avLst/>
          </a:prstGeom>
          <a:solidFill>
            <a:srgbClr val="FFFFFF"/>
          </a:solidFill>
          <a:ln w="6350">
            <a:solidFill>
              <a:srgbClr val="D0DCE4"/>
            </a:solidFill>
            <a:prstDash val="solid"/>
          </a:ln>
        </p:spPr>
      </p:sp>
      <p:sp>
        <p:nvSpPr>
          <p:cNvPr id="66" name="Shape 64"/>
          <p:cNvSpPr/>
          <p:nvPr/>
        </p:nvSpPr>
        <p:spPr>
          <a:xfrm>
            <a:off x="8485632" y="3538728"/>
            <a:ext cx="3246120" cy="219456"/>
          </a:xfrm>
          <a:prstGeom prst="rect">
            <a:avLst/>
          </a:prstGeom>
          <a:solidFill>
            <a:srgbClr val="FFFFFF"/>
          </a:solidFill>
          <a:ln w="6350">
            <a:solidFill>
              <a:srgbClr val="D0DCE4"/>
            </a:solidFill>
            <a:prstDash val="solid"/>
          </a:ln>
        </p:spPr>
      </p:sp>
      <p:sp>
        <p:nvSpPr>
          <p:cNvPr id="67" name="Text 65"/>
          <p:cNvSpPr/>
          <p:nvPr/>
        </p:nvSpPr>
        <p:spPr>
          <a:xfrm>
            <a:off x="6373368" y="3538728"/>
            <a:ext cx="2057400" cy="219456"/>
          </a:xfrm>
          <a:prstGeom prst="rect">
            <a:avLst/>
          </a:prstGeom>
          <a:noFill/>
          <a:ln/>
        </p:spPr>
        <p:txBody>
          <a:bodyPr wrap="square" rtlCol="0" anchor="ctr"/>
          <a:lstStyle/>
          <a:p>
            <a:pPr indent="0" marL="0">
              <a:buNone/>
            </a:pPr>
            <a:r>
              <a:rPr lang="en-US" sz="900" b="1" dirty="0">
                <a:solidFill>
                  <a:srgbClr val="008891"/>
                </a:solidFill>
                <a:latin typeface="Courier New" pitchFamily="34" charset="0"/>
                <a:ea typeface="Courier New" pitchFamily="34" charset="-122"/>
                <a:cs typeface="Courier New" pitchFamily="34" charset="-120"/>
              </a:rPr>
              <a:t>Admission_Type</a:t>
            </a:r>
            <a:endParaRPr lang="en-US" sz="900" dirty="0"/>
          </a:p>
        </p:txBody>
      </p:sp>
      <p:sp>
        <p:nvSpPr>
          <p:cNvPr id="68" name="Text 66"/>
          <p:cNvSpPr/>
          <p:nvPr/>
        </p:nvSpPr>
        <p:spPr>
          <a:xfrm>
            <a:off x="8522208" y="3538728"/>
            <a:ext cx="3154680" cy="219456"/>
          </a:xfrm>
          <a:prstGeom prst="rect">
            <a:avLst/>
          </a:prstGeom>
          <a:noFill/>
          <a:ln/>
        </p:spPr>
        <p:txBody>
          <a:bodyPr wrap="square" rtlCol="0" anchor="ctr"/>
          <a:lstStyle/>
          <a:p>
            <a:pPr indent="0" marL="0">
              <a:buNone/>
            </a:pPr>
            <a:r>
              <a:rPr lang="en-US" sz="900" dirty="0">
                <a:solidFill>
                  <a:srgbClr val="3D5A6C"/>
                </a:solidFill>
                <a:latin typeface="Calibri" pitchFamily="34" charset="0"/>
                <a:ea typeface="Calibri" pitchFamily="34" charset="-122"/>
                <a:cs typeface="Calibri" pitchFamily="34" charset="-120"/>
              </a:rPr>
              <a:t>Emergency / Elective / Referral</a:t>
            </a:r>
            <a:endParaRPr lang="en-US" sz="900" dirty="0"/>
          </a:p>
        </p:txBody>
      </p:sp>
      <p:sp>
        <p:nvSpPr>
          <p:cNvPr id="69" name="Shape 67"/>
          <p:cNvSpPr/>
          <p:nvPr/>
        </p:nvSpPr>
        <p:spPr>
          <a:xfrm>
            <a:off x="6336792" y="3803904"/>
            <a:ext cx="2148840" cy="219456"/>
          </a:xfrm>
          <a:prstGeom prst="rect">
            <a:avLst/>
          </a:prstGeom>
          <a:solidFill>
            <a:srgbClr val="EDF8F9"/>
          </a:solidFill>
          <a:ln w="6350">
            <a:solidFill>
              <a:srgbClr val="D0DCE4"/>
            </a:solidFill>
            <a:prstDash val="solid"/>
          </a:ln>
        </p:spPr>
      </p:sp>
      <p:sp>
        <p:nvSpPr>
          <p:cNvPr id="70" name="Shape 68"/>
          <p:cNvSpPr/>
          <p:nvPr/>
        </p:nvSpPr>
        <p:spPr>
          <a:xfrm>
            <a:off x="8485632" y="3803904"/>
            <a:ext cx="3246120" cy="219456"/>
          </a:xfrm>
          <a:prstGeom prst="rect">
            <a:avLst/>
          </a:prstGeom>
          <a:solidFill>
            <a:srgbClr val="EDF8F9"/>
          </a:solidFill>
          <a:ln w="6350">
            <a:solidFill>
              <a:srgbClr val="D0DCE4"/>
            </a:solidFill>
            <a:prstDash val="solid"/>
          </a:ln>
        </p:spPr>
      </p:sp>
      <p:sp>
        <p:nvSpPr>
          <p:cNvPr id="71" name="Text 69"/>
          <p:cNvSpPr/>
          <p:nvPr/>
        </p:nvSpPr>
        <p:spPr>
          <a:xfrm>
            <a:off x="6373368" y="3803904"/>
            <a:ext cx="2057400" cy="219456"/>
          </a:xfrm>
          <a:prstGeom prst="rect">
            <a:avLst/>
          </a:prstGeom>
          <a:noFill/>
          <a:ln/>
        </p:spPr>
        <p:txBody>
          <a:bodyPr wrap="square" rtlCol="0" anchor="ctr"/>
          <a:lstStyle/>
          <a:p>
            <a:pPr indent="0" marL="0">
              <a:buNone/>
            </a:pPr>
            <a:r>
              <a:rPr lang="en-US" sz="900" b="1" dirty="0">
                <a:solidFill>
                  <a:srgbClr val="008891"/>
                </a:solidFill>
                <a:latin typeface="Courier New" pitchFamily="34" charset="0"/>
                <a:ea typeface="Courier New" pitchFamily="34" charset="-122"/>
                <a:cs typeface="Courier New" pitchFamily="34" charset="-120"/>
              </a:rPr>
              <a:t>Ward</a:t>
            </a:r>
            <a:endParaRPr lang="en-US" sz="900" dirty="0"/>
          </a:p>
        </p:txBody>
      </p:sp>
      <p:sp>
        <p:nvSpPr>
          <p:cNvPr id="72" name="Text 70"/>
          <p:cNvSpPr/>
          <p:nvPr/>
        </p:nvSpPr>
        <p:spPr>
          <a:xfrm>
            <a:off x="8522208" y="3803904"/>
            <a:ext cx="3154680" cy="219456"/>
          </a:xfrm>
          <a:prstGeom prst="rect">
            <a:avLst/>
          </a:prstGeom>
          <a:noFill/>
          <a:ln/>
        </p:spPr>
        <p:txBody>
          <a:bodyPr wrap="square" rtlCol="0" anchor="ctr"/>
          <a:lstStyle/>
          <a:p>
            <a:pPr indent="0" marL="0">
              <a:buNone/>
            </a:pPr>
            <a:r>
              <a:rPr lang="en-US" sz="900" dirty="0">
                <a:solidFill>
                  <a:srgbClr val="3D5A6C"/>
                </a:solidFill>
                <a:latin typeface="Calibri" pitchFamily="34" charset="0"/>
                <a:ea typeface="Calibri" pitchFamily="34" charset="-122"/>
                <a:cs typeface="Calibri" pitchFamily="34" charset="-120"/>
              </a:rPr>
              <a:t>ICU / General / Private / Semi-Private</a:t>
            </a:r>
            <a:endParaRPr lang="en-US" sz="900" dirty="0"/>
          </a:p>
        </p:txBody>
      </p:sp>
      <p:sp>
        <p:nvSpPr>
          <p:cNvPr id="73" name="Shape 71"/>
          <p:cNvSpPr/>
          <p:nvPr/>
        </p:nvSpPr>
        <p:spPr>
          <a:xfrm>
            <a:off x="6336792" y="4069080"/>
            <a:ext cx="2148840" cy="219456"/>
          </a:xfrm>
          <a:prstGeom prst="rect">
            <a:avLst/>
          </a:prstGeom>
          <a:solidFill>
            <a:srgbClr val="FFFFFF"/>
          </a:solidFill>
          <a:ln w="6350">
            <a:solidFill>
              <a:srgbClr val="D0DCE4"/>
            </a:solidFill>
            <a:prstDash val="solid"/>
          </a:ln>
        </p:spPr>
      </p:sp>
      <p:sp>
        <p:nvSpPr>
          <p:cNvPr id="74" name="Shape 72"/>
          <p:cNvSpPr/>
          <p:nvPr/>
        </p:nvSpPr>
        <p:spPr>
          <a:xfrm>
            <a:off x="8485632" y="4069080"/>
            <a:ext cx="3246120" cy="219456"/>
          </a:xfrm>
          <a:prstGeom prst="rect">
            <a:avLst/>
          </a:prstGeom>
          <a:solidFill>
            <a:srgbClr val="FFFFFF"/>
          </a:solidFill>
          <a:ln w="6350">
            <a:solidFill>
              <a:srgbClr val="D0DCE4"/>
            </a:solidFill>
            <a:prstDash val="solid"/>
          </a:ln>
        </p:spPr>
      </p:sp>
      <p:sp>
        <p:nvSpPr>
          <p:cNvPr id="75" name="Text 73"/>
          <p:cNvSpPr/>
          <p:nvPr/>
        </p:nvSpPr>
        <p:spPr>
          <a:xfrm>
            <a:off x="6373368" y="4069080"/>
            <a:ext cx="2057400" cy="219456"/>
          </a:xfrm>
          <a:prstGeom prst="rect">
            <a:avLst/>
          </a:prstGeom>
          <a:noFill/>
          <a:ln/>
        </p:spPr>
        <p:txBody>
          <a:bodyPr wrap="square" rtlCol="0" anchor="ctr"/>
          <a:lstStyle/>
          <a:p>
            <a:pPr indent="0" marL="0">
              <a:buNone/>
            </a:pPr>
            <a:r>
              <a:rPr lang="en-US" sz="900" b="1" dirty="0">
                <a:solidFill>
                  <a:srgbClr val="008891"/>
                </a:solidFill>
                <a:latin typeface="Courier New" pitchFamily="34" charset="0"/>
                <a:ea typeface="Courier New" pitchFamily="34" charset="-122"/>
                <a:cs typeface="Courier New" pitchFamily="34" charset="-120"/>
              </a:rPr>
              <a:t>Admission_Date</a:t>
            </a:r>
            <a:endParaRPr lang="en-US" sz="900" dirty="0"/>
          </a:p>
        </p:txBody>
      </p:sp>
      <p:sp>
        <p:nvSpPr>
          <p:cNvPr id="76" name="Text 74"/>
          <p:cNvSpPr/>
          <p:nvPr/>
        </p:nvSpPr>
        <p:spPr>
          <a:xfrm>
            <a:off x="8522208" y="4069080"/>
            <a:ext cx="3154680" cy="219456"/>
          </a:xfrm>
          <a:prstGeom prst="rect">
            <a:avLst/>
          </a:prstGeom>
          <a:noFill/>
          <a:ln/>
        </p:spPr>
        <p:txBody>
          <a:bodyPr wrap="square" rtlCol="0" anchor="ctr"/>
          <a:lstStyle/>
          <a:p>
            <a:pPr indent="0" marL="0">
              <a:buNone/>
            </a:pPr>
            <a:r>
              <a:rPr lang="en-US" sz="900" dirty="0">
                <a:solidFill>
                  <a:srgbClr val="3D5A6C"/>
                </a:solidFill>
                <a:latin typeface="Calibri" pitchFamily="34" charset="0"/>
                <a:ea typeface="Calibri" pitchFamily="34" charset="-122"/>
                <a:cs typeface="Calibri" pitchFamily="34" charset="-120"/>
              </a:rPr>
              <a:t>Date admitted  YYYY-MM-DD</a:t>
            </a:r>
            <a:endParaRPr lang="en-US" sz="900" dirty="0"/>
          </a:p>
        </p:txBody>
      </p:sp>
      <p:sp>
        <p:nvSpPr>
          <p:cNvPr id="77" name="Shape 75"/>
          <p:cNvSpPr/>
          <p:nvPr/>
        </p:nvSpPr>
        <p:spPr>
          <a:xfrm>
            <a:off x="6336792" y="4334256"/>
            <a:ext cx="2148840" cy="219456"/>
          </a:xfrm>
          <a:prstGeom prst="rect">
            <a:avLst/>
          </a:prstGeom>
          <a:solidFill>
            <a:srgbClr val="EDF8F9"/>
          </a:solidFill>
          <a:ln w="6350">
            <a:solidFill>
              <a:srgbClr val="D0DCE4"/>
            </a:solidFill>
            <a:prstDash val="solid"/>
          </a:ln>
        </p:spPr>
      </p:sp>
      <p:sp>
        <p:nvSpPr>
          <p:cNvPr id="78" name="Shape 76"/>
          <p:cNvSpPr/>
          <p:nvPr/>
        </p:nvSpPr>
        <p:spPr>
          <a:xfrm>
            <a:off x="8485632" y="4334256"/>
            <a:ext cx="3246120" cy="219456"/>
          </a:xfrm>
          <a:prstGeom prst="rect">
            <a:avLst/>
          </a:prstGeom>
          <a:solidFill>
            <a:srgbClr val="EDF8F9"/>
          </a:solidFill>
          <a:ln w="6350">
            <a:solidFill>
              <a:srgbClr val="D0DCE4"/>
            </a:solidFill>
            <a:prstDash val="solid"/>
          </a:ln>
        </p:spPr>
      </p:sp>
      <p:sp>
        <p:nvSpPr>
          <p:cNvPr id="79" name="Text 77"/>
          <p:cNvSpPr/>
          <p:nvPr/>
        </p:nvSpPr>
        <p:spPr>
          <a:xfrm>
            <a:off x="6373368" y="4334256"/>
            <a:ext cx="2057400" cy="219456"/>
          </a:xfrm>
          <a:prstGeom prst="rect">
            <a:avLst/>
          </a:prstGeom>
          <a:noFill/>
          <a:ln/>
        </p:spPr>
        <p:txBody>
          <a:bodyPr wrap="square" rtlCol="0" anchor="ctr"/>
          <a:lstStyle/>
          <a:p>
            <a:pPr indent="0" marL="0">
              <a:buNone/>
            </a:pPr>
            <a:r>
              <a:rPr lang="en-US" sz="900" b="1" dirty="0">
                <a:solidFill>
                  <a:srgbClr val="008891"/>
                </a:solidFill>
                <a:latin typeface="Courier New" pitchFamily="34" charset="0"/>
                <a:ea typeface="Courier New" pitchFamily="34" charset="-122"/>
                <a:cs typeface="Courier New" pitchFamily="34" charset="-120"/>
              </a:rPr>
              <a:t>Discharge_Date</a:t>
            </a:r>
            <a:endParaRPr lang="en-US" sz="900" dirty="0"/>
          </a:p>
        </p:txBody>
      </p:sp>
      <p:sp>
        <p:nvSpPr>
          <p:cNvPr id="80" name="Text 78"/>
          <p:cNvSpPr/>
          <p:nvPr/>
        </p:nvSpPr>
        <p:spPr>
          <a:xfrm>
            <a:off x="8522208" y="4334256"/>
            <a:ext cx="3154680" cy="219456"/>
          </a:xfrm>
          <a:prstGeom prst="rect">
            <a:avLst/>
          </a:prstGeom>
          <a:noFill/>
          <a:ln/>
        </p:spPr>
        <p:txBody>
          <a:bodyPr wrap="square" rtlCol="0" anchor="ctr"/>
          <a:lstStyle/>
          <a:p>
            <a:pPr indent="0" marL="0">
              <a:buNone/>
            </a:pPr>
            <a:r>
              <a:rPr lang="en-US" sz="900" dirty="0">
                <a:solidFill>
                  <a:srgbClr val="3D5A6C"/>
                </a:solidFill>
                <a:latin typeface="Calibri" pitchFamily="34" charset="0"/>
                <a:ea typeface="Calibri" pitchFamily="34" charset="-122"/>
                <a:cs typeface="Calibri" pitchFamily="34" charset="-120"/>
              </a:rPr>
              <a:t>Date discharged  YYYY-MM-DD</a:t>
            </a:r>
            <a:endParaRPr lang="en-US" sz="900" dirty="0"/>
          </a:p>
        </p:txBody>
      </p:sp>
      <p:sp>
        <p:nvSpPr>
          <p:cNvPr id="81" name="Shape 79"/>
          <p:cNvSpPr/>
          <p:nvPr/>
        </p:nvSpPr>
        <p:spPr>
          <a:xfrm>
            <a:off x="6336792" y="4599432"/>
            <a:ext cx="2148840" cy="219456"/>
          </a:xfrm>
          <a:prstGeom prst="rect">
            <a:avLst/>
          </a:prstGeom>
          <a:solidFill>
            <a:srgbClr val="FFFFFF"/>
          </a:solidFill>
          <a:ln w="6350">
            <a:solidFill>
              <a:srgbClr val="D0DCE4"/>
            </a:solidFill>
            <a:prstDash val="solid"/>
          </a:ln>
        </p:spPr>
      </p:sp>
      <p:sp>
        <p:nvSpPr>
          <p:cNvPr id="82" name="Shape 80"/>
          <p:cNvSpPr/>
          <p:nvPr/>
        </p:nvSpPr>
        <p:spPr>
          <a:xfrm>
            <a:off x="8485632" y="4599432"/>
            <a:ext cx="3246120" cy="219456"/>
          </a:xfrm>
          <a:prstGeom prst="rect">
            <a:avLst/>
          </a:prstGeom>
          <a:solidFill>
            <a:srgbClr val="FFFFFF"/>
          </a:solidFill>
          <a:ln w="6350">
            <a:solidFill>
              <a:srgbClr val="D0DCE4"/>
            </a:solidFill>
            <a:prstDash val="solid"/>
          </a:ln>
        </p:spPr>
      </p:sp>
      <p:sp>
        <p:nvSpPr>
          <p:cNvPr id="83" name="Text 81"/>
          <p:cNvSpPr/>
          <p:nvPr/>
        </p:nvSpPr>
        <p:spPr>
          <a:xfrm>
            <a:off x="6373368" y="4599432"/>
            <a:ext cx="2057400" cy="219456"/>
          </a:xfrm>
          <a:prstGeom prst="rect">
            <a:avLst/>
          </a:prstGeom>
          <a:noFill/>
          <a:ln/>
        </p:spPr>
        <p:txBody>
          <a:bodyPr wrap="square" rtlCol="0" anchor="ctr"/>
          <a:lstStyle/>
          <a:p>
            <a:pPr indent="0" marL="0">
              <a:buNone/>
            </a:pPr>
            <a:r>
              <a:rPr lang="en-US" sz="900" b="1" dirty="0">
                <a:solidFill>
                  <a:srgbClr val="008891"/>
                </a:solidFill>
                <a:latin typeface="Courier New" pitchFamily="34" charset="0"/>
                <a:ea typeface="Courier New" pitchFamily="34" charset="-122"/>
                <a:cs typeface="Courier New" pitchFamily="34" charset="-120"/>
              </a:rPr>
              <a:t>Length_of_Stay</a:t>
            </a:r>
            <a:endParaRPr lang="en-US" sz="900" dirty="0"/>
          </a:p>
        </p:txBody>
      </p:sp>
      <p:sp>
        <p:nvSpPr>
          <p:cNvPr id="84" name="Text 82"/>
          <p:cNvSpPr/>
          <p:nvPr/>
        </p:nvSpPr>
        <p:spPr>
          <a:xfrm>
            <a:off x="8522208" y="4599432"/>
            <a:ext cx="3154680" cy="219456"/>
          </a:xfrm>
          <a:prstGeom prst="rect">
            <a:avLst/>
          </a:prstGeom>
          <a:noFill/>
          <a:ln/>
        </p:spPr>
        <p:txBody>
          <a:bodyPr wrap="square" rtlCol="0" anchor="ctr"/>
          <a:lstStyle/>
          <a:p>
            <a:pPr indent="0" marL="0">
              <a:buNone/>
            </a:pPr>
            <a:r>
              <a:rPr lang="en-US" sz="900" dirty="0">
                <a:solidFill>
                  <a:srgbClr val="3D5A6C"/>
                </a:solidFill>
                <a:latin typeface="Calibri" pitchFamily="34" charset="0"/>
                <a:ea typeface="Calibri" pitchFamily="34" charset="-122"/>
                <a:cs typeface="Calibri" pitchFamily="34" charset="-120"/>
              </a:rPr>
              <a:t>Number of days in hospital</a:t>
            </a:r>
            <a:endParaRPr lang="en-US" sz="900" dirty="0"/>
          </a:p>
        </p:txBody>
      </p:sp>
      <p:sp>
        <p:nvSpPr>
          <p:cNvPr id="85" name="Shape 83"/>
          <p:cNvSpPr/>
          <p:nvPr/>
        </p:nvSpPr>
        <p:spPr>
          <a:xfrm>
            <a:off x="6336792" y="4864608"/>
            <a:ext cx="2148840" cy="219456"/>
          </a:xfrm>
          <a:prstGeom prst="rect">
            <a:avLst/>
          </a:prstGeom>
          <a:solidFill>
            <a:srgbClr val="EDF8F9"/>
          </a:solidFill>
          <a:ln w="6350">
            <a:solidFill>
              <a:srgbClr val="D0DCE4"/>
            </a:solidFill>
            <a:prstDash val="solid"/>
          </a:ln>
        </p:spPr>
      </p:sp>
      <p:sp>
        <p:nvSpPr>
          <p:cNvPr id="86" name="Shape 84"/>
          <p:cNvSpPr/>
          <p:nvPr/>
        </p:nvSpPr>
        <p:spPr>
          <a:xfrm>
            <a:off x="8485632" y="4864608"/>
            <a:ext cx="3246120" cy="219456"/>
          </a:xfrm>
          <a:prstGeom prst="rect">
            <a:avLst/>
          </a:prstGeom>
          <a:solidFill>
            <a:srgbClr val="EDF8F9"/>
          </a:solidFill>
          <a:ln w="6350">
            <a:solidFill>
              <a:srgbClr val="D0DCE4"/>
            </a:solidFill>
            <a:prstDash val="solid"/>
          </a:ln>
        </p:spPr>
      </p:sp>
      <p:sp>
        <p:nvSpPr>
          <p:cNvPr id="87" name="Text 85"/>
          <p:cNvSpPr/>
          <p:nvPr/>
        </p:nvSpPr>
        <p:spPr>
          <a:xfrm>
            <a:off x="6373368" y="4864608"/>
            <a:ext cx="2057400" cy="219456"/>
          </a:xfrm>
          <a:prstGeom prst="rect">
            <a:avLst/>
          </a:prstGeom>
          <a:noFill/>
          <a:ln/>
        </p:spPr>
        <p:txBody>
          <a:bodyPr wrap="square" rtlCol="0" anchor="ctr"/>
          <a:lstStyle/>
          <a:p>
            <a:pPr indent="0" marL="0">
              <a:buNone/>
            </a:pPr>
            <a:r>
              <a:rPr lang="en-US" sz="900" b="1" dirty="0">
                <a:solidFill>
                  <a:srgbClr val="008891"/>
                </a:solidFill>
                <a:latin typeface="Courier New" pitchFamily="34" charset="0"/>
                <a:ea typeface="Courier New" pitchFamily="34" charset="-122"/>
                <a:cs typeface="Courier New" pitchFamily="34" charset="-120"/>
              </a:rPr>
              <a:t>Diagnosis</a:t>
            </a:r>
            <a:endParaRPr lang="en-US" sz="900" dirty="0"/>
          </a:p>
        </p:txBody>
      </p:sp>
      <p:sp>
        <p:nvSpPr>
          <p:cNvPr id="88" name="Text 86"/>
          <p:cNvSpPr/>
          <p:nvPr/>
        </p:nvSpPr>
        <p:spPr>
          <a:xfrm>
            <a:off x="8522208" y="4864608"/>
            <a:ext cx="3154680" cy="219456"/>
          </a:xfrm>
          <a:prstGeom prst="rect">
            <a:avLst/>
          </a:prstGeom>
          <a:noFill/>
          <a:ln/>
        </p:spPr>
        <p:txBody>
          <a:bodyPr wrap="square" rtlCol="0" anchor="ctr"/>
          <a:lstStyle/>
          <a:p>
            <a:pPr indent="0" marL="0">
              <a:buNone/>
            </a:pPr>
            <a:r>
              <a:rPr lang="en-US" sz="900" dirty="0">
                <a:solidFill>
                  <a:srgbClr val="3D5A6C"/>
                </a:solidFill>
                <a:latin typeface="Calibri" pitchFamily="34" charset="0"/>
                <a:ea typeface="Calibri" pitchFamily="34" charset="-122"/>
                <a:cs typeface="Calibri" pitchFamily="34" charset="-120"/>
              </a:rPr>
              <a:t>Medical diagnosis</a:t>
            </a:r>
            <a:endParaRPr lang="en-US" sz="900" dirty="0"/>
          </a:p>
        </p:txBody>
      </p:sp>
      <p:sp>
        <p:nvSpPr>
          <p:cNvPr id="89" name="Shape 87"/>
          <p:cNvSpPr/>
          <p:nvPr/>
        </p:nvSpPr>
        <p:spPr>
          <a:xfrm>
            <a:off x="6336792" y="5129784"/>
            <a:ext cx="2148840" cy="219456"/>
          </a:xfrm>
          <a:prstGeom prst="rect">
            <a:avLst/>
          </a:prstGeom>
          <a:solidFill>
            <a:srgbClr val="FFFFFF"/>
          </a:solidFill>
          <a:ln w="6350">
            <a:solidFill>
              <a:srgbClr val="D0DCE4"/>
            </a:solidFill>
            <a:prstDash val="solid"/>
          </a:ln>
        </p:spPr>
      </p:sp>
      <p:sp>
        <p:nvSpPr>
          <p:cNvPr id="90" name="Shape 88"/>
          <p:cNvSpPr/>
          <p:nvPr/>
        </p:nvSpPr>
        <p:spPr>
          <a:xfrm>
            <a:off x="8485632" y="5129784"/>
            <a:ext cx="3246120" cy="219456"/>
          </a:xfrm>
          <a:prstGeom prst="rect">
            <a:avLst/>
          </a:prstGeom>
          <a:solidFill>
            <a:srgbClr val="FFFFFF"/>
          </a:solidFill>
          <a:ln w="6350">
            <a:solidFill>
              <a:srgbClr val="D0DCE4"/>
            </a:solidFill>
            <a:prstDash val="solid"/>
          </a:ln>
        </p:spPr>
      </p:sp>
      <p:sp>
        <p:nvSpPr>
          <p:cNvPr id="91" name="Text 89"/>
          <p:cNvSpPr/>
          <p:nvPr/>
        </p:nvSpPr>
        <p:spPr>
          <a:xfrm>
            <a:off x="6373368" y="5129784"/>
            <a:ext cx="2057400" cy="219456"/>
          </a:xfrm>
          <a:prstGeom prst="rect">
            <a:avLst/>
          </a:prstGeom>
          <a:noFill/>
          <a:ln/>
        </p:spPr>
        <p:txBody>
          <a:bodyPr wrap="square" rtlCol="0" anchor="ctr"/>
          <a:lstStyle/>
          <a:p>
            <a:pPr indent="0" marL="0">
              <a:buNone/>
            </a:pPr>
            <a:r>
              <a:rPr lang="en-US" sz="900" b="1" dirty="0">
                <a:solidFill>
                  <a:srgbClr val="008891"/>
                </a:solidFill>
                <a:latin typeface="Courier New" pitchFamily="34" charset="0"/>
                <a:ea typeface="Courier New" pitchFamily="34" charset="-122"/>
                <a:cs typeface="Courier New" pitchFamily="34" charset="-120"/>
              </a:rPr>
              <a:t>Status</a:t>
            </a:r>
            <a:endParaRPr lang="en-US" sz="900" dirty="0"/>
          </a:p>
        </p:txBody>
      </p:sp>
      <p:sp>
        <p:nvSpPr>
          <p:cNvPr id="92" name="Text 90"/>
          <p:cNvSpPr/>
          <p:nvPr/>
        </p:nvSpPr>
        <p:spPr>
          <a:xfrm>
            <a:off x="8522208" y="5129784"/>
            <a:ext cx="3154680" cy="219456"/>
          </a:xfrm>
          <a:prstGeom prst="rect">
            <a:avLst/>
          </a:prstGeom>
          <a:noFill/>
          <a:ln/>
        </p:spPr>
        <p:txBody>
          <a:bodyPr wrap="square" rtlCol="0" anchor="ctr"/>
          <a:lstStyle/>
          <a:p>
            <a:pPr indent="0" marL="0">
              <a:buNone/>
            </a:pPr>
            <a:r>
              <a:rPr lang="en-US" sz="900" dirty="0">
                <a:solidFill>
                  <a:srgbClr val="3D5A6C"/>
                </a:solidFill>
                <a:latin typeface="Calibri" pitchFamily="34" charset="0"/>
                <a:ea typeface="Calibri" pitchFamily="34" charset="-122"/>
                <a:cs typeface="Calibri" pitchFamily="34" charset="-120"/>
              </a:rPr>
              <a:t>Recovered / Discharged / Under Treatment / Referred</a:t>
            </a:r>
            <a:endParaRPr lang="en-US" sz="900" dirty="0"/>
          </a:p>
        </p:txBody>
      </p:sp>
      <p:sp>
        <p:nvSpPr>
          <p:cNvPr id="93" name="Shape 91"/>
          <p:cNvSpPr/>
          <p:nvPr/>
        </p:nvSpPr>
        <p:spPr>
          <a:xfrm>
            <a:off x="6336792" y="5394960"/>
            <a:ext cx="2148840" cy="219456"/>
          </a:xfrm>
          <a:prstGeom prst="rect">
            <a:avLst/>
          </a:prstGeom>
          <a:solidFill>
            <a:srgbClr val="EDF8F9"/>
          </a:solidFill>
          <a:ln w="6350">
            <a:solidFill>
              <a:srgbClr val="D0DCE4"/>
            </a:solidFill>
            <a:prstDash val="solid"/>
          </a:ln>
        </p:spPr>
      </p:sp>
      <p:sp>
        <p:nvSpPr>
          <p:cNvPr id="94" name="Shape 92"/>
          <p:cNvSpPr/>
          <p:nvPr/>
        </p:nvSpPr>
        <p:spPr>
          <a:xfrm>
            <a:off x="8485632" y="5394960"/>
            <a:ext cx="3246120" cy="219456"/>
          </a:xfrm>
          <a:prstGeom prst="rect">
            <a:avLst/>
          </a:prstGeom>
          <a:solidFill>
            <a:srgbClr val="EDF8F9"/>
          </a:solidFill>
          <a:ln w="6350">
            <a:solidFill>
              <a:srgbClr val="D0DCE4"/>
            </a:solidFill>
            <a:prstDash val="solid"/>
          </a:ln>
        </p:spPr>
      </p:sp>
      <p:sp>
        <p:nvSpPr>
          <p:cNvPr id="95" name="Text 93"/>
          <p:cNvSpPr/>
          <p:nvPr/>
        </p:nvSpPr>
        <p:spPr>
          <a:xfrm>
            <a:off x="6373368" y="5394960"/>
            <a:ext cx="2057400" cy="219456"/>
          </a:xfrm>
          <a:prstGeom prst="rect">
            <a:avLst/>
          </a:prstGeom>
          <a:noFill/>
          <a:ln/>
        </p:spPr>
        <p:txBody>
          <a:bodyPr wrap="square" rtlCol="0" anchor="ctr"/>
          <a:lstStyle/>
          <a:p>
            <a:pPr indent="0" marL="0">
              <a:buNone/>
            </a:pPr>
            <a:r>
              <a:rPr lang="en-US" sz="900" b="1" dirty="0">
                <a:solidFill>
                  <a:srgbClr val="008891"/>
                </a:solidFill>
                <a:latin typeface="Courier New" pitchFamily="34" charset="0"/>
                <a:ea typeface="Courier New" pitchFamily="34" charset="-122"/>
                <a:cs typeface="Courier New" pitchFamily="34" charset="-120"/>
              </a:rPr>
              <a:t>Total_Bill_PKR</a:t>
            </a:r>
            <a:endParaRPr lang="en-US" sz="900" dirty="0"/>
          </a:p>
        </p:txBody>
      </p:sp>
      <p:sp>
        <p:nvSpPr>
          <p:cNvPr id="96" name="Text 94"/>
          <p:cNvSpPr/>
          <p:nvPr/>
        </p:nvSpPr>
        <p:spPr>
          <a:xfrm>
            <a:off x="8522208" y="5394960"/>
            <a:ext cx="3154680" cy="219456"/>
          </a:xfrm>
          <a:prstGeom prst="rect">
            <a:avLst/>
          </a:prstGeom>
          <a:noFill/>
          <a:ln/>
        </p:spPr>
        <p:txBody>
          <a:bodyPr wrap="square" rtlCol="0" anchor="ctr"/>
          <a:lstStyle/>
          <a:p>
            <a:pPr indent="0" marL="0">
              <a:buNone/>
            </a:pPr>
            <a:r>
              <a:rPr lang="en-US" sz="900" dirty="0">
                <a:solidFill>
                  <a:srgbClr val="3D5A6C"/>
                </a:solidFill>
                <a:latin typeface="Calibri" pitchFamily="34" charset="0"/>
                <a:ea typeface="Calibri" pitchFamily="34" charset="-122"/>
                <a:cs typeface="Calibri" pitchFamily="34" charset="-120"/>
              </a:rPr>
              <a:t>Total bill in PKR</a:t>
            </a:r>
            <a:endParaRPr lang="en-US" sz="900" dirty="0"/>
          </a:p>
        </p:txBody>
      </p:sp>
      <p:sp>
        <p:nvSpPr>
          <p:cNvPr id="97" name="Shape 95"/>
          <p:cNvSpPr/>
          <p:nvPr/>
        </p:nvSpPr>
        <p:spPr>
          <a:xfrm>
            <a:off x="6336792" y="5660136"/>
            <a:ext cx="2148840" cy="219456"/>
          </a:xfrm>
          <a:prstGeom prst="rect">
            <a:avLst/>
          </a:prstGeom>
          <a:solidFill>
            <a:srgbClr val="FFFFFF"/>
          </a:solidFill>
          <a:ln w="6350">
            <a:solidFill>
              <a:srgbClr val="D0DCE4"/>
            </a:solidFill>
            <a:prstDash val="solid"/>
          </a:ln>
        </p:spPr>
      </p:sp>
      <p:sp>
        <p:nvSpPr>
          <p:cNvPr id="98" name="Shape 96"/>
          <p:cNvSpPr/>
          <p:nvPr/>
        </p:nvSpPr>
        <p:spPr>
          <a:xfrm>
            <a:off x="8485632" y="5660136"/>
            <a:ext cx="3246120" cy="219456"/>
          </a:xfrm>
          <a:prstGeom prst="rect">
            <a:avLst/>
          </a:prstGeom>
          <a:solidFill>
            <a:srgbClr val="FFFFFF"/>
          </a:solidFill>
          <a:ln w="6350">
            <a:solidFill>
              <a:srgbClr val="D0DCE4"/>
            </a:solidFill>
            <a:prstDash val="solid"/>
          </a:ln>
        </p:spPr>
      </p:sp>
      <p:sp>
        <p:nvSpPr>
          <p:cNvPr id="99" name="Text 97"/>
          <p:cNvSpPr/>
          <p:nvPr/>
        </p:nvSpPr>
        <p:spPr>
          <a:xfrm>
            <a:off x="6373368" y="5660136"/>
            <a:ext cx="2057400" cy="219456"/>
          </a:xfrm>
          <a:prstGeom prst="rect">
            <a:avLst/>
          </a:prstGeom>
          <a:noFill/>
          <a:ln/>
        </p:spPr>
        <p:txBody>
          <a:bodyPr wrap="square" rtlCol="0" anchor="ctr"/>
          <a:lstStyle/>
          <a:p>
            <a:pPr indent="0" marL="0">
              <a:buNone/>
            </a:pPr>
            <a:r>
              <a:rPr lang="en-US" sz="900" b="1" dirty="0">
                <a:solidFill>
                  <a:srgbClr val="008891"/>
                </a:solidFill>
                <a:latin typeface="Courier New" pitchFamily="34" charset="0"/>
                <a:ea typeface="Courier New" pitchFamily="34" charset="-122"/>
                <a:cs typeface="Courier New" pitchFamily="34" charset="-120"/>
              </a:rPr>
              <a:t>Insurance_Covered_PKR</a:t>
            </a:r>
            <a:endParaRPr lang="en-US" sz="900" dirty="0"/>
          </a:p>
        </p:txBody>
      </p:sp>
      <p:sp>
        <p:nvSpPr>
          <p:cNvPr id="100" name="Text 98"/>
          <p:cNvSpPr/>
          <p:nvPr/>
        </p:nvSpPr>
        <p:spPr>
          <a:xfrm>
            <a:off x="8522208" y="5660136"/>
            <a:ext cx="3154680" cy="219456"/>
          </a:xfrm>
          <a:prstGeom prst="rect">
            <a:avLst/>
          </a:prstGeom>
          <a:noFill/>
          <a:ln/>
        </p:spPr>
        <p:txBody>
          <a:bodyPr wrap="square" rtlCol="0" anchor="ctr"/>
          <a:lstStyle/>
          <a:p>
            <a:pPr indent="0" marL="0">
              <a:buNone/>
            </a:pPr>
            <a:r>
              <a:rPr lang="en-US" sz="900" dirty="0">
                <a:solidFill>
                  <a:srgbClr val="3D5A6C"/>
                </a:solidFill>
                <a:latin typeface="Calibri" pitchFamily="34" charset="0"/>
                <a:ea typeface="Calibri" pitchFamily="34" charset="-122"/>
                <a:cs typeface="Calibri" pitchFamily="34" charset="-120"/>
              </a:rPr>
              <a:t>Amount paid by insurance</a:t>
            </a:r>
            <a:endParaRPr lang="en-US" sz="900" dirty="0"/>
          </a:p>
        </p:txBody>
      </p:sp>
      <p:sp>
        <p:nvSpPr>
          <p:cNvPr id="101" name="Shape 99"/>
          <p:cNvSpPr/>
          <p:nvPr/>
        </p:nvSpPr>
        <p:spPr>
          <a:xfrm>
            <a:off x="6336792" y="5925312"/>
            <a:ext cx="2148840" cy="219456"/>
          </a:xfrm>
          <a:prstGeom prst="rect">
            <a:avLst/>
          </a:prstGeom>
          <a:solidFill>
            <a:srgbClr val="EDF8F9"/>
          </a:solidFill>
          <a:ln w="6350">
            <a:solidFill>
              <a:srgbClr val="D0DCE4"/>
            </a:solidFill>
            <a:prstDash val="solid"/>
          </a:ln>
        </p:spPr>
      </p:sp>
      <p:sp>
        <p:nvSpPr>
          <p:cNvPr id="102" name="Shape 100"/>
          <p:cNvSpPr/>
          <p:nvPr/>
        </p:nvSpPr>
        <p:spPr>
          <a:xfrm>
            <a:off x="8485632" y="5925312"/>
            <a:ext cx="3246120" cy="219456"/>
          </a:xfrm>
          <a:prstGeom prst="rect">
            <a:avLst/>
          </a:prstGeom>
          <a:solidFill>
            <a:srgbClr val="EDF8F9"/>
          </a:solidFill>
          <a:ln w="6350">
            <a:solidFill>
              <a:srgbClr val="D0DCE4"/>
            </a:solidFill>
            <a:prstDash val="solid"/>
          </a:ln>
        </p:spPr>
      </p:sp>
      <p:sp>
        <p:nvSpPr>
          <p:cNvPr id="103" name="Text 101"/>
          <p:cNvSpPr/>
          <p:nvPr/>
        </p:nvSpPr>
        <p:spPr>
          <a:xfrm>
            <a:off x="6373368" y="5925312"/>
            <a:ext cx="2057400" cy="219456"/>
          </a:xfrm>
          <a:prstGeom prst="rect">
            <a:avLst/>
          </a:prstGeom>
          <a:noFill/>
          <a:ln/>
        </p:spPr>
        <p:txBody>
          <a:bodyPr wrap="square" rtlCol="0" anchor="ctr"/>
          <a:lstStyle/>
          <a:p>
            <a:pPr indent="0" marL="0">
              <a:buNone/>
            </a:pPr>
            <a:r>
              <a:rPr lang="en-US" sz="900" b="1" dirty="0">
                <a:solidFill>
                  <a:srgbClr val="008891"/>
                </a:solidFill>
                <a:latin typeface="Courier New" pitchFamily="34" charset="0"/>
                <a:ea typeface="Courier New" pitchFamily="34" charset="-122"/>
                <a:cs typeface="Courier New" pitchFamily="34" charset="-120"/>
              </a:rPr>
              <a:t>Out_of_Pocket_PKR</a:t>
            </a:r>
            <a:endParaRPr lang="en-US" sz="900" dirty="0"/>
          </a:p>
        </p:txBody>
      </p:sp>
      <p:sp>
        <p:nvSpPr>
          <p:cNvPr id="104" name="Text 102"/>
          <p:cNvSpPr/>
          <p:nvPr/>
        </p:nvSpPr>
        <p:spPr>
          <a:xfrm>
            <a:off x="8522208" y="5925312"/>
            <a:ext cx="3154680" cy="219456"/>
          </a:xfrm>
          <a:prstGeom prst="rect">
            <a:avLst/>
          </a:prstGeom>
          <a:noFill/>
          <a:ln/>
        </p:spPr>
        <p:txBody>
          <a:bodyPr wrap="square" rtlCol="0" anchor="ctr"/>
          <a:lstStyle/>
          <a:p>
            <a:pPr indent="0" marL="0">
              <a:buNone/>
            </a:pPr>
            <a:r>
              <a:rPr lang="en-US" sz="900" dirty="0">
                <a:solidFill>
                  <a:srgbClr val="3D5A6C"/>
                </a:solidFill>
                <a:latin typeface="Calibri" pitchFamily="34" charset="0"/>
                <a:ea typeface="Calibri" pitchFamily="34" charset="-122"/>
                <a:cs typeface="Calibri" pitchFamily="34" charset="-120"/>
              </a:rPr>
              <a:t>Amount paid by patient</a:t>
            </a:r>
            <a:endParaRPr lang="en-US" sz="900" dirty="0"/>
          </a:p>
        </p:txBody>
      </p:sp>
      <p:sp>
        <p:nvSpPr>
          <p:cNvPr id="105" name="Shape 103"/>
          <p:cNvSpPr/>
          <p:nvPr/>
        </p:nvSpPr>
        <p:spPr>
          <a:xfrm>
            <a:off x="6336792" y="6190488"/>
            <a:ext cx="2148840" cy="219456"/>
          </a:xfrm>
          <a:prstGeom prst="rect">
            <a:avLst/>
          </a:prstGeom>
          <a:solidFill>
            <a:srgbClr val="FFFFFF"/>
          </a:solidFill>
          <a:ln w="6350">
            <a:solidFill>
              <a:srgbClr val="D0DCE4"/>
            </a:solidFill>
            <a:prstDash val="solid"/>
          </a:ln>
        </p:spPr>
      </p:sp>
      <p:sp>
        <p:nvSpPr>
          <p:cNvPr id="106" name="Shape 104"/>
          <p:cNvSpPr/>
          <p:nvPr/>
        </p:nvSpPr>
        <p:spPr>
          <a:xfrm>
            <a:off x="8485632" y="6190488"/>
            <a:ext cx="3246120" cy="219456"/>
          </a:xfrm>
          <a:prstGeom prst="rect">
            <a:avLst/>
          </a:prstGeom>
          <a:solidFill>
            <a:srgbClr val="FFFFFF"/>
          </a:solidFill>
          <a:ln w="6350">
            <a:solidFill>
              <a:srgbClr val="D0DCE4"/>
            </a:solidFill>
            <a:prstDash val="solid"/>
          </a:ln>
        </p:spPr>
      </p:sp>
      <p:sp>
        <p:nvSpPr>
          <p:cNvPr id="107" name="Text 105"/>
          <p:cNvSpPr/>
          <p:nvPr/>
        </p:nvSpPr>
        <p:spPr>
          <a:xfrm>
            <a:off x="6373368" y="6190488"/>
            <a:ext cx="2057400" cy="219456"/>
          </a:xfrm>
          <a:prstGeom prst="rect">
            <a:avLst/>
          </a:prstGeom>
          <a:noFill/>
          <a:ln/>
        </p:spPr>
        <p:txBody>
          <a:bodyPr wrap="square" rtlCol="0" anchor="ctr"/>
          <a:lstStyle/>
          <a:p>
            <a:pPr indent="0" marL="0">
              <a:buNone/>
            </a:pPr>
            <a:r>
              <a:rPr lang="en-US" sz="900" b="1" dirty="0">
                <a:solidFill>
                  <a:srgbClr val="008891"/>
                </a:solidFill>
                <a:latin typeface="Courier New" pitchFamily="34" charset="0"/>
                <a:ea typeface="Courier New" pitchFamily="34" charset="-122"/>
                <a:cs typeface="Courier New" pitchFamily="34" charset="-120"/>
              </a:rPr>
              <a:t>Satisfaction_Score</a:t>
            </a:r>
            <a:endParaRPr lang="en-US" sz="900" dirty="0"/>
          </a:p>
        </p:txBody>
      </p:sp>
      <p:sp>
        <p:nvSpPr>
          <p:cNvPr id="108" name="Text 106"/>
          <p:cNvSpPr/>
          <p:nvPr/>
        </p:nvSpPr>
        <p:spPr>
          <a:xfrm>
            <a:off x="8522208" y="6190488"/>
            <a:ext cx="3154680" cy="219456"/>
          </a:xfrm>
          <a:prstGeom prst="rect">
            <a:avLst/>
          </a:prstGeom>
          <a:noFill/>
          <a:ln/>
        </p:spPr>
        <p:txBody>
          <a:bodyPr wrap="square" rtlCol="0" anchor="ctr"/>
          <a:lstStyle/>
          <a:p>
            <a:pPr indent="0" marL="0">
              <a:buNone/>
            </a:pPr>
            <a:r>
              <a:rPr lang="en-US" sz="900" dirty="0">
                <a:solidFill>
                  <a:srgbClr val="3D5A6C"/>
                </a:solidFill>
                <a:latin typeface="Calibri" pitchFamily="34" charset="0"/>
                <a:ea typeface="Calibri" pitchFamily="34" charset="-122"/>
                <a:cs typeface="Calibri" pitchFamily="34" charset="-120"/>
              </a:rPr>
              <a:t>Patient rating 2.5 – 5.0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06D77"/>
          </a:solidFill>
          <a:ln/>
        </p:spPr>
      </p:sp>
      <p:sp>
        <p:nvSpPr>
          <p:cNvPr id="3" name="Shape 1"/>
          <p:cNvSpPr/>
          <p:nvPr/>
        </p:nvSpPr>
        <p:spPr>
          <a:xfrm>
            <a:off x="0" y="6309360"/>
            <a:ext cx="12161520" cy="548640"/>
          </a:xfrm>
          <a:prstGeom prst="rect">
            <a:avLst/>
          </a:prstGeom>
          <a:solidFill>
            <a:srgbClr val="E29F18"/>
          </a:solidFill>
          <a:ln/>
        </p:spPr>
      </p:sp>
      <p:sp>
        <p:nvSpPr>
          <p:cNvPr id="4" name="Text 2"/>
          <p:cNvSpPr/>
          <p:nvPr/>
        </p:nvSpPr>
        <p:spPr>
          <a:xfrm>
            <a:off x="640080" y="1097280"/>
            <a:ext cx="10058400" cy="457200"/>
          </a:xfrm>
          <a:prstGeom prst="rect">
            <a:avLst/>
          </a:prstGeom>
          <a:noFill/>
          <a:ln/>
        </p:spPr>
        <p:txBody>
          <a:bodyPr wrap="square" rtlCol="0" anchor="ctr"/>
          <a:lstStyle/>
          <a:p>
            <a:pPr indent="0" marL="0">
              <a:buNone/>
            </a:pPr>
            <a:r>
              <a:rPr lang="en-US" sz="1300" b="1" spc="500" kern="0" dirty="0">
                <a:solidFill>
                  <a:srgbClr val="83C5BE"/>
                </a:solidFill>
                <a:latin typeface="Calibri" pitchFamily="34" charset="0"/>
                <a:ea typeface="Calibri" pitchFamily="34" charset="-122"/>
                <a:cs typeface="Calibri" pitchFamily="34" charset="-120"/>
              </a:rPr>
              <a:t>SECTION 01</a:t>
            </a:r>
            <a:endParaRPr lang="en-US" sz="1300" dirty="0"/>
          </a:p>
        </p:txBody>
      </p:sp>
      <p:sp>
        <p:nvSpPr>
          <p:cNvPr id="5" name="Text 3"/>
          <p:cNvSpPr/>
          <p:nvPr/>
        </p:nvSpPr>
        <p:spPr>
          <a:xfrm>
            <a:off x="640080" y="1572768"/>
            <a:ext cx="10058400" cy="1371600"/>
          </a:xfrm>
          <a:prstGeom prst="rect">
            <a:avLst/>
          </a:prstGeom>
          <a:noFill/>
          <a:ln/>
        </p:spPr>
        <p:txBody>
          <a:bodyPr wrap="square" rtlCol="0" anchor="ctr"/>
          <a:lstStyle/>
          <a:p>
            <a:pPr indent="0" marL="0">
              <a:lnSpc>
                <a:spcPct val="110000"/>
              </a:lnSpc>
              <a:buNone/>
            </a:pPr>
            <a:r>
              <a:rPr lang="en-US" sz="4400" b="1" dirty="0">
                <a:solidFill>
                  <a:srgbClr val="FFFFFF"/>
                </a:solidFill>
                <a:latin typeface="Calibri" pitchFamily="34" charset="0"/>
                <a:ea typeface="Calibri" pitchFamily="34" charset="-122"/>
                <a:cs typeface="Calibri" pitchFamily="34" charset="-120"/>
              </a:rPr>
              <a:t>Power Query</a:t>
            </a:r>
            <a:endParaRPr lang="en-US" sz="4400" dirty="0"/>
          </a:p>
          <a:p>
            <a:pPr indent="0" marL="0">
              <a:lnSpc>
                <a:spcPct val="110000"/>
              </a:lnSpc>
              <a:buNone/>
            </a:pPr>
            <a:r>
              <a:rPr lang="en-US" sz="4400" b="1" dirty="0">
                <a:solidFill>
                  <a:srgbClr val="FFFFFF"/>
                </a:solidFill>
                <a:latin typeface="Calibri" pitchFamily="34" charset="0"/>
                <a:ea typeface="Calibri" pitchFamily="34" charset="-122"/>
                <a:cs typeface="Calibri" pitchFamily="34" charset="-120"/>
              </a:rPr>
              <a:t>Data Cleaning</a:t>
            </a:r>
            <a:endParaRPr lang="en-US" sz="4400" dirty="0"/>
          </a:p>
        </p:txBody>
      </p:sp>
      <p:sp>
        <p:nvSpPr>
          <p:cNvPr id="6" name="Text 4"/>
          <p:cNvSpPr/>
          <p:nvPr/>
        </p:nvSpPr>
        <p:spPr>
          <a:xfrm>
            <a:off x="640080" y="3063240"/>
            <a:ext cx="9144000" cy="594360"/>
          </a:xfrm>
          <a:prstGeom prst="rect">
            <a:avLst/>
          </a:prstGeom>
          <a:noFill/>
          <a:ln/>
        </p:spPr>
        <p:txBody>
          <a:bodyPr wrap="square" rtlCol="0" anchor="ctr"/>
          <a:lstStyle/>
          <a:p>
            <a:pPr indent="0" marL="0">
              <a:buNone/>
            </a:pPr>
            <a:r>
              <a:rPr lang="en-US" sz="1800" i="1" dirty="0">
                <a:solidFill>
                  <a:srgbClr val="C8E6E8"/>
                </a:solidFill>
                <a:latin typeface="Calibri" pitchFamily="34" charset="0"/>
                <a:ea typeface="Calibri" pitchFamily="34" charset="-122"/>
                <a:cs typeface="Calibri" pitchFamily="34" charset="-120"/>
              </a:rPr>
              <a:t>Load both files and clean them — this is your foundation. Bad data in = bad report out.</a:t>
            </a:r>
            <a:endParaRPr lang="en-US" sz="1800" dirty="0"/>
          </a:p>
        </p:txBody>
      </p:sp>
      <p:sp>
        <p:nvSpPr>
          <p:cNvPr id="7" name="Shape 5"/>
          <p:cNvSpPr/>
          <p:nvPr/>
        </p:nvSpPr>
        <p:spPr>
          <a:xfrm>
            <a:off x="640080" y="3840480"/>
            <a:ext cx="2697480" cy="1645920"/>
          </a:xfrm>
          <a:prstGeom prst="roundRect">
            <a:avLst>
              <a:gd name="adj" fmla="val 5556"/>
            </a:avLst>
          </a:prstGeom>
          <a:solidFill>
            <a:srgbClr val="1A2B4A"/>
          </a:solidFill>
          <a:ln w="10160">
            <a:solidFill>
              <a:srgbClr val="2A3B5A"/>
            </a:solidFill>
            <a:prstDash val="solid"/>
          </a:ln>
        </p:spPr>
      </p:sp>
      <p:sp>
        <p:nvSpPr>
          <p:cNvPr id="8" name="Text 6"/>
          <p:cNvSpPr/>
          <p:nvPr/>
        </p:nvSpPr>
        <p:spPr>
          <a:xfrm>
            <a:off x="640080" y="3977640"/>
            <a:ext cx="2697480" cy="59436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9" name="Text 7"/>
          <p:cNvSpPr/>
          <p:nvPr/>
        </p:nvSpPr>
        <p:spPr>
          <a:xfrm>
            <a:off x="640080" y="4590288"/>
            <a:ext cx="269748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Load 2 CSV Files</a:t>
            </a:r>
            <a:endParaRPr lang="en-US" sz="1200" dirty="0"/>
          </a:p>
        </p:txBody>
      </p:sp>
      <p:sp>
        <p:nvSpPr>
          <p:cNvPr id="10" name="Shape 8"/>
          <p:cNvSpPr/>
          <p:nvPr/>
        </p:nvSpPr>
        <p:spPr>
          <a:xfrm>
            <a:off x="3566160" y="3840480"/>
            <a:ext cx="2697480" cy="1645920"/>
          </a:xfrm>
          <a:prstGeom prst="roundRect">
            <a:avLst>
              <a:gd name="adj" fmla="val 5556"/>
            </a:avLst>
          </a:prstGeom>
          <a:solidFill>
            <a:srgbClr val="1A2B4A"/>
          </a:solidFill>
          <a:ln w="10160">
            <a:solidFill>
              <a:srgbClr val="2A3B5A"/>
            </a:solidFill>
            <a:prstDash val="solid"/>
          </a:ln>
        </p:spPr>
      </p:sp>
      <p:sp>
        <p:nvSpPr>
          <p:cNvPr id="11" name="Text 9"/>
          <p:cNvSpPr/>
          <p:nvPr/>
        </p:nvSpPr>
        <p:spPr>
          <a:xfrm>
            <a:off x="3566160" y="3977640"/>
            <a:ext cx="2697480" cy="59436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12" name="Text 10"/>
          <p:cNvSpPr/>
          <p:nvPr/>
        </p:nvSpPr>
        <p:spPr>
          <a:xfrm>
            <a:off x="3566160" y="4590288"/>
            <a:ext cx="269748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Fix Data Types</a:t>
            </a:r>
            <a:endParaRPr lang="en-US" sz="1200" dirty="0"/>
          </a:p>
        </p:txBody>
      </p:sp>
      <p:sp>
        <p:nvSpPr>
          <p:cNvPr id="13" name="Shape 11"/>
          <p:cNvSpPr/>
          <p:nvPr/>
        </p:nvSpPr>
        <p:spPr>
          <a:xfrm>
            <a:off x="6492240" y="3840480"/>
            <a:ext cx="2697480" cy="1645920"/>
          </a:xfrm>
          <a:prstGeom prst="roundRect">
            <a:avLst>
              <a:gd name="adj" fmla="val 5556"/>
            </a:avLst>
          </a:prstGeom>
          <a:solidFill>
            <a:srgbClr val="1A2B4A"/>
          </a:solidFill>
          <a:ln w="10160">
            <a:solidFill>
              <a:srgbClr val="2A3B5A"/>
            </a:solidFill>
            <a:prstDash val="solid"/>
          </a:ln>
        </p:spPr>
      </p:sp>
      <p:sp>
        <p:nvSpPr>
          <p:cNvPr id="14" name="Text 12"/>
          <p:cNvSpPr/>
          <p:nvPr/>
        </p:nvSpPr>
        <p:spPr>
          <a:xfrm>
            <a:off x="6492240" y="3977640"/>
            <a:ext cx="2697480" cy="59436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15" name="Text 13"/>
          <p:cNvSpPr/>
          <p:nvPr/>
        </p:nvSpPr>
        <p:spPr>
          <a:xfrm>
            <a:off x="6492240" y="4590288"/>
            <a:ext cx="269748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Add Columns</a:t>
            </a:r>
            <a:endParaRPr lang="en-US" sz="1200" dirty="0"/>
          </a:p>
        </p:txBody>
      </p:sp>
      <p:sp>
        <p:nvSpPr>
          <p:cNvPr id="16" name="Shape 14"/>
          <p:cNvSpPr/>
          <p:nvPr/>
        </p:nvSpPr>
        <p:spPr>
          <a:xfrm>
            <a:off x="9418320" y="3840480"/>
            <a:ext cx="2697480" cy="1645920"/>
          </a:xfrm>
          <a:prstGeom prst="roundRect">
            <a:avLst>
              <a:gd name="adj" fmla="val 5556"/>
            </a:avLst>
          </a:prstGeom>
          <a:solidFill>
            <a:srgbClr val="1A2B4A"/>
          </a:solidFill>
          <a:ln w="10160">
            <a:solidFill>
              <a:srgbClr val="2A3B5A"/>
            </a:solidFill>
            <a:prstDash val="solid"/>
          </a:ln>
        </p:spPr>
      </p:sp>
      <p:sp>
        <p:nvSpPr>
          <p:cNvPr id="17" name="Text 15"/>
          <p:cNvSpPr/>
          <p:nvPr/>
        </p:nvSpPr>
        <p:spPr>
          <a:xfrm>
            <a:off x="9418320" y="3977640"/>
            <a:ext cx="2697480" cy="59436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18" name="Text 16"/>
          <p:cNvSpPr/>
          <p:nvPr/>
        </p:nvSpPr>
        <p:spPr>
          <a:xfrm>
            <a:off x="9418320" y="4590288"/>
            <a:ext cx="269748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Validate &amp; Load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AFA"/>
          </a:solidFill>
          <a:ln/>
        </p:spPr>
      </p:sp>
      <p:sp>
        <p:nvSpPr>
          <p:cNvPr id="3" name="Shape 1"/>
          <p:cNvSpPr/>
          <p:nvPr/>
        </p:nvSpPr>
        <p:spPr>
          <a:xfrm>
            <a:off x="0" y="0"/>
            <a:ext cx="82296" cy="6858000"/>
          </a:xfrm>
          <a:prstGeom prst="rect">
            <a:avLst/>
          </a:prstGeom>
          <a:solidFill>
            <a:srgbClr val="006D77"/>
          </a:solidFill>
          <a:ln/>
        </p:spPr>
      </p:sp>
      <p:sp>
        <p:nvSpPr>
          <p:cNvPr id="4" name="Shape 2"/>
          <p:cNvSpPr/>
          <p:nvPr/>
        </p:nvSpPr>
        <p:spPr>
          <a:xfrm>
            <a:off x="0" y="0"/>
            <a:ext cx="12161520" cy="1371600"/>
          </a:xfrm>
          <a:prstGeom prst="rect">
            <a:avLst/>
          </a:prstGeom>
          <a:solidFill>
            <a:srgbClr val="006D77"/>
          </a:solidFill>
          <a:ln/>
        </p:spPr>
      </p:sp>
      <p:sp>
        <p:nvSpPr>
          <p:cNvPr id="5" name="Text 3"/>
          <p:cNvSpPr/>
          <p:nvPr/>
        </p:nvSpPr>
        <p:spPr>
          <a:xfrm>
            <a:off x="320040" y="164592"/>
            <a:ext cx="1152144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STEP 1 — Load Both CSV Files into Power BI</a:t>
            </a:r>
            <a:endParaRPr lang="en-US" sz="2400" dirty="0"/>
          </a:p>
        </p:txBody>
      </p:sp>
      <p:sp>
        <p:nvSpPr>
          <p:cNvPr id="6" name="Text 4"/>
          <p:cNvSpPr/>
          <p:nvPr/>
        </p:nvSpPr>
        <p:spPr>
          <a:xfrm>
            <a:off x="320040" y="822960"/>
            <a:ext cx="11521440" cy="411480"/>
          </a:xfrm>
          <a:prstGeom prst="rect">
            <a:avLst/>
          </a:prstGeom>
          <a:noFill/>
          <a:ln/>
        </p:spPr>
        <p:txBody>
          <a:bodyPr wrap="square" rtlCol="0" anchor="ctr"/>
          <a:lstStyle/>
          <a:p>
            <a:pPr indent="0" marL="0">
              <a:buNone/>
            </a:pPr>
            <a:r>
              <a:rPr lang="en-US" sz="1200" i="1" dirty="0">
                <a:solidFill>
                  <a:srgbClr val="83C5BE"/>
                </a:solidFill>
                <a:latin typeface="Calibri" pitchFamily="34" charset="0"/>
                <a:ea typeface="Calibri" pitchFamily="34" charset="-122"/>
                <a:cs typeface="Calibri" pitchFamily="34" charset="-120"/>
              </a:rPr>
              <a:t>Do this for EACH file. Repeat the same steps twice.</a:t>
            </a:r>
            <a:endParaRPr lang="en-US" sz="1200" dirty="0"/>
          </a:p>
        </p:txBody>
      </p:sp>
      <p:sp>
        <p:nvSpPr>
          <p:cNvPr id="7" name="Shape 5"/>
          <p:cNvSpPr/>
          <p:nvPr/>
        </p:nvSpPr>
        <p:spPr>
          <a:xfrm>
            <a:off x="320040" y="1444752"/>
            <a:ext cx="11475720" cy="640080"/>
          </a:xfrm>
          <a:prstGeom prst="roundRect">
            <a:avLst>
              <a:gd name="adj" fmla="val 10000"/>
            </a:avLst>
          </a:prstGeom>
          <a:solidFill>
            <a:srgbClr val="FFFFFF"/>
          </a:solidFill>
          <a:ln w="10160">
            <a:solidFill>
              <a:srgbClr val="D0DCE4"/>
            </a:solidFill>
            <a:prstDash val="solid"/>
          </a:ln>
        </p:spPr>
      </p:sp>
      <p:sp>
        <p:nvSpPr>
          <p:cNvPr id="8" name="Shape 6"/>
          <p:cNvSpPr/>
          <p:nvPr/>
        </p:nvSpPr>
        <p:spPr>
          <a:xfrm>
            <a:off x="438912" y="1554480"/>
            <a:ext cx="438912" cy="438912"/>
          </a:xfrm>
          <a:prstGeom prst="ellipse">
            <a:avLst/>
          </a:prstGeom>
          <a:solidFill>
            <a:srgbClr val="006D77"/>
          </a:solidFill>
          <a:ln/>
        </p:spPr>
      </p:sp>
      <p:sp>
        <p:nvSpPr>
          <p:cNvPr id="9" name="Text 7"/>
          <p:cNvSpPr/>
          <p:nvPr/>
        </p:nvSpPr>
        <p:spPr>
          <a:xfrm>
            <a:off x="438912" y="1554480"/>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1005840" y="1490472"/>
            <a:ext cx="347472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Open Power BI Desktop</a:t>
            </a:r>
            <a:endParaRPr lang="en-US" sz="1300" dirty="0"/>
          </a:p>
        </p:txBody>
      </p:sp>
      <p:sp>
        <p:nvSpPr>
          <p:cNvPr id="11" name="Text 9"/>
          <p:cNvSpPr/>
          <p:nvPr/>
        </p:nvSpPr>
        <p:spPr>
          <a:xfrm>
            <a:off x="1005840" y="1792224"/>
            <a:ext cx="10424160" cy="27432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Open Power BI Desktop. You should see a blank canvas. Do NOT click anything yet.</a:t>
            </a:r>
            <a:endParaRPr lang="en-US" sz="1100" dirty="0"/>
          </a:p>
        </p:txBody>
      </p:sp>
      <p:sp>
        <p:nvSpPr>
          <p:cNvPr id="12" name="Shape 10"/>
          <p:cNvSpPr/>
          <p:nvPr/>
        </p:nvSpPr>
        <p:spPr>
          <a:xfrm>
            <a:off x="320040" y="2139696"/>
            <a:ext cx="11475720" cy="640080"/>
          </a:xfrm>
          <a:prstGeom prst="roundRect">
            <a:avLst>
              <a:gd name="adj" fmla="val 10000"/>
            </a:avLst>
          </a:prstGeom>
          <a:solidFill>
            <a:srgbClr val="FFFFFF"/>
          </a:solidFill>
          <a:ln w="10160">
            <a:solidFill>
              <a:srgbClr val="D0DCE4"/>
            </a:solidFill>
            <a:prstDash val="solid"/>
          </a:ln>
        </p:spPr>
      </p:sp>
      <p:sp>
        <p:nvSpPr>
          <p:cNvPr id="13" name="Shape 11"/>
          <p:cNvSpPr/>
          <p:nvPr/>
        </p:nvSpPr>
        <p:spPr>
          <a:xfrm>
            <a:off x="438912" y="2249424"/>
            <a:ext cx="438912" cy="438912"/>
          </a:xfrm>
          <a:prstGeom prst="ellipse">
            <a:avLst/>
          </a:prstGeom>
          <a:solidFill>
            <a:srgbClr val="006D77"/>
          </a:solidFill>
          <a:ln/>
        </p:spPr>
      </p:sp>
      <p:sp>
        <p:nvSpPr>
          <p:cNvPr id="14" name="Text 12"/>
          <p:cNvSpPr/>
          <p:nvPr/>
        </p:nvSpPr>
        <p:spPr>
          <a:xfrm>
            <a:off x="438912" y="2249424"/>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1005840" y="2185416"/>
            <a:ext cx="347472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Click "Get Data"</a:t>
            </a:r>
            <a:endParaRPr lang="en-US" sz="1300" dirty="0"/>
          </a:p>
        </p:txBody>
      </p:sp>
      <p:sp>
        <p:nvSpPr>
          <p:cNvPr id="16" name="Text 14"/>
          <p:cNvSpPr/>
          <p:nvPr/>
        </p:nvSpPr>
        <p:spPr>
          <a:xfrm>
            <a:off x="1005840" y="2487168"/>
            <a:ext cx="10424160" cy="27432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Go to Home ribbon → click the "Get Data" button (top-left area). A dropdown appears.</a:t>
            </a:r>
            <a:endParaRPr lang="en-US" sz="1100" dirty="0"/>
          </a:p>
        </p:txBody>
      </p:sp>
      <p:sp>
        <p:nvSpPr>
          <p:cNvPr id="17" name="Shape 15"/>
          <p:cNvSpPr/>
          <p:nvPr/>
        </p:nvSpPr>
        <p:spPr>
          <a:xfrm>
            <a:off x="320040" y="2834640"/>
            <a:ext cx="11475720" cy="640080"/>
          </a:xfrm>
          <a:prstGeom prst="roundRect">
            <a:avLst>
              <a:gd name="adj" fmla="val 10000"/>
            </a:avLst>
          </a:prstGeom>
          <a:solidFill>
            <a:srgbClr val="FFFFFF"/>
          </a:solidFill>
          <a:ln w="10160">
            <a:solidFill>
              <a:srgbClr val="D0DCE4"/>
            </a:solidFill>
            <a:prstDash val="solid"/>
          </a:ln>
        </p:spPr>
      </p:sp>
      <p:sp>
        <p:nvSpPr>
          <p:cNvPr id="18" name="Shape 16"/>
          <p:cNvSpPr/>
          <p:nvPr/>
        </p:nvSpPr>
        <p:spPr>
          <a:xfrm>
            <a:off x="438912" y="2944368"/>
            <a:ext cx="438912" cy="438912"/>
          </a:xfrm>
          <a:prstGeom prst="ellipse">
            <a:avLst/>
          </a:prstGeom>
          <a:solidFill>
            <a:srgbClr val="006D77"/>
          </a:solidFill>
          <a:ln/>
        </p:spPr>
      </p:sp>
      <p:sp>
        <p:nvSpPr>
          <p:cNvPr id="19" name="Text 17"/>
          <p:cNvSpPr/>
          <p:nvPr/>
        </p:nvSpPr>
        <p:spPr>
          <a:xfrm>
            <a:off x="438912" y="2944368"/>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1005840" y="2880360"/>
            <a:ext cx="347472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Choose "Text/CSV"</a:t>
            </a:r>
            <a:endParaRPr lang="en-US" sz="1300" dirty="0"/>
          </a:p>
        </p:txBody>
      </p:sp>
      <p:sp>
        <p:nvSpPr>
          <p:cNvPr id="21" name="Text 19"/>
          <p:cNvSpPr/>
          <p:nvPr/>
        </p:nvSpPr>
        <p:spPr>
          <a:xfrm>
            <a:off x="1005840" y="3182112"/>
            <a:ext cx="10424160" cy="27432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From the dropdown list, click "Text/CSV". A file browser window opens.</a:t>
            </a:r>
            <a:endParaRPr lang="en-US" sz="1100" dirty="0"/>
          </a:p>
        </p:txBody>
      </p:sp>
      <p:sp>
        <p:nvSpPr>
          <p:cNvPr id="22" name="Shape 20"/>
          <p:cNvSpPr/>
          <p:nvPr/>
        </p:nvSpPr>
        <p:spPr>
          <a:xfrm>
            <a:off x="320040" y="3529584"/>
            <a:ext cx="11475720" cy="640080"/>
          </a:xfrm>
          <a:prstGeom prst="roundRect">
            <a:avLst>
              <a:gd name="adj" fmla="val 10000"/>
            </a:avLst>
          </a:prstGeom>
          <a:solidFill>
            <a:srgbClr val="FFFFFF"/>
          </a:solidFill>
          <a:ln w="10160">
            <a:solidFill>
              <a:srgbClr val="D0DCE4"/>
            </a:solidFill>
            <a:prstDash val="solid"/>
          </a:ln>
        </p:spPr>
      </p:sp>
      <p:sp>
        <p:nvSpPr>
          <p:cNvPr id="23" name="Shape 21"/>
          <p:cNvSpPr/>
          <p:nvPr/>
        </p:nvSpPr>
        <p:spPr>
          <a:xfrm>
            <a:off x="438912" y="3639312"/>
            <a:ext cx="438912" cy="438912"/>
          </a:xfrm>
          <a:prstGeom prst="ellipse">
            <a:avLst/>
          </a:prstGeom>
          <a:solidFill>
            <a:srgbClr val="006D77"/>
          </a:solidFill>
          <a:ln/>
        </p:spPr>
      </p:sp>
      <p:sp>
        <p:nvSpPr>
          <p:cNvPr id="24" name="Text 22"/>
          <p:cNvSpPr/>
          <p:nvPr/>
        </p:nvSpPr>
        <p:spPr>
          <a:xfrm>
            <a:off x="438912" y="3639312"/>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1005840" y="3575304"/>
            <a:ext cx="347472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Navigate to your folder</a:t>
            </a:r>
            <a:endParaRPr lang="en-US" sz="1300" dirty="0"/>
          </a:p>
        </p:txBody>
      </p:sp>
      <p:sp>
        <p:nvSpPr>
          <p:cNvPr id="26" name="Text 24"/>
          <p:cNvSpPr/>
          <p:nvPr/>
        </p:nvSpPr>
        <p:spPr>
          <a:xfrm>
            <a:off x="1005840" y="3877056"/>
            <a:ext cx="10424160" cy="27432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Find the folder where you saved HC_Patients.csv. Click the file once to select it → click "Open".</a:t>
            </a:r>
            <a:endParaRPr lang="en-US" sz="1100" dirty="0"/>
          </a:p>
        </p:txBody>
      </p:sp>
      <p:sp>
        <p:nvSpPr>
          <p:cNvPr id="27" name="Shape 25"/>
          <p:cNvSpPr/>
          <p:nvPr/>
        </p:nvSpPr>
        <p:spPr>
          <a:xfrm>
            <a:off x="320040" y="4224528"/>
            <a:ext cx="11475720" cy="640080"/>
          </a:xfrm>
          <a:prstGeom prst="roundRect">
            <a:avLst>
              <a:gd name="adj" fmla="val 10000"/>
            </a:avLst>
          </a:prstGeom>
          <a:solidFill>
            <a:srgbClr val="FFFFFF"/>
          </a:solidFill>
          <a:ln w="10160">
            <a:solidFill>
              <a:srgbClr val="D0DCE4"/>
            </a:solidFill>
            <a:prstDash val="solid"/>
          </a:ln>
        </p:spPr>
      </p:sp>
      <p:sp>
        <p:nvSpPr>
          <p:cNvPr id="28" name="Shape 26"/>
          <p:cNvSpPr/>
          <p:nvPr/>
        </p:nvSpPr>
        <p:spPr>
          <a:xfrm>
            <a:off x="438912" y="4334256"/>
            <a:ext cx="438912" cy="438912"/>
          </a:xfrm>
          <a:prstGeom prst="ellipse">
            <a:avLst/>
          </a:prstGeom>
          <a:solidFill>
            <a:srgbClr val="006D77"/>
          </a:solidFill>
          <a:ln/>
        </p:spPr>
      </p:sp>
      <p:sp>
        <p:nvSpPr>
          <p:cNvPr id="29" name="Text 27"/>
          <p:cNvSpPr/>
          <p:nvPr/>
        </p:nvSpPr>
        <p:spPr>
          <a:xfrm>
            <a:off x="438912" y="4334256"/>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1005840" y="4270248"/>
            <a:ext cx="347472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Preview window appears</a:t>
            </a:r>
            <a:endParaRPr lang="en-US" sz="1300" dirty="0"/>
          </a:p>
        </p:txBody>
      </p:sp>
      <p:sp>
        <p:nvSpPr>
          <p:cNvPr id="31" name="Text 29"/>
          <p:cNvSpPr/>
          <p:nvPr/>
        </p:nvSpPr>
        <p:spPr>
          <a:xfrm>
            <a:off x="1005840" y="4572000"/>
            <a:ext cx="10424160" cy="27432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A preview of the data appears. Check the columns look correct. Do NOT change anything here yet → click "Transform Data".</a:t>
            </a:r>
            <a:endParaRPr lang="en-US" sz="1100" dirty="0"/>
          </a:p>
        </p:txBody>
      </p:sp>
      <p:sp>
        <p:nvSpPr>
          <p:cNvPr id="32" name="Shape 30"/>
          <p:cNvSpPr/>
          <p:nvPr/>
        </p:nvSpPr>
        <p:spPr>
          <a:xfrm>
            <a:off x="320040" y="4919472"/>
            <a:ext cx="11475720" cy="640080"/>
          </a:xfrm>
          <a:prstGeom prst="roundRect">
            <a:avLst>
              <a:gd name="adj" fmla="val 10000"/>
            </a:avLst>
          </a:prstGeom>
          <a:solidFill>
            <a:srgbClr val="FFFFFF"/>
          </a:solidFill>
          <a:ln w="10160">
            <a:solidFill>
              <a:srgbClr val="D0DCE4"/>
            </a:solidFill>
            <a:prstDash val="solid"/>
          </a:ln>
        </p:spPr>
      </p:sp>
      <p:sp>
        <p:nvSpPr>
          <p:cNvPr id="33" name="Shape 31"/>
          <p:cNvSpPr/>
          <p:nvPr/>
        </p:nvSpPr>
        <p:spPr>
          <a:xfrm>
            <a:off x="438912" y="5029200"/>
            <a:ext cx="438912" cy="438912"/>
          </a:xfrm>
          <a:prstGeom prst="ellipse">
            <a:avLst/>
          </a:prstGeom>
          <a:solidFill>
            <a:srgbClr val="006D77"/>
          </a:solidFill>
          <a:ln/>
        </p:spPr>
      </p:sp>
      <p:sp>
        <p:nvSpPr>
          <p:cNvPr id="34" name="Text 32"/>
          <p:cNvSpPr/>
          <p:nvPr/>
        </p:nvSpPr>
        <p:spPr>
          <a:xfrm>
            <a:off x="438912" y="5029200"/>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5" name="Text 33"/>
          <p:cNvSpPr/>
          <p:nvPr/>
        </p:nvSpPr>
        <p:spPr>
          <a:xfrm>
            <a:off x="1005840" y="4965192"/>
            <a:ext cx="347472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Power Query Editor opens</a:t>
            </a:r>
            <a:endParaRPr lang="en-US" sz="1300" dirty="0"/>
          </a:p>
        </p:txBody>
      </p:sp>
      <p:sp>
        <p:nvSpPr>
          <p:cNvPr id="36" name="Text 34"/>
          <p:cNvSpPr/>
          <p:nvPr/>
        </p:nvSpPr>
        <p:spPr>
          <a:xfrm>
            <a:off x="1005840" y="5266944"/>
            <a:ext cx="10424160" cy="27432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You are now in Power Query Editor. You will see HC_Patients listed on the left panel. Leave it here.</a:t>
            </a:r>
            <a:endParaRPr lang="en-US" sz="1100" dirty="0"/>
          </a:p>
        </p:txBody>
      </p:sp>
      <p:sp>
        <p:nvSpPr>
          <p:cNvPr id="37" name="Shape 35"/>
          <p:cNvSpPr/>
          <p:nvPr/>
        </p:nvSpPr>
        <p:spPr>
          <a:xfrm>
            <a:off x="320040" y="5614416"/>
            <a:ext cx="11475720" cy="640080"/>
          </a:xfrm>
          <a:prstGeom prst="roundRect">
            <a:avLst>
              <a:gd name="adj" fmla="val 10000"/>
            </a:avLst>
          </a:prstGeom>
          <a:solidFill>
            <a:srgbClr val="FFFFFF"/>
          </a:solidFill>
          <a:ln w="10160">
            <a:solidFill>
              <a:srgbClr val="D0DCE4"/>
            </a:solidFill>
            <a:prstDash val="solid"/>
          </a:ln>
        </p:spPr>
      </p:sp>
      <p:sp>
        <p:nvSpPr>
          <p:cNvPr id="38" name="Shape 36"/>
          <p:cNvSpPr/>
          <p:nvPr/>
        </p:nvSpPr>
        <p:spPr>
          <a:xfrm>
            <a:off x="438912" y="5724144"/>
            <a:ext cx="438912" cy="438912"/>
          </a:xfrm>
          <a:prstGeom prst="ellipse">
            <a:avLst/>
          </a:prstGeom>
          <a:solidFill>
            <a:srgbClr val="008891"/>
          </a:solidFill>
          <a:ln/>
        </p:spPr>
      </p:sp>
      <p:sp>
        <p:nvSpPr>
          <p:cNvPr id="39" name="Text 37"/>
          <p:cNvSpPr/>
          <p:nvPr/>
        </p:nvSpPr>
        <p:spPr>
          <a:xfrm>
            <a:off x="438912" y="5724144"/>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0" name="Text 38"/>
          <p:cNvSpPr/>
          <p:nvPr/>
        </p:nvSpPr>
        <p:spPr>
          <a:xfrm>
            <a:off x="1005840" y="5660136"/>
            <a:ext cx="347472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Load HC_Admissions.csv</a:t>
            </a:r>
            <a:endParaRPr lang="en-US" sz="1300" dirty="0"/>
          </a:p>
        </p:txBody>
      </p:sp>
      <p:sp>
        <p:nvSpPr>
          <p:cNvPr id="41" name="Text 39"/>
          <p:cNvSpPr/>
          <p:nvPr/>
        </p:nvSpPr>
        <p:spPr>
          <a:xfrm>
            <a:off x="1005840" y="5961888"/>
            <a:ext cx="10424160" cy="27432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Go to Home ribbon INSIDE Power Query → "New Source" → "Text/CSV" → select HC_Admissions.csv → "Transform Data". Now both tables appear in the left panel.</a:t>
            </a:r>
            <a:endParaRPr lang="en-US" sz="1100" dirty="0"/>
          </a:p>
        </p:txBody>
      </p:sp>
      <p:sp>
        <p:nvSpPr>
          <p:cNvPr id="42" name="Shape 40"/>
          <p:cNvSpPr/>
          <p:nvPr/>
        </p:nvSpPr>
        <p:spPr>
          <a:xfrm>
            <a:off x="320040" y="6492240"/>
            <a:ext cx="11475720" cy="438912"/>
          </a:xfrm>
          <a:prstGeom prst="roundRect">
            <a:avLst>
              <a:gd name="adj" fmla="val 14583"/>
            </a:avLst>
          </a:prstGeom>
          <a:solidFill>
            <a:srgbClr val="FFF1C1"/>
          </a:solidFill>
          <a:ln w="10160">
            <a:solidFill>
              <a:srgbClr val="E29F18"/>
            </a:solidFill>
            <a:prstDash val="solid"/>
          </a:ln>
        </p:spPr>
      </p:sp>
      <p:sp>
        <p:nvSpPr>
          <p:cNvPr id="43" name="Text 41"/>
          <p:cNvSpPr/>
          <p:nvPr/>
        </p:nvSpPr>
        <p:spPr>
          <a:xfrm>
            <a:off x="429768" y="6537960"/>
            <a:ext cx="11292840" cy="347472"/>
          </a:xfrm>
          <a:prstGeom prst="rect">
            <a:avLst/>
          </a:prstGeom>
          <a:noFill/>
          <a:ln/>
        </p:spPr>
        <p:txBody>
          <a:bodyPr wrap="square" rtlCol="0" anchor="ctr"/>
          <a:lstStyle/>
          <a:p>
            <a:pPr indent="0" marL="0">
              <a:buNone/>
            </a:pPr>
            <a:r>
              <a:rPr lang="en-US" sz="1100" i="1" dirty="0">
                <a:solidFill>
                  <a:srgbClr val="7D5900"/>
                </a:solidFill>
                <a:latin typeface="Calibri" pitchFamily="34" charset="0"/>
                <a:ea typeface="Calibri" pitchFamily="34" charset="-122"/>
                <a:cs typeface="Calibri" pitchFamily="34" charset="-120"/>
              </a:rPr>
              <a:t>⚡  Always click "Transform Data" — NOT "Load". Clicking Load skips Power Query and you lose all ability to clean the data.</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AFA"/>
          </a:solidFill>
          <a:ln/>
        </p:spPr>
      </p:sp>
      <p:sp>
        <p:nvSpPr>
          <p:cNvPr id="3" name="Shape 1"/>
          <p:cNvSpPr/>
          <p:nvPr/>
        </p:nvSpPr>
        <p:spPr>
          <a:xfrm>
            <a:off x="0" y="0"/>
            <a:ext cx="82296" cy="6858000"/>
          </a:xfrm>
          <a:prstGeom prst="rect">
            <a:avLst/>
          </a:prstGeom>
          <a:solidFill>
            <a:srgbClr val="006D77"/>
          </a:solidFill>
          <a:ln/>
        </p:spPr>
      </p:sp>
      <p:sp>
        <p:nvSpPr>
          <p:cNvPr id="4" name="Shape 2"/>
          <p:cNvSpPr/>
          <p:nvPr/>
        </p:nvSpPr>
        <p:spPr>
          <a:xfrm>
            <a:off x="0" y="0"/>
            <a:ext cx="12161520" cy="1371600"/>
          </a:xfrm>
          <a:prstGeom prst="rect">
            <a:avLst/>
          </a:prstGeom>
          <a:solidFill>
            <a:srgbClr val="006D77"/>
          </a:solidFill>
          <a:ln/>
        </p:spPr>
      </p:sp>
      <p:sp>
        <p:nvSpPr>
          <p:cNvPr id="5" name="Text 3"/>
          <p:cNvSpPr/>
          <p:nvPr/>
        </p:nvSpPr>
        <p:spPr>
          <a:xfrm>
            <a:off x="320040" y="164592"/>
            <a:ext cx="1152144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STEP 2 — Clean the Patients Table</a:t>
            </a:r>
            <a:endParaRPr lang="en-US" sz="2400" dirty="0"/>
          </a:p>
        </p:txBody>
      </p:sp>
      <p:sp>
        <p:nvSpPr>
          <p:cNvPr id="6" name="Text 4"/>
          <p:cNvSpPr/>
          <p:nvPr/>
        </p:nvSpPr>
        <p:spPr>
          <a:xfrm>
            <a:off x="320040" y="822960"/>
            <a:ext cx="11521440" cy="411480"/>
          </a:xfrm>
          <a:prstGeom prst="rect">
            <a:avLst/>
          </a:prstGeom>
          <a:noFill/>
          <a:ln/>
        </p:spPr>
        <p:txBody>
          <a:bodyPr wrap="square" rtlCol="0" anchor="ctr"/>
          <a:lstStyle/>
          <a:p>
            <a:pPr indent="0" marL="0">
              <a:buNone/>
            </a:pPr>
            <a:r>
              <a:rPr lang="en-US" sz="1200" i="1" dirty="0">
                <a:solidFill>
                  <a:srgbClr val="83C5BE"/>
                </a:solidFill>
                <a:latin typeface="Calibri" pitchFamily="34" charset="0"/>
                <a:ea typeface="Calibri" pitchFamily="34" charset="-122"/>
                <a:cs typeface="Calibri" pitchFamily="34" charset="-120"/>
              </a:rPr>
              <a:t>Click "HC_Patients" in the left panel first. All changes below apply to this table only.</a:t>
            </a:r>
            <a:endParaRPr lang="en-US" sz="1200" dirty="0"/>
          </a:p>
        </p:txBody>
      </p:sp>
      <p:sp>
        <p:nvSpPr>
          <p:cNvPr id="7" name="Shape 5"/>
          <p:cNvSpPr/>
          <p:nvPr/>
        </p:nvSpPr>
        <p:spPr>
          <a:xfrm>
            <a:off x="320040" y="1463040"/>
            <a:ext cx="11475720" cy="640080"/>
          </a:xfrm>
          <a:prstGeom prst="roundRect">
            <a:avLst>
              <a:gd name="adj" fmla="val 10000"/>
            </a:avLst>
          </a:prstGeom>
          <a:solidFill>
            <a:srgbClr val="FFFFFF"/>
          </a:solidFill>
          <a:ln w="10160">
            <a:solidFill>
              <a:srgbClr val="D0DCE4"/>
            </a:solidFill>
            <a:prstDash val="solid"/>
          </a:ln>
        </p:spPr>
      </p:sp>
      <p:sp>
        <p:nvSpPr>
          <p:cNvPr id="8" name="Shape 6"/>
          <p:cNvSpPr/>
          <p:nvPr/>
        </p:nvSpPr>
        <p:spPr>
          <a:xfrm>
            <a:off x="320040" y="1463040"/>
            <a:ext cx="164592" cy="640080"/>
          </a:xfrm>
          <a:prstGeom prst="rect">
            <a:avLst/>
          </a:prstGeom>
          <a:solidFill>
            <a:srgbClr val="006D77"/>
          </a:solidFill>
          <a:ln/>
        </p:spPr>
      </p:sp>
      <p:sp>
        <p:nvSpPr>
          <p:cNvPr id="9" name="Shape 7"/>
          <p:cNvSpPr/>
          <p:nvPr/>
        </p:nvSpPr>
        <p:spPr>
          <a:xfrm>
            <a:off x="384048" y="1563624"/>
            <a:ext cx="438912" cy="438912"/>
          </a:xfrm>
          <a:prstGeom prst="ellipse">
            <a:avLst/>
          </a:prstGeom>
          <a:solidFill>
            <a:srgbClr val="006D77"/>
          </a:solidFill>
          <a:ln/>
        </p:spPr>
      </p:sp>
      <p:sp>
        <p:nvSpPr>
          <p:cNvPr id="10" name="Text 8"/>
          <p:cNvSpPr/>
          <p:nvPr/>
        </p:nvSpPr>
        <p:spPr>
          <a:xfrm>
            <a:off x="384048" y="1563624"/>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969264" y="1508760"/>
            <a:ext cx="3840480" cy="301752"/>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Rename the query</a:t>
            </a:r>
            <a:endParaRPr lang="en-US" sz="1300" dirty="0"/>
          </a:p>
        </p:txBody>
      </p:sp>
      <p:sp>
        <p:nvSpPr>
          <p:cNvPr id="12" name="Text 10"/>
          <p:cNvSpPr/>
          <p:nvPr/>
        </p:nvSpPr>
        <p:spPr>
          <a:xfrm>
            <a:off x="969264" y="1810512"/>
            <a:ext cx="10607040" cy="237744"/>
          </a:xfrm>
          <a:prstGeom prst="rect">
            <a:avLst/>
          </a:prstGeom>
          <a:noFill/>
          <a:ln/>
        </p:spPr>
        <p:txBody>
          <a:bodyPr wrap="square" rtlCol="0" anchor="ctr"/>
          <a:lstStyle/>
          <a:p>
            <a:pPr indent="0" marL="0">
              <a:buNone/>
            </a:pPr>
            <a:r>
              <a:rPr lang="en-US" sz="1050" dirty="0">
                <a:solidFill>
                  <a:srgbClr val="3D5A6C"/>
                </a:solidFill>
                <a:latin typeface="Calibri" pitchFamily="34" charset="0"/>
                <a:ea typeface="Calibri" pitchFamily="34" charset="-122"/>
                <a:cs typeface="Calibri" pitchFamily="34" charset="-120"/>
              </a:rPr>
              <a:t>Right-click "HC_Patients" in left panel → Rename → type  Patients  → press Enter. Clean names matter.</a:t>
            </a:r>
            <a:endParaRPr lang="en-US" sz="1050" dirty="0"/>
          </a:p>
        </p:txBody>
      </p:sp>
      <p:sp>
        <p:nvSpPr>
          <p:cNvPr id="13" name="Shape 11"/>
          <p:cNvSpPr/>
          <p:nvPr/>
        </p:nvSpPr>
        <p:spPr>
          <a:xfrm>
            <a:off x="320040" y="2157984"/>
            <a:ext cx="11475720" cy="640080"/>
          </a:xfrm>
          <a:prstGeom prst="roundRect">
            <a:avLst>
              <a:gd name="adj" fmla="val 10000"/>
            </a:avLst>
          </a:prstGeom>
          <a:solidFill>
            <a:srgbClr val="FFFFFF"/>
          </a:solidFill>
          <a:ln w="10160">
            <a:solidFill>
              <a:srgbClr val="D0DCE4"/>
            </a:solidFill>
            <a:prstDash val="solid"/>
          </a:ln>
        </p:spPr>
      </p:sp>
      <p:sp>
        <p:nvSpPr>
          <p:cNvPr id="14" name="Shape 12"/>
          <p:cNvSpPr/>
          <p:nvPr/>
        </p:nvSpPr>
        <p:spPr>
          <a:xfrm>
            <a:off x="320040" y="2157984"/>
            <a:ext cx="164592" cy="640080"/>
          </a:xfrm>
          <a:prstGeom prst="rect">
            <a:avLst/>
          </a:prstGeom>
          <a:solidFill>
            <a:srgbClr val="006D77"/>
          </a:solidFill>
          <a:ln/>
        </p:spPr>
      </p:sp>
      <p:sp>
        <p:nvSpPr>
          <p:cNvPr id="15" name="Shape 13"/>
          <p:cNvSpPr/>
          <p:nvPr/>
        </p:nvSpPr>
        <p:spPr>
          <a:xfrm>
            <a:off x="384048" y="2258568"/>
            <a:ext cx="438912" cy="438912"/>
          </a:xfrm>
          <a:prstGeom prst="ellipse">
            <a:avLst/>
          </a:prstGeom>
          <a:solidFill>
            <a:srgbClr val="006D77"/>
          </a:solidFill>
          <a:ln/>
        </p:spPr>
      </p:sp>
      <p:sp>
        <p:nvSpPr>
          <p:cNvPr id="16" name="Text 14"/>
          <p:cNvSpPr/>
          <p:nvPr/>
        </p:nvSpPr>
        <p:spPr>
          <a:xfrm>
            <a:off x="384048" y="2258568"/>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969264" y="2203704"/>
            <a:ext cx="3840480" cy="301752"/>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Check column headers</a:t>
            </a:r>
            <a:endParaRPr lang="en-US" sz="1300" dirty="0"/>
          </a:p>
        </p:txBody>
      </p:sp>
      <p:sp>
        <p:nvSpPr>
          <p:cNvPr id="18" name="Text 16"/>
          <p:cNvSpPr/>
          <p:nvPr/>
        </p:nvSpPr>
        <p:spPr>
          <a:xfrm>
            <a:off x="969264" y="2505456"/>
            <a:ext cx="10607040" cy="237744"/>
          </a:xfrm>
          <a:prstGeom prst="rect">
            <a:avLst/>
          </a:prstGeom>
          <a:noFill/>
          <a:ln/>
        </p:spPr>
        <p:txBody>
          <a:bodyPr wrap="square" rtlCol="0" anchor="ctr"/>
          <a:lstStyle/>
          <a:p>
            <a:pPr indent="0" marL="0">
              <a:buNone/>
            </a:pPr>
            <a:r>
              <a:rPr lang="en-US" sz="1050" dirty="0">
                <a:solidFill>
                  <a:srgbClr val="3D5A6C"/>
                </a:solidFill>
                <a:latin typeface="Calibri" pitchFamily="34" charset="0"/>
                <a:ea typeface="Calibri" pitchFamily="34" charset="-122"/>
                <a:cs typeface="Calibri" pitchFamily="34" charset="-120"/>
              </a:rPr>
              <a:t>Row 1 should already be the headers. If not: Home → "Use First Row as Headers". Columns should show Patient_ID, Patient_Name, Age, etc.</a:t>
            </a:r>
            <a:endParaRPr lang="en-US" sz="1050" dirty="0"/>
          </a:p>
        </p:txBody>
      </p:sp>
      <p:sp>
        <p:nvSpPr>
          <p:cNvPr id="19" name="Shape 17"/>
          <p:cNvSpPr/>
          <p:nvPr/>
        </p:nvSpPr>
        <p:spPr>
          <a:xfrm>
            <a:off x="320040" y="2852928"/>
            <a:ext cx="11475720" cy="640080"/>
          </a:xfrm>
          <a:prstGeom prst="roundRect">
            <a:avLst>
              <a:gd name="adj" fmla="val 10000"/>
            </a:avLst>
          </a:prstGeom>
          <a:solidFill>
            <a:srgbClr val="FFFFFF"/>
          </a:solidFill>
          <a:ln w="10160">
            <a:solidFill>
              <a:srgbClr val="D0DCE4"/>
            </a:solidFill>
            <a:prstDash val="solid"/>
          </a:ln>
        </p:spPr>
      </p:sp>
      <p:sp>
        <p:nvSpPr>
          <p:cNvPr id="20" name="Shape 18"/>
          <p:cNvSpPr/>
          <p:nvPr/>
        </p:nvSpPr>
        <p:spPr>
          <a:xfrm>
            <a:off x="320040" y="2852928"/>
            <a:ext cx="164592" cy="640080"/>
          </a:xfrm>
          <a:prstGeom prst="rect">
            <a:avLst/>
          </a:prstGeom>
          <a:solidFill>
            <a:srgbClr val="006D77"/>
          </a:solidFill>
          <a:ln/>
        </p:spPr>
      </p:sp>
      <p:sp>
        <p:nvSpPr>
          <p:cNvPr id="21" name="Shape 19"/>
          <p:cNvSpPr/>
          <p:nvPr/>
        </p:nvSpPr>
        <p:spPr>
          <a:xfrm>
            <a:off x="384048" y="2953512"/>
            <a:ext cx="438912" cy="438912"/>
          </a:xfrm>
          <a:prstGeom prst="ellipse">
            <a:avLst/>
          </a:prstGeom>
          <a:solidFill>
            <a:srgbClr val="006D77"/>
          </a:solidFill>
          <a:ln/>
        </p:spPr>
      </p:sp>
      <p:sp>
        <p:nvSpPr>
          <p:cNvPr id="22" name="Text 20"/>
          <p:cNvSpPr/>
          <p:nvPr/>
        </p:nvSpPr>
        <p:spPr>
          <a:xfrm>
            <a:off x="384048" y="2953512"/>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Text 21"/>
          <p:cNvSpPr/>
          <p:nvPr/>
        </p:nvSpPr>
        <p:spPr>
          <a:xfrm>
            <a:off x="969264" y="2898648"/>
            <a:ext cx="3840480" cy="301752"/>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Fix the Age column type</a:t>
            </a:r>
            <a:endParaRPr lang="en-US" sz="1300" dirty="0"/>
          </a:p>
        </p:txBody>
      </p:sp>
      <p:sp>
        <p:nvSpPr>
          <p:cNvPr id="24" name="Text 22"/>
          <p:cNvSpPr/>
          <p:nvPr/>
        </p:nvSpPr>
        <p:spPr>
          <a:xfrm>
            <a:off x="969264" y="3200400"/>
            <a:ext cx="10607040" cy="237744"/>
          </a:xfrm>
          <a:prstGeom prst="rect">
            <a:avLst/>
          </a:prstGeom>
          <a:noFill/>
          <a:ln/>
        </p:spPr>
        <p:txBody>
          <a:bodyPr wrap="square" rtlCol="0" anchor="ctr"/>
          <a:lstStyle/>
          <a:p>
            <a:pPr indent="0" marL="0">
              <a:buNone/>
            </a:pPr>
            <a:r>
              <a:rPr lang="en-US" sz="1050" dirty="0">
                <a:solidFill>
                  <a:srgbClr val="3D5A6C"/>
                </a:solidFill>
                <a:latin typeface="Calibri" pitchFamily="34" charset="0"/>
                <a:ea typeface="Calibri" pitchFamily="34" charset="-122"/>
                <a:cs typeface="Calibri" pitchFamily="34" charset="-120"/>
              </a:rPr>
              <a:t>Click the "Age" column header to select it. Look at the icon left of the column name — it should show "123" (whole number). If it shows "ABC", click the icon and select "Whole Number".</a:t>
            </a:r>
            <a:endParaRPr lang="en-US" sz="1050" dirty="0"/>
          </a:p>
        </p:txBody>
      </p:sp>
      <p:sp>
        <p:nvSpPr>
          <p:cNvPr id="25" name="Shape 23"/>
          <p:cNvSpPr/>
          <p:nvPr/>
        </p:nvSpPr>
        <p:spPr>
          <a:xfrm>
            <a:off x="320040" y="3547872"/>
            <a:ext cx="11475720" cy="640080"/>
          </a:xfrm>
          <a:prstGeom prst="roundRect">
            <a:avLst>
              <a:gd name="adj" fmla="val 10000"/>
            </a:avLst>
          </a:prstGeom>
          <a:solidFill>
            <a:srgbClr val="FFFFFF"/>
          </a:solidFill>
          <a:ln w="10160">
            <a:solidFill>
              <a:srgbClr val="D0DCE4"/>
            </a:solidFill>
            <a:prstDash val="solid"/>
          </a:ln>
        </p:spPr>
      </p:sp>
      <p:sp>
        <p:nvSpPr>
          <p:cNvPr id="26" name="Shape 24"/>
          <p:cNvSpPr/>
          <p:nvPr/>
        </p:nvSpPr>
        <p:spPr>
          <a:xfrm>
            <a:off x="320040" y="3547872"/>
            <a:ext cx="164592" cy="640080"/>
          </a:xfrm>
          <a:prstGeom prst="rect">
            <a:avLst/>
          </a:prstGeom>
          <a:solidFill>
            <a:srgbClr val="008891"/>
          </a:solidFill>
          <a:ln/>
        </p:spPr>
      </p:sp>
      <p:sp>
        <p:nvSpPr>
          <p:cNvPr id="27" name="Shape 25"/>
          <p:cNvSpPr/>
          <p:nvPr/>
        </p:nvSpPr>
        <p:spPr>
          <a:xfrm>
            <a:off x="384048" y="3648456"/>
            <a:ext cx="438912" cy="438912"/>
          </a:xfrm>
          <a:prstGeom prst="ellipse">
            <a:avLst/>
          </a:prstGeom>
          <a:solidFill>
            <a:srgbClr val="008891"/>
          </a:solidFill>
          <a:ln/>
        </p:spPr>
      </p:sp>
      <p:sp>
        <p:nvSpPr>
          <p:cNvPr id="28" name="Text 26"/>
          <p:cNvSpPr/>
          <p:nvPr/>
        </p:nvSpPr>
        <p:spPr>
          <a:xfrm>
            <a:off x="384048" y="3648456"/>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9" name="Text 27"/>
          <p:cNvSpPr/>
          <p:nvPr/>
        </p:nvSpPr>
        <p:spPr>
          <a:xfrm>
            <a:off x="969264" y="3593592"/>
            <a:ext cx="3840480" cy="301752"/>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Remove the Contact column</a:t>
            </a:r>
            <a:endParaRPr lang="en-US" sz="1300" dirty="0"/>
          </a:p>
        </p:txBody>
      </p:sp>
      <p:sp>
        <p:nvSpPr>
          <p:cNvPr id="30" name="Text 28"/>
          <p:cNvSpPr/>
          <p:nvPr/>
        </p:nvSpPr>
        <p:spPr>
          <a:xfrm>
            <a:off x="969264" y="3895344"/>
            <a:ext cx="10607040" cy="237744"/>
          </a:xfrm>
          <a:prstGeom prst="rect">
            <a:avLst/>
          </a:prstGeom>
          <a:noFill/>
          <a:ln/>
        </p:spPr>
        <p:txBody>
          <a:bodyPr wrap="square" rtlCol="0" anchor="ctr"/>
          <a:lstStyle/>
          <a:p>
            <a:pPr indent="0" marL="0">
              <a:buNone/>
            </a:pPr>
            <a:r>
              <a:rPr lang="en-US" sz="1050" dirty="0">
                <a:solidFill>
                  <a:srgbClr val="3D5A6C"/>
                </a:solidFill>
                <a:latin typeface="Calibri" pitchFamily="34" charset="0"/>
                <a:ea typeface="Calibri" pitchFamily="34" charset="-122"/>
                <a:cs typeface="Calibri" pitchFamily="34" charset="-120"/>
              </a:rPr>
              <a:t>Right-click the "Contact" column header → "Remove". We do not need phone numbers in our analysis.</a:t>
            </a:r>
            <a:endParaRPr lang="en-US" sz="1050" dirty="0"/>
          </a:p>
        </p:txBody>
      </p:sp>
      <p:sp>
        <p:nvSpPr>
          <p:cNvPr id="31" name="Shape 29"/>
          <p:cNvSpPr/>
          <p:nvPr/>
        </p:nvSpPr>
        <p:spPr>
          <a:xfrm>
            <a:off x="320040" y="4242816"/>
            <a:ext cx="11475720" cy="640080"/>
          </a:xfrm>
          <a:prstGeom prst="roundRect">
            <a:avLst>
              <a:gd name="adj" fmla="val 10000"/>
            </a:avLst>
          </a:prstGeom>
          <a:solidFill>
            <a:srgbClr val="FFFFFF"/>
          </a:solidFill>
          <a:ln w="10160">
            <a:solidFill>
              <a:srgbClr val="D0DCE4"/>
            </a:solidFill>
            <a:prstDash val="solid"/>
          </a:ln>
        </p:spPr>
      </p:sp>
      <p:sp>
        <p:nvSpPr>
          <p:cNvPr id="32" name="Shape 30"/>
          <p:cNvSpPr/>
          <p:nvPr/>
        </p:nvSpPr>
        <p:spPr>
          <a:xfrm>
            <a:off x="320040" y="4242816"/>
            <a:ext cx="164592" cy="640080"/>
          </a:xfrm>
          <a:prstGeom prst="rect">
            <a:avLst/>
          </a:prstGeom>
          <a:solidFill>
            <a:srgbClr val="008891"/>
          </a:solidFill>
          <a:ln/>
        </p:spPr>
      </p:sp>
      <p:sp>
        <p:nvSpPr>
          <p:cNvPr id="33" name="Shape 31"/>
          <p:cNvSpPr/>
          <p:nvPr/>
        </p:nvSpPr>
        <p:spPr>
          <a:xfrm>
            <a:off x="384048" y="4343400"/>
            <a:ext cx="438912" cy="438912"/>
          </a:xfrm>
          <a:prstGeom prst="ellipse">
            <a:avLst/>
          </a:prstGeom>
          <a:solidFill>
            <a:srgbClr val="008891"/>
          </a:solidFill>
          <a:ln/>
        </p:spPr>
      </p:sp>
      <p:sp>
        <p:nvSpPr>
          <p:cNvPr id="34" name="Text 32"/>
          <p:cNvSpPr/>
          <p:nvPr/>
        </p:nvSpPr>
        <p:spPr>
          <a:xfrm>
            <a:off x="384048" y="4343400"/>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5" name="Text 33"/>
          <p:cNvSpPr/>
          <p:nvPr/>
        </p:nvSpPr>
        <p:spPr>
          <a:xfrm>
            <a:off x="969264" y="4288536"/>
            <a:ext cx="3840480" cy="301752"/>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Add an Age Group column</a:t>
            </a:r>
            <a:endParaRPr lang="en-US" sz="1300" dirty="0"/>
          </a:p>
        </p:txBody>
      </p:sp>
      <p:sp>
        <p:nvSpPr>
          <p:cNvPr id="36" name="Text 34"/>
          <p:cNvSpPr/>
          <p:nvPr/>
        </p:nvSpPr>
        <p:spPr>
          <a:xfrm>
            <a:off x="969264" y="4590288"/>
            <a:ext cx="10607040" cy="237744"/>
          </a:xfrm>
          <a:prstGeom prst="rect">
            <a:avLst/>
          </a:prstGeom>
          <a:noFill/>
          <a:ln/>
        </p:spPr>
        <p:txBody>
          <a:bodyPr wrap="square" rtlCol="0" anchor="ctr"/>
          <a:lstStyle/>
          <a:p>
            <a:pPr indent="0" marL="0">
              <a:buNone/>
            </a:pPr>
            <a:r>
              <a:rPr lang="en-US" sz="1050" dirty="0">
                <a:solidFill>
                  <a:srgbClr val="3D5A6C"/>
                </a:solidFill>
                <a:latin typeface="Calibri" pitchFamily="34" charset="0"/>
                <a:ea typeface="Calibri" pitchFamily="34" charset="-122"/>
                <a:cs typeface="Calibri" pitchFamily="34" charset="-120"/>
              </a:rPr>
              <a:t>Go to "Add Column" ribbon → "Conditional Column". Set the rules on next slide. This adds a new column called "Age_Group".</a:t>
            </a:r>
            <a:endParaRPr lang="en-US" sz="1050" dirty="0"/>
          </a:p>
        </p:txBody>
      </p:sp>
      <p:sp>
        <p:nvSpPr>
          <p:cNvPr id="37" name="Shape 35"/>
          <p:cNvSpPr/>
          <p:nvPr/>
        </p:nvSpPr>
        <p:spPr>
          <a:xfrm>
            <a:off x="320040" y="4937760"/>
            <a:ext cx="11475720" cy="640080"/>
          </a:xfrm>
          <a:prstGeom prst="roundRect">
            <a:avLst>
              <a:gd name="adj" fmla="val 10000"/>
            </a:avLst>
          </a:prstGeom>
          <a:solidFill>
            <a:srgbClr val="FFFFFF"/>
          </a:solidFill>
          <a:ln w="10160">
            <a:solidFill>
              <a:srgbClr val="D0DCE4"/>
            </a:solidFill>
            <a:prstDash val="solid"/>
          </a:ln>
        </p:spPr>
      </p:sp>
      <p:sp>
        <p:nvSpPr>
          <p:cNvPr id="38" name="Shape 36"/>
          <p:cNvSpPr/>
          <p:nvPr/>
        </p:nvSpPr>
        <p:spPr>
          <a:xfrm>
            <a:off x="320040" y="4937760"/>
            <a:ext cx="164592" cy="640080"/>
          </a:xfrm>
          <a:prstGeom prst="rect">
            <a:avLst/>
          </a:prstGeom>
          <a:solidFill>
            <a:srgbClr val="008891"/>
          </a:solidFill>
          <a:ln/>
        </p:spPr>
      </p:sp>
      <p:sp>
        <p:nvSpPr>
          <p:cNvPr id="39" name="Shape 37"/>
          <p:cNvSpPr/>
          <p:nvPr/>
        </p:nvSpPr>
        <p:spPr>
          <a:xfrm>
            <a:off x="384048" y="5038344"/>
            <a:ext cx="438912" cy="438912"/>
          </a:xfrm>
          <a:prstGeom prst="ellipse">
            <a:avLst/>
          </a:prstGeom>
          <a:solidFill>
            <a:srgbClr val="008891"/>
          </a:solidFill>
          <a:ln/>
        </p:spPr>
      </p:sp>
      <p:sp>
        <p:nvSpPr>
          <p:cNvPr id="40" name="Text 38"/>
          <p:cNvSpPr/>
          <p:nvPr/>
        </p:nvSpPr>
        <p:spPr>
          <a:xfrm>
            <a:off x="384048" y="5038344"/>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1" name="Text 39"/>
          <p:cNvSpPr/>
          <p:nvPr/>
        </p:nvSpPr>
        <p:spPr>
          <a:xfrm>
            <a:off x="969264" y="4983480"/>
            <a:ext cx="3840480" cy="301752"/>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Check for errors or blanks</a:t>
            </a:r>
            <a:endParaRPr lang="en-US" sz="1300" dirty="0"/>
          </a:p>
        </p:txBody>
      </p:sp>
      <p:sp>
        <p:nvSpPr>
          <p:cNvPr id="42" name="Text 40"/>
          <p:cNvSpPr/>
          <p:nvPr/>
        </p:nvSpPr>
        <p:spPr>
          <a:xfrm>
            <a:off x="969264" y="5285232"/>
            <a:ext cx="10607040" cy="237744"/>
          </a:xfrm>
          <a:prstGeom prst="rect">
            <a:avLst/>
          </a:prstGeom>
          <a:noFill/>
          <a:ln/>
        </p:spPr>
        <p:txBody>
          <a:bodyPr wrap="square" rtlCol="0" anchor="ctr"/>
          <a:lstStyle/>
          <a:p>
            <a:pPr indent="0" marL="0">
              <a:buNone/>
            </a:pPr>
            <a:r>
              <a:rPr lang="en-US" sz="1050" dirty="0">
                <a:solidFill>
                  <a:srgbClr val="3D5A6C"/>
                </a:solidFill>
                <a:latin typeface="Calibri" pitchFamily="34" charset="0"/>
                <a:ea typeface="Calibri" pitchFamily="34" charset="-122"/>
                <a:cs typeface="Calibri" pitchFamily="34" charset="-120"/>
              </a:rPr>
              <a:t>Home → "Remove Rows" → "Remove Blank Rows". Then check each column — no red error indicators should appear at the bottom.</a:t>
            </a:r>
            <a:endParaRPr lang="en-US" sz="1050" dirty="0"/>
          </a:p>
        </p:txBody>
      </p:sp>
      <p:sp>
        <p:nvSpPr>
          <p:cNvPr id="43" name="Shape 41"/>
          <p:cNvSpPr/>
          <p:nvPr/>
        </p:nvSpPr>
        <p:spPr>
          <a:xfrm>
            <a:off x="320040" y="5632704"/>
            <a:ext cx="11475720" cy="640080"/>
          </a:xfrm>
          <a:prstGeom prst="roundRect">
            <a:avLst>
              <a:gd name="adj" fmla="val 10000"/>
            </a:avLst>
          </a:prstGeom>
          <a:solidFill>
            <a:srgbClr val="FFFFFF"/>
          </a:solidFill>
          <a:ln w="10160">
            <a:solidFill>
              <a:srgbClr val="D0DCE4"/>
            </a:solidFill>
            <a:prstDash val="solid"/>
          </a:ln>
        </p:spPr>
      </p:sp>
      <p:sp>
        <p:nvSpPr>
          <p:cNvPr id="44" name="Shape 42"/>
          <p:cNvSpPr/>
          <p:nvPr/>
        </p:nvSpPr>
        <p:spPr>
          <a:xfrm>
            <a:off x="320040" y="5632704"/>
            <a:ext cx="164592" cy="640080"/>
          </a:xfrm>
          <a:prstGeom prst="rect">
            <a:avLst/>
          </a:prstGeom>
          <a:solidFill>
            <a:srgbClr val="1E8449"/>
          </a:solidFill>
          <a:ln/>
        </p:spPr>
      </p:sp>
      <p:sp>
        <p:nvSpPr>
          <p:cNvPr id="45" name="Shape 43"/>
          <p:cNvSpPr/>
          <p:nvPr/>
        </p:nvSpPr>
        <p:spPr>
          <a:xfrm>
            <a:off x="384048" y="5733288"/>
            <a:ext cx="438912" cy="438912"/>
          </a:xfrm>
          <a:prstGeom prst="ellipse">
            <a:avLst/>
          </a:prstGeom>
          <a:solidFill>
            <a:srgbClr val="1E8449"/>
          </a:solidFill>
          <a:ln/>
        </p:spPr>
      </p:sp>
      <p:sp>
        <p:nvSpPr>
          <p:cNvPr id="46" name="Text 44"/>
          <p:cNvSpPr/>
          <p:nvPr/>
        </p:nvSpPr>
        <p:spPr>
          <a:xfrm>
            <a:off x="384048" y="5733288"/>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7" name="Text 45"/>
          <p:cNvSpPr/>
          <p:nvPr/>
        </p:nvSpPr>
        <p:spPr>
          <a:xfrm>
            <a:off x="969264" y="5678424"/>
            <a:ext cx="3840480" cy="301752"/>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Verify row count</a:t>
            </a:r>
            <a:endParaRPr lang="en-US" sz="1300" dirty="0"/>
          </a:p>
        </p:txBody>
      </p:sp>
      <p:sp>
        <p:nvSpPr>
          <p:cNvPr id="48" name="Text 46"/>
          <p:cNvSpPr/>
          <p:nvPr/>
        </p:nvSpPr>
        <p:spPr>
          <a:xfrm>
            <a:off x="969264" y="5980176"/>
            <a:ext cx="10607040" cy="237744"/>
          </a:xfrm>
          <a:prstGeom prst="rect">
            <a:avLst/>
          </a:prstGeom>
          <a:noFill/>
          <a:ln/>
        </p:spPr>
        <p:txBody>
          <a:bodyPr wrap="square" rtlCol="0" anchor="ctr"/>
          <a:lstStyle/>
          <a:p>
            <a:pPr indent="0" marL="0">
              <a:buNone/>
            </a:pPr>
            <a:r>
              <a:rPr lang="en-US" sz="1050" dirty="0">
                <a:solidFill>
                  <a:srgbClr val="3D5A6C"/>
                </a:solidFill>
                <a:latin typeface="Calibri" pitchFamily="34" charset="0"/>
                <a:ea typeface="Calibri" pitchFamily="34" charset="-122"/>
                <a:cs typeface="Calibri" pitchFamily="34" charset="-120"/>
              </a:rPr>
              <a:t>Bottom status bar should say "500 rows". If different, something went wrong — undo and retry.</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AFA"/>
          </a:solidFill>
          <a:ln/>
        </p:spPr>
      </p:sp>
      <p:sp>
        <p:nvSpPr>
          <p:cNvPr id="3" name="Shape 1"/>
          <p:cNvSpPr/>
          <p:nvPr/>
        </p:nvSpPr>
        <p:spPr>
          <a:xfrm>
            <a:off x="0" y="0"/>
            <a:ext cx="82296" cy="6858000"/>
          </a:xfrm>
          <a:prstGeom prst="rect">
            <a:avLst/>
          </a:prstGeom>
          <a:solidFill>
            <a:srgbClr val="006D77"/>
          </a:solidFill>
          <a:ln/>
        </p:spPr>
      </p:sp>
      <p:sp>
        <p:nvSpPr>
          <p:cNvPr id="4" name="Shape 2"/>
          <p:cNvSpPr/>
          <p:nvPr/>
        </p:nvSpPr>
        <p:spPr>
          <a:xfrm>
            <a:off x="0" y="0"/>
            <a:ext cx="12161520" cy="1371600"/>
          </a:xfrm>
          <a:prstGeom prst="rect">
            <a:avLst/>
          </a:prstGeom>
          <a:solidFill>
            <a:srgbClr val="006D77"/>
          </a:solidFill>
          <a:ln/>
        </p:spPr>
      </p:sp>
      <p:sp>
        <p:nvSpPr>
          <p:cNvPr id="5" name="Text 3"/>
          <p:cNvSpPr/>
          <p:nvPr/>
        </p:nvSpPr>
        <p:spPr>
          <a:xfrm>
            <a:off x="320040" y="164592"/>
            <a:ext cx="1152144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STEP 2 (continued) — Adding the Age_Group Conditional Column</a:t>
            </a:r>
            <a:endParaRPr lang="en-US" sz="2400" dirty="0"/>
          </a:p>
        </p:txBody>
      </p:sp>
      <p:sp>
        <p:nvSpPr>
          <p:cNvPr id="6" name="Text 4"/>
          <p:cNvSpPr/>
          <p:nvPr/>
        </p:nvSpPr>
        <p:spPr>
          <a:xfrm>
            <a:off x="320040" y="822960"/>
            <a:ext cx="11521440" cy="411480"/>
          </a:xfrm>
          <a:prstGeom prst="rect">
            <a:avLst/>
          </a:prstGeom>
          <a:noFill/>
          <a:ln/>
        </p:spPr>
        <p:txBody>
          <a:bodyPr wrap="square" rtlCol="0" anchor="ctr"/>
          <a:lstStyle/>
          <a:p>
            <a:pPr indent="0" marL="0">
              <a:buNone/>
            </a:pPr>
            <a:r>
              <a:rPr lang="en-US" sz="1200" i="1" dirty="0">
                <a:solidFill>
                  <a:srgbClr val="83C5BE"/>
                </a:solidFill>
                <a:latin typeface="Calibri" pitchFamily="34" charset="0"/>
                <a:ea typeface="Calibri" pitchFamily="34" charset="-122"/>
                <a:cs typeface="Calibri" pitchFamily="34" charset="-120"/>
              </a:rPr>
              <a:t>Add Column ribbon → Conditional Column → fill in this dialog exactly as shown below</a:t>
            </a:r>
            <a:endParaRPr lang="en-US" sz="1200" dirty="0"/>
          </a:p>
        </p:txBody>
      </p:sp>
      <p:sp>
        <p:nvSpPr>
          <p:cNvPr id="7" name="Shape 5"/>
          <p:cNvSpPr/>
          <p:nvPr/>
        </p:nvSpPr>
        <p:spPr>
          <a:xfrm>
            <a:off x="320040" y="1417320"/>
            <a:ext cx="11475720" cy="1051560"/>
          </a:xfrm>
          <a:prstGeom prst="roundRect">
            <a:avLst>
              <a:gd name="adj" fmla="val 7826"/>
            </a:avLst>
          </a:prstGeom>
          <a:solidFill>
            <a:srgbClr val="EDF6F9"/>
          </a:solidFill>
          <a:ln w="10160">
            <a:solidFill>
              <a:srgbClr val="006D77"/>
            </a:solidFill>
            <a:prstDash val="solid"/>
          </a:ln>
        </p:spPr>
      </p:sp>
      <p:sp>
        <p:nvSpPr>
          <p:cNvPr id="8" name="Text 6"/>
          <p:cNvSpPr/>
          <p:nvPr/>
        </p:nvSpPr>
        <p:spPr>
          <a:xfrm>
            <a:off x="475488" y="1508760"/>
            <a:ext cx="11155680" cy="777240"/>
          </a:xfrm>
          <a:prstGeom prst="rect">
            <a:avLst/>
          </a:prstGeom>
          <a:noFill/>
          <a:ln/>
        </p:spPr>
        <p:txBody>
          <a:bodyPr wrap="square" rtlCol="0" anchor="ctr"/>
          <a:lstStyle/>
          <a:p>
            <a:pPr indent="0" marL="0">
              <a:buNone/>
            </a:pPr>
            <a:r>
              <a:rPr lang="en-US" sz="1200" dirty="0">
                <a:solidFill>
                  <a:srgbClr val="1A2B4A"/>
                </a:solidFill>
                <a:latin typeface="Calibri" pitchFamily="34" charset="0"/>
                <a:ea typeface="Calibri" pitchFamily="34" charset="-122"/>
                <a:cs typeface="Calibri" pitchFamily="34" charset="-120"/>
              </a:rPr>
              <a:t>📌  Where to find it:  Add Column tab (top ribbon) → click "Conditional Column" → a dialog box opens → fill it in as below → click OK</a:t>
            </a:r>
            <a:endParaRPr lang="en-US" sz="1200" dirty="0"/>
          </a:p>
        </p:txBody>
      </p:sp>
      <p:sp>
        <p:nvSpPr>
          <p:cNvPr id="9" name="Text 7"/>
          <p:cNvSpPr/>
          <p:nvPr/>
        </p:nvSpPr>
        <p:spPr>
          <a:xfrm>
            <a:off x="320040" y="2633472"/>
            <a:ext cx="3657600" cy="347472"/>
          </a:xfrm>
          <a:prstGeom prst="rect">
            <a:avLst/>
          </a:prstGeom>
          <a:noFill/>
          <a:ln/>
        </p:spPr>
        <p:txBody>
          <a:bodyPr wrap="square"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Column Name to create:</a:t>
            </a:r>
            <a:endParaRPr lang="en-US" sz="1200" dirty="0"/>
          </a:p>
        </p:txBody>
      </p:sp>
      <p:sp>
        <p:nvSpPr>
          <p:cNvPr id="10" name="Shape 8"/>
          <p:cNvSpPr/>
          <p:nvPr/>
        </p:nvSpPr>
        <p:spPr>
          <a:xfrm>
            <a:off x="4005072" y="2578608"/>
            <a:ext cx="7772400" cy="457200"/>
          </a:xfrm>
          <a:prstGeom prst="roundRect">
            <a:avLst>
              <a:gd name="adj" fmla="val 14000"/>
            </a:avLst>
          </a:prstGeom>
          <a:solidFill>
            <a:srgbClr val="1A2B4A"/>
          </a:solidFill>
          <a:ln w="10160">
            <a:solidFill>
              <a:srgbClr val="1A2B4A"/>
            </a:solidFill>
            <a:prstDash val="solid"/>
          </a:ln>
        </p:spPr>
      </p:sp>
      <p:sp>
        <p:nvSpPr>
          <p:cNvPr id="11" name="Text 9"/>
          <p:cNvSpPr/>
          <p:nvPr/>
        </p:nvSpPr>
        <p:spPr>
          <a:xfrm>
            <a:off x="4142232" y="2670048"/>
            <a:ext cx="7543800" cy="292608"/>
          </a:xfrm>
          <a:prstGeom prst="rect">
            <a:avLst/>
          </a:prstGeom>
          <a:noFill/>
          <a:ln/>
        </p:spPr>
        <p:txBody>
          <a:bodyPr wrap="square" rtlCol="0" anchor="t"/>
          <a:lstStyle/>
          <a:p>
            <a:pPr indent="0" marL="0">
              <a:buNone/>
            </a:pPr>
            <a:r>
              <a:rPr lang="en-US" sz="1100" dirty="0">
                <a:solidFill>
                  <a:srgbClr val="A8D8E0"/>
                </a:solidFill>
                <a:latin typeface="Courier New" pitchFamily="34" charset="0"/>
                <a:ea typeface="Courier New" pitchFamily="34" charset="-122"/>
                <a:cs typeface="Courier New" pitchFamily="34" charset="-120"/>
              </a:rPr>
              <a:t>Age_Group</a:t>
            </a:r>
            <a:endParaRPr lang="en-US" sz="1100" dirty="0"/>
          </a:p>
        </p:txBody>
      </p:sp>
      <p:sp>
        <p:nvSpPr>
          <p:cNvPr id="12" name="Text 10"/>
          <p:cNvSpPr/>
          <p:nvPr/>
        </p:nvSpPr>
        <p:spPr>
          <a:xfrm>
            <a:off x="320040" y="3182112"/>
            <a:ext cx="11475720" cy="347472"/>
          </a:xfrm>
          <a:prstGeom prst="rect">
            <a:avLst/>
          </a:prstGeom>
          <a:noFill/>
          <a:ln/>
        </p:spPr>
        <p:txBody>
          <a:bodyPr wrap="square" rtlCol="0" anchor="ctr"/>
          <a:lstStyle/>
          <a:p>
            <a:pPr indent="0" marL="0">
              <a:buNone/>
            </a:pPr>
            <a:r>
              <a:rPr lang="en-US" sz="1200" b="1" dirty="0">
                <a:solidFill>
                  <a:srgbClr val="006D77"/>
                </a:solidFill>
                <a:latin typeface="Calibri" pitchFamily="34" charset="0"/>
                <a:ea typeface="Calibri" pitchFamily="34" charset="-122"/>
                <a:cs typeface="Calibri" pitchFamily="34" charset="-120"/>
              </a:rPr>
              <a:t>RULES — Add each row one by one by clicking "Add Rule" in the dialog:</a:t>
            </a:r>
            <a:endParaRPr lang="en-US" sz="1200" dirty="0"/>
          </a:p>
        </p:txBody>
      </p:sp>
      <p:sp>
        <p:nvSpPr>
          <p:cNvPr id="13" name="Shape 11"/>
          <p:cNvSpPr/>
          <p:nvPr/>
        </p:nvSpPr>
        <p:spPr>
          <a:xfrm>
            <a:off x="320040" y="3611880"/>
            <a:ext cx="1115568" cy="384048"/>
          </a:xfrm>
          <a:prstGeom prst="rect">
            <a:avLst/>
          </a:prstGeom>
          <a:solidFill>
            <a:srgbClr val="006D77"/>
          </a:solidFill>
          <a:ln w="6350">
            <a:solidFill>
              <a:srgbClr val="006D77"/>
            </a:solidFill>
            <a:prstDash val="solid"/>
          </a:ln>
        </p:spPr>
      </p:sp>
      <p:sp>
        <p:nvSpPr>
          <p:cNvPr id="14" name="Text 12"/>
          <p:cNvSpPr/>
          <p:nvPr/>
        </p:nvSpPr>
        <p:spPr>
          <a:xfrm>
            <a:off x="320040" y="3611880"/>
            <a:ext cx="1115568" cy="38404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Condition</a:t>
            </a:r>
            <a:endParaRPr lang="en-US" sz="1000" dirty="0"/>
          </a:p>
        </p:txBody>
      </p:sp>
      <p:sp>
        <p:nvSpPr>
          <p:cNvPr id="15" name="Shape 13"/>
          <p:cNvSpPr/>
          <p:nvPr/>
        </p:nvSpPr>
        <p:spPr>
          <a:xfrm>
            <a:off x="1481328" y="3611880"/>
            <a:ext cx="1572768" cy="384048"/>
          </a:xfrm>
          <a:prstGeom prst="rect">
            <a:avLst/>
          </a:prstGeom>
          <a:solidFill>
            <a:srgbClr val="006D77"/>
          </a:solidFill>
          <a:ln w="6350">
            <a:solidFill>
              <a:srgbClr val="006D77"/>
            </a:solidFill>
            <a:prstDash val="solid"/>
          </a:ln>
        </p:spPr>
      </p:sp>
      <p:sp>
        <p:nvSpPr>
          <p:cNvPr id="16" name="Text 14"/>
          <p:cNvSpPr/>
          <p:nvPr/>
        </p:nvSpPr>
        <p:spPr>
          <a:xfrm>
            <a:off x="1481328" y="3611880"/>
            <a:ext cx="1572768" cy="38404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Column Name</a:t>
            </a:r>
            <a:endParaRPr lang="en-US" sz="1000" dirty="0"/>
          </a:p>
        </p:txBody>
      </p:sp>
      <p:sp>
        <p:nvSpPr>
          <p:cNvPr id="17" name="Shape 15"/>
          <p:cNvSpPr/>
          <p:nvPr/>
        </p:nvSpPr>
        <p:spPr>
          <a:xfrm>
            <a:off x="3090672" y="3611880"/>
            <a:ext cx="2560320" cy="384048"/>
          </a:xfrm>
          <a:prstGeom prst="rect">
            <a:avLst/>
          </a:prstGeom>
          <a:solidFill>
            <a:srgbClr val="006D77"/>
          </a:solidFill>
          <a:ln w="6350">
            <a:solidFill>
              <a:srgbClr val="006D77"/>
            </a:solidFill>
            <a:prstDash val="solid"/>
          </a:ln>
        </p:spPr>
      </p:sp>
      <p:sp>
        <p:nvSpPr>
          <p:cNvPr id="18" name="Text 16"/>
          <p:cNvSpPr/>
          <p:nvPr/>
        </p:nvSpPr>
        <p:spPr>
          <a:xfrm>
            <a:off x="3090672" y="3611880"/>
            <a:ext cx="2560320" cy="38404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Operator</a:t>
            </a:r>
            <a:endParaRPr lang="en-US" sz="1000" dirty="0"/>
          </a:p>
        </p:txBody>
      </p:sp>
      <p:sp>
        <p:nvSpPr>
          <p:cNvPr id="19" name="Shape 17"/>
          <p:cNvSpPr/>
          <p:nvPr/>
        </p:nvSpPr>
        <p:spPr>
          <a:xfrm>
            <a:off x="5687568" y="3611880"/>
            <a:ext cx="1755648" cy="384048"/>
          </a:xfrm>
          <a:prstGeom prst="rect">
            <a:avLst/>
          </a:prstGeom>
          <a:solidFill>
            <a:srgbClr val="006D77"/>
          </a:solidFill>
          <a:ln w="6350">
            <a:solidFill>
              <a:srgbClr val="006D77"/>
            </a:solidFill>
            <a:prstDash val="solid"/>
          </a:ln>
        </p:spPr>
      </p:sp>
      <p:sp>
        <p:nvSpPr>
          <p:cNvPr id="20" name="Text 18"/>
          <p:cNvSpPr/>
          <p:nvPr/>
        </p:nvSpPr>
        <p:spPr>
          <a:xfrm>
            <a:off x="5687568" y="3611880"/>
            <a:ext cx="1755648" cy="38404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Value</a:t>
            </a:r>
            <a:endParaRPr lang="en-US" sz="1000" dirty="0"/>
          </a:p>
        </p:txBody>
      </p:sp>
      <p:sp>
        <p:nvSpPr>
          <p:cNvPr id="21" name="Shape 19"/>
          <p:cNvSpPr/>
          <p:nvPr/>
        </p:nvSpPr>
        <p:spPr>
          <a:xfrm>
            <a:off x="7479792" y="3611880"/>
            <a:ext cx="1517904" cy="384048"/>
          </a:xfrm>
          <a:prstGeom prst="rect">
            <a:avLst/>
          </a:prstGeom>
          <a:solidFill>
            <a:srgbClr val="006D77"/>
          </a:solidFill>
          <a:ln w="6350">
            <a:solidFill>
              <a:srgbClr val="006D77"/>
            </a:solidFill>
            <a:prstDash val="solid"/>
          </a:ln>
        </p:spPr>
      </p:sp>
      <p:sp>
        <p:nvSpPr>
          <p:cNvPr id="22" name="Text 20"/>
          <p:cNvSpPr/>
          <p:nvPr/>
        </p:nvSpPr>
        <p:spPr>
          <a:xfrm>
            <a:off x="7479792" y="3611880"/>
            <a:ext cx="1517904" cy="38404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Output</a:t>
            </a:r>
            <a:endParaRPr lang="en-US" sz="1000" dirty="0"/>
          </a:p>
        </p:txBody>
      </p:sp>
      <p:sp>
        <p:nvSpPr>
          <p:cNvPr id="23" name="Shape 21"/>
          <p:cNvSpPr/>
          <p:nvPr/>
        </p:nvSpPr>
        <p:spPr>
          <a:xfrm>
            <a:off x="9034272" y="3611880"/>
            <a:ext cx="2194560" cy="384048"/>
          </a:xfrm>
          <a:prstGeom prst="rect">
            <a:avLst/>
          </a:prstGeom>
          <a:solidFill>
            <a:srgbClr val="006D77"/>
          </a:solidFill>
          <a:ln w="6350">
            <a:solidFill>
              <a:srgbClr val="006D77"/>
            </a:solidFill>
            <a:prstDash val="solid"/>
          </a:ln>
        </p:spPr>
      </p:sp>
      <p:sp>
        <p:nvSpPr>
          <p:cNvPr id="24" name="Text 22"/>
          <p:cNvSpPr/>
          <p:nvPr/>
        </p:nvSpPr>
        <p:spPr>
          <a:xfrm>
            <a:off x="9034272" y="3611880"/>
            <a:ext cx="2194560" cy="38404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Output Value</a:t>
            </a:r>
            <a:endParaRPr lang="en-US" sz="1000" dirty="0"/>
          </a:p>
        </p:txBody>
      </p:sp>
      <p:sp>
        <p:nvSpPr>
          <p:cNvPr id="25" name="Shape 23"/>
          <p:cNvSpPr/>
          <p:nvPr/>
        </p:nvSpPr>
        <p:spPr>
          <a:xfrm>
            <a:off x="320040" y="3995928"/>
            <a:ext cx="1115568" cy="402336"/>
          </a:xfrm>
          <a:prstGeom prst="rect">
            <a:avLst/>
          </a:prstGeom>
          <a:solidFill>
            <a:srgbClr val="EDF6F9"/>
          </a:solidFill>
          <a:ln w="6350">
            <a:solidFill>
              <a:srgbClr val="D0DCE4"/>
            </a:solidFill>
            <a:prstDash val="solid"/>
          </a:ln>
        </p:spPr>
      </p:sp>
      <p:sp>
        <p:nvSpPr>
          <p:cNvPr id="26" name="Text 24"/>
          <p:cNvSpPr/>
          <p:nvPr/>
        </p:nvSpPr>
        <p:spPr>
          <a:xfrm>
            <a:off x="365760" y="3995928"/>
            <a:ext cx="1042416" cy="402336"/>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If</a:t>
            </a:r>
            <a:endParaRPr lang="en-US" sz="1100" dirty="0"/>
          </a:p>
        </p:txBody>
      </p:sp>
      <p:sp>
        <p:nvSpPr>
          <p:cNvPr id="27" name="Shape 25"/>
          <p:cNvSpPr/>
          <p:nvPr/>
        </p:nvSpPr>
        <p:spPr>
          <a:xfrm>
            <a:off x="1481328" y="3995928"/>
            <a:ext cx="1572768" cy="402336"/>
          </a:xfrm>
          <a:prstGeom prst="rect">
            <a:avLst/>
          </a:prstGeom>
          <a:solidFill>
            <a:srgbClr val="EDF6F9"/>
          </a:solidFill>
          <a:ln w="6350">
            <a:solidFill>
              <a:srgbClr val="D0DCE4"/>
            </a:solidFill>
            <a:prstDash val="solid"/>
          </a:ln>
        </p:spPr>
      </p:sp>
      <p:sp>
        <p:nvSpPr>
          <p:cNvPr id="28" name="Text 26"/>
          <p:cNvSpPr/>
          <p:nvPr/>
        </p:nvSpPr>
        <p:spPr>
          <a:xfrm>
            <a:off x="1527048" y="3995928"/>
            <a:ext cx="1499616" cy="402336"/>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Age</a:t>
            </a:r>
            <a:endParaRPr lang="en-US" sz="1100" dirty="0"/>
          </a:p>
        </p:txBody>
      </p:sp>
      <p:sp>
        <p:nvSpPr>
          <p:cNvPr id="29" name="Shape 27"/>
          <p:cNvSpPr/>
          <p:nvPr/>
        </p:nvSpPr>
        <p:spPr>
          <a:xfrm>
            <a:off x="3090672" y="3995928"/>
            <a:ext cx="2560320" cy="402336"/>
          </a:xfrm>
          <a:prstGeom prst="rect">
            <a:avLst/>
          </a:prstGeom>
          <a:solidFill>
            <a:srgbClr val="EDF6F9"/>
          </a:solidFill>
          <a:ln w="6350">
            <a:solidFill>
              <a:srgbClr val="D0DCE4"/>
            </a:solidFill>
            <a:prstDash val="solid"/>
          </a:ln>
        </p:spPr>
      </p:sp>
      <p:sp>
        <p:nvSpPr>
          <p:cNvPr id="30" name="Text 28"/>
          <p:cNvSpPr/>
          <p:nvPr/>
        </p:nvSpPr>
        <p:spPr>
          <a:xfrm>
            <a:off x="3136392" y="3995928"/>
            <a:ext cx="2487168" cy="402336"/>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is less than</a:t>
            </a:r>
            <a:endParaRPr lang="en-US" sz="1100" dirty="0"/>
          </a:p>
        </p:txBody>
      </p:sp>
      <p:sp>
        <p:nvSpPr>
          <p:cNvPr id="31" name="Shape 29"/>
          <p:cNvSpPr/>
          <p:nvPr/>
        </p:nvSpPr>
        <p:spPr>
          <a:xfrm>
            <a:off x="5687568" y="3995928"/>
            <a:ext cx="1755648" cy="402336"/>
          </a:xfrm>
          <a:prstGeom prst="rect">
            <a:avLst/>
          </a:prstGeom>
          <a:solidFill>
            <a:srgbClr val="EDF6F9"/>
          </a:solidFill>
          <a:ln w="6350">
            <a:solidFill>
              <a:srgbClr val="D0DCE4"/>
            </a:solidFill>
            <a:prstDash val="solid"/>
          </a:ln>
        </p:spPr>
      </p:sp>
      <p:sp>
        <p:nvSpPr>
          <p:cNvPr id="32" name="Text 30"/>
          <p:cNvSpPr/>
          <p:nvPr/>
        </p:nvSpPr>
        <p:spPr>
          <a:xfrm>
            <a:off x="5733288" y="3995928"/>
            <a:ext cx="1682496" cy="402336"/>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18</a:t>
            </a:r>
            <a:endParaRPr lang="en-US" sz="1100" dirty="0"/>
          </a:p>
        </p:txBody>
      </p:sp>
      <p:sp>
        <p:nvSpPr>
          <p:cNvPr id="33" name="Shape 31"/>
          <p:cNvSpPr/>
          <p:nvPr/>
        </p:nvSpPr>
        <p:spPr>
          <a:xfrm>
            <a:off x="7479792" y="3995928"/>
            <a:ext cx="1517904" cy="402336"/>
          </a:xfrm>
          <a:prstGeom prst="rect">
            <a:avLst/>
          </a:prstGeom>
          <a:solidFill>
            <a:srgbClr val="EDF6F9"/>
          </a:solidFill>
          <a:ln w="6350">
            <a:solidFill>
              <a:srgbClr val="D0DCE4"/>
            </a:solidFill>
            <a:prstDash val="solid"/>
          </a:ln>
        </p:spPr>
      </p:sp>
      <p:sp>
        <p:nvSpPr>
          <p:cNvPr id="34" name="Text 32"/>
          <p:cNvSpPr/>
          <p:nvPr/>
        </p:nvSpPr>
        <p:spPr>
          <a:xfrm>
            <a:off x="7525512" y="3995928"/>
            <a:ext cx="1444752" cy="402336"/>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Then</a:t>
            </a:r>
            <a:endParaRPr lang="en-US" sz="1100" dirty="0"/>
          </a:p>
        </p:txBody>
      </p:sp>
      <p:sp>
        <p:nvSpPr>
          <p:cNvPr id="35" name="Shape 33"/>
          <p:cNvSpPr/>
          <p:nvPr/>
        </p:nvSpPr>
        <p:spPr>
          <a:xfrm>
            <a:off x="9034272" y="3995928"/>
            <a:ext cx="2194560" cy="402336"/>
          </a:xfrm>
          <a:prstGeom prst="rect">
            <a:avLst/>
          </a:prstGeom>
          <a:solidFill>
            <a:srgbClr val="EDF6F9"/>
          </a:solidFill>
          <a:ln w="6350">
            <a:solidFill>
              <a:srgbClr val="D0DCE4"/>
            </a:solidFill>
            <a:prstDash val="solid"/>
          </a:ln>
        </p:spPr>
      </p:sp>
      <p:sp>
        <p:nvSpPr>
          <p:cNvPr id="36" name="Text 34"/>
          <p:cNvSpPr/>
          <p:nvPr/>
        </p:nvSpPr>
        <p:spPr>
          <a:xfrm>
            <a:off x="9079992" y="3995928"/>
            <a:ext cx="2121408" cy="402336"/>
          </a:xfrm>
          <a:prstGeom prst="rect">
            <a:avLst/>
          </a:prstGeom>
          <a:noFill/>
          <a:ln/>
        </p:spPr>
        <p:txBody>
          <a:bodyPr wrap="square" rtlCol="0" anchor="ctr"/>
          <a:lstStyle/>
          <a:p>
            <a:pPr indent="0" marL="0">
              <a:buNone/>
            </a:pPr>
            <a:r>
              <a:rPr lang="en-US" sz="1100" b="1" dirty="0">
                <a:solidFill>
                  <a:srgbClr val="006D77"/>
                </a:solidFill>
                <a:latin typeface="Calibri" pitchFamily="34" charset="0"/>
                <a:ea typeface="Calibri" pitchFamily="34" charset="-122"/>
                <a:cs typeface="Calibri" pitchFamily="34" charset="-120"/>
              </a:rPr>
              <a:t>Child</a:t>
            </a:r>
            <a:endParaRPr lang="en-US" sz="1100" dirty="0"/>
          </a:p>
        </p:txBody>
      </p:sp>
      <p:sp>
        <p:nvSpPr>
          <p:cNvPr id="37" name="Shape 35"/>
          <p:cNvSpPr/>
          <p:nvPr/>
        </p:nvSpPr>
        <p:spPr>
          <a:xfrm>
            <a:off x="320040" y="4434840"/>
            <a:ext cx="1115568" cy="402336"/>
          </a:xfrm>
          <a:prstGeom prst="rect">
            <a:avLst/>
          </a:prstGeom>
          <a:solidFill>
            <a:srgbClr val="FFFFFF"/>
          </a:solidFill>
          <a:ln w="6350">
            <a:solidFill>
              <a:srgbClr val="D0DCE4"/>
            </a:solidFill>
            <a:prstDash val="solid"/>
          </a:ln>
        </p:spPr>
      </p:sp>
      <p:sp>
        <p:nvSpPr>
          <p:cNvPr id="38" name="Text 36"/>
          <p:cNvSpPr/>
          <p:nvPr/>
        </p:nvSpPr>
        <p:spPr>
          <a:xfrm>
            <a:off x="365760" y="4434840"/>
            <a:ext cx="1042416" cy="402336"/>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Else If</a:t>
            </a:r>
            <a:endParaRPr lang="en-US" sz="1100" dirty="0"/>
          </a:p>
        </p:txBody>
      </p:sp>
      <p:sp>
        <p:nvSpPr>
          <p:cNvPr id="39" name="Shape 37"/>
          <p:cNvSpPr/>
          <p:nvPr/>
        </p:nvSpPr>
        <p:spPr>
          <a:xfrm>
            <a:off x="1481328" y="4434840"/>
            <a:ext cx="1572768" cy="402336"/>
          </a:xfrm>
          <a:prstGeom prst="rect">
            <a:avLst/>
          </a:prstGeom>
          <a:solidFill>
            <a:srgbClr val="FFFFFF"/>
          </a:solidFill>
          <a:ln w="6350">
            <a:solidFill>
              <a:srgbClr val="D0DCE4"/>
            </a:solidFill>
            <a:prstDash val="solid"/>
          </a:ln>
        </p:spPr>
      </p:sp>
      <p:sp>
        <p:nvSpPr>
          <p:cNvPr id="40" name="Text 38"/>
          <p:cNvSpPr/>
          <p:nvPr/>
        </p:nvSpPr>
        <p:spPr>
          <a:xfrm>
            <a:off x="1527048" y="4434840"/>
            <a:ext cx="1499616" cy="402336"/>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Age</a:t>
            </a:r>
            <a:endParaRPr lang="en-US" sz="1100" dirty="0"/>
          </a:p>
        </p:txBody>
      </p:sp>
      <p:sp>
        <p:nvSpPr>
          <p:cNvPr id="41" name="Shape 39"/>
          <p:cNvSpPr/>
          <p:nvPr/>
        </p:nvSpPr>
        <p:spPr>
          <a:xfrm>
            <a:off x="3090672" y="4434840"/>
            <a:ext cx="2560320" cy="402336"/>
          </a:xfrm>
          <a:prstGeom prst="rect">
            <a:avLst/>
          </a:prstGeom>
          <a:solidFill>
            <a:srgbClr val="FFFFFF"/>
          </a:solidFill>
          <a:ln w="6350">
            <a:solidFill>
              <a:srgbClr val="D0DCE4"/>
            </a:solidFill>
            <a:prstDash val="solid"/>
          </a:ln>
        </p:spPr>
      </p:sp>
      <p:sp>
        <p:nvSpPr>
          <p:cNvPr id="42" name="Text 40"/>
          <p:cNvSpPr/>
          <p:nvPr/>
        </p:nvSpPr>
        <p:spPr>
          <a:xfrm>
            <a:off x="3136392" y="4434840"/>
            <a:ext cx="2487168" cy="402336"/>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is less than</a:t>
            </a:r>
            <a:endParaRPr lang="en-US" sz="1100" dirty="0"/>
          </a:p>
        </p:txBody>
      </p:sp>
      <p:sp>
        <p:nvSpPr>
          <p:cNvPr id="43" name="Shape 41"/>
          <p:cNvSpPr/>
          <p:nvPr/>
        </p:nvSpPr>
        <p:spPr>
          <a:xfrm>
            <a:off x="5687568" y="4434840"/>
            <a:ext cx="1755648" cy="402336"/>
          </a:xfrm>
          <a:prstGeom prst="rect">
            <a:avLst/>
          </a:prstGeom>
          <a:solidFill>
            <a:srgbClr val="FFFFFF"/>
          </a:solidFill>
          <a:ln w="6350">
            <a:solidFill>
              <a:srgbClr val="D0DCE4"/>
            </a:solidFill>
            <a:prstDash val="solid"/>
          </a:ln>
        </p:spPr>
      </p:sp>
      <p:sp>
        <p:nvSpPr>
          <p:cNvPr id="44" name="Text 42"/>
          <p:cNvSpPr/>
          <p:nvPr/>
        </p:nvSpPr>
        <p:spPr>
          <a:xfrm>
            <a:off x="5733288" y="4434840"/>
            <a:ext cx="1682496" cy="402336"/>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35</a:t>
            </a:r>
            <a:endParaRPr lang="en-US" sz="1100" dirty="0"/>
          </a:p>
        </p:txBody>
      </p:sp>
      <p:sp>
        <p:nvSpPr>
          <p:cNvPr id="45" name="Shape 43"/>
          <p:cNvSpPr/>
          <p:nvPr/>
        </p:nvSpPr>
        <p:spPr>
          <a:xfrm>
            <a:off x="7479792" y="4434840"/>
            <a:ext cx="1517904" cy="402336"/>
          </a:xfrm>
          <a:prstGeom prst="rect">
            <a:avLst/>
          </a:prstGeom>
          <a:solidFill>
            <a:srgbClr val="FFFFFF"/>
          </a:solidFill>
          <a:ln w="6350">
            <a:solidFill>
              <a:srgbClr val="D0DCE4"/>
            </a:solidFill>
            <a:prstDash val="solid"/>
          </a:ln>
        </p:spPr>
      </p:sp>
      <p:sp>
        <p:nvSpPr>
          <p:cNvPr id="46" name="Text 44"/>
          <p:cNvSpPr/>
          <p:nvPr/>
        </p:nvSpPr>
        <p:spPr>
          <a:xfrm>
            <a:off x="7525512" y="4434840"/>
            <a:ext cx="1444752" cy="402336"/>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Then</a:t>
            </a:r>
            <a:endParaRPr lang="en-US" sz="1100" dirty="0"/>
          </a:p>
        </p:txBody>
      </p:sp>
      <p:sp>
        <p:nvSpPr>
          <p:cNvPr id="47" name="Shape 45"/>
          <p:cNvSpPr/>
          <p:nvPr/>
        </p:nvSpPr>
        <p:spPr>
          <a:xfrm>
            <a:off x="9034272" y="4434840"/>
            <a:ext cx="2194560" cy="402336"/>
          </a:xfrm>
          <a:prstGeom prst="rect">
            <a:avLst/>
          </a:prstGeom>
          <a:solidFill>
            <a:srgbClr val="FFFFFF"/>
          </a:solidFill>
          <a:ln w="6350">
            <a:solidFill>
              <a:srgbClr val="D0DCE4"/>
            </a:solidFill>
            <a:prstDash val="solid"/>
          </a:ln>
        </p:spPr>
      </p:sp>
      <p:sp>
        <p:nvSpPr>
          <p:cNvPr id="48" name="Text 46"/>
          <p:cNvSpPr/>
          <p:nvPr/>
        </p:nvSpPr>
        <p:spPr>
          <a:xfrm>
            <a:off x="9079992" y="4434840"/>
            <a:ext cx="2121408" cy="402336"/>
          </a:xfrm>
          <a:prstGeom prst="rect">
            <a:avLst/>
          </a:prstGeom>
          <a:noFill/>
          <a:ln/>
        </p:spPr>
        <p:txBody>
          <a:bodyPr wrap="square" rtlCol="0" anchor="ctr"/>
          <a:lstStyle/>
          <a:p>
            <a:pPr indent="0" marL="0">
              <a:buNone/>
            </a:pPr>
            <a:r>
              <a:rPr lang="en-US" sz="1100" b="1" dirty="0">
                <a:solidFill>
                  <a:srgbClr val="006D77"/>
                </a:solidFill>
                <a:latin typeface="Calibri" pitchFamily="34" charset="0"/>
                <a:ea typeface="Calibri" pitchFamily="34" charset="-122"/>
                <a:cs typeface="Calibri" pitchFamily="34" charset="-120"/>
              </a:rPr>
              <a:t>Young Adult</a:t>
            </a:r>
            <a:endParaRPr lang="en-US" sz="1100" dirty="0"/>
          </a:p>
        </p:txBody>
      </p:sp>
      <p:sp>
        <p:nvSpPr>
          <p:cNvPr id="49" name="Shape 47"/>
          <p:cNvSpPr/>
          <p:nvPr/>
        </p:nvSpPr>
        <p:spPr>
          <a:xfrm>
            <a:off x="320040" y="4873752"/>
            <a:ext cx="1115568" cy="402336"/>
          </a:xfrm>
          <a:prstGeom prst="rect">
            <a:avLst/>
          </a:prstGeom>
          <a:solidFill>
            <a:srgbClr val="EDF6F9"/>
          </a:solidFill>
          <a:ln w="6350">
            <a:solidFill>
              <a:srgbClr val="D0DCE4"/>
            </a:solidFill>
            <a:prstDash val="solid"/>
          </a:ln>
        </p:spPr>
      </p:sp>
      <p:sp>
        <p:nvSpPr>
          <p:cNvPr id="50" name="Text 48"/>
          <p:cNvSpPr/>
          <p:nvPr/>
        </p:nvSpPr>
        <p:spPr>
          <a:xfrm>
            <a:off x="365760" y="4873752"/>
            <a:ext cx="1042416" cy="402336"/>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Else If</a:t>
            </a:r>
            <a:endParaRPr lang="en-US" sz="1100" dirty="0"/>
          </a:p>
        </p:txBody>
      </p:sp>
      <p:sp>
        <p:nvSpPr>
          <p:cNvPr id="51" name="Shape 49"/>
          <p:cNvSpPr/>
          <p:nvPr/>
        </p:nvSpPr>
        <p:spPr>
          <a:xfrm>
            <a:off x="1481328" y="4873752"/>
            <a:ext cx="1572768" cy="402336"/>
          </a:xfrm>
          <a:prstGeom prst="rect">
            <a:avLst/>
          </a:prstGeom>
          <a:solidFill>
            <a:srgbClr val="EDF6F9"/>
          </a:solidFill>
          <a:ln w="6350">
            <a:solidFill>
              <a:srgbClr val="D0DCE4"/>
            </a:solidFill>
            <a:prstDash val="solid"/>
          </a:ln>
        </p:spPr>
      </p:sp>
      <p:sp>
        <p:nvSpPr>
          <p:cNvPr id="52" name="Text 50"/>
          <p:cNvSpPr/>
          <p:nvPr/>
        </p:nvSpPr>
        <p:spPr>
          <a:xfrm>
            <a:off x="1527048" y="4873752"/>
            <a:ext cx="1499616" cy="402336"/>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Age</a:t>
            </a:r>
            <a:endParaRPr lang="en-US" sz="1100" dirty="0"/>
          </a:p>
        </p:txBody>
      </p:sp>
      <p:sp>
        <p:nvSpPr>
          <p:cNvPr id="53" name="Shape 51"/>
          <p:cNvSpPr/>
          <p:nvPr/>
        </p:nvSpPr>
        <p:spPr>
          <a:xfrm>
            <a:off x="3090672" y="4873752"/>
            <a:ext cx="2560320" cy="402336"/>
          </a:xfrm>
          <a:prstGeom prst="rect">
            <a:avLst/>
          </a:prstGeom>
          <a:solidFill>
            <a:srgbClr val="EDF6F9"/>
          </a:solidFill>
          <a:ln w="6350">
            <a:solidFill>
              <a:srgbClr val="D0DCE4"/>
            </a:solidFill>
            <a:prstDash val="solid"/>
          </a:ln>
        </p:spPr>
      </p:sp>
      <p:sp>
        <p:nvSpPr>
          <p:cNvPr id="54" name="Text 52"/>
          <p:cNvSpPr/>
          <p:nvPr/>
        </p:nvSpPr>
        <p:spPr>
          <a:xfrm>
            <a:off x="3136392" y="4873752"/>
            <a:ext cx="2487168" cy="402336"/>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is less than</a:t>
            </a:r>
            <a:endParaRPr lang="en-US" sz="1100" dirty="0"/>
          </a:p>
        </p:txBody>
      </p:sp>
      <p:sp>
        <p:nvSpPr>
          <p:cNvPr id="55" name="Shape 53"/>
          <p:cNvSpPr/>
          <p:nvPr/>
        </p:nvSpPr>
        <p:spPr>
          <a:xfrm>
            <a:off x="5687568" y="4873752"/>
            <a:ext cx="1755648" cy="402336"/>
          </a:xfrm>
          <a:prstGeom prst="rect">
            <a:avLst/>
          </a:prstGeom>
          <a:solidFill>
            <a:srgbClr val="EDF6F9"/>
          </a:solidFill>
          <a:ln w="6350">
            <a:solidFill>
              <a:srgbClr val="D0DCE4"/>
            </a:solidFill>
            <a:prstDash val="solid"/>
          </a:ln>
        </p:spPr>
      </p:sp>
      <p:sp>
        <p:nvSpPr>
          <p:cNvPr id="56" name="Text 54"/>
          <p:cNvSpPr/>
          <p:nvPr/>
        </p:nvSpPr>
        <p:spPr>
          <a:xfrm>
            <a:off x="5733288" y="4873752"/>
            <a:ext cx="1682496" cy="402336"/>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60</a:t>
            </a:r>
            <a:endParaRPr lang="en-US" sz="1100" dirty="0"/>
          </a:p>
        </p:txBody>
      </p:sp>
      <p:sp>
        <p:nvSpPr>
          <p:cNvPr id="57" name="Shape 55"/>
          <p:cNvSpPr/>
          <p:nvPr/>
        </p:nvSpPr>
        <p:spPr>
          <a:xfrm>
            <a:off x="7479792" y="4873752"/>
            <a:ext cx="1517904" cy="402336"/>
          </a:xfrm>
          <a:prstGeom prst="rect">
            <a:avLst/>
          </a:prstGeom>
          <a:solidFill>
            <a:srgbClr val="EDF6F9"/>
          </a:solidFill>
          <a:ln w="6350">
            <a:solidFill>
              <a:srgbClr val="D0DCE4"/>
            </a:solidFill>
            <a:prstDash val="solid"/>
          </a:ln>
        </p:spPr>
      </p:sp>
      <p:sp>
        <p:nvSpPr>
          <p:cNvPr id="58" name="Text 56"/>
          <p:cNvSpPr/>
          <p:nvPr/>
        </p:nvSpPr>
        <p:spPr>
          <a:xfrm>
            <a:off x="7525512" y="4873752"/>
            <a:ext cx="1444752" cy="402336"/>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Then</a:t>
            </a:r>
            <a:endParaRPr lang="en-US" sz="1100" dirty="0"/>
          </a:p>
        </p:txBody>
      </p:sp>
      <p:sp>
        <p:nvSpPr>
          <p:cNvPr id="59" name="Shape 57"/>
          <p:cNvSpPr/>
          <p:nvPr/>
        </p:nvSpPr>
        <p:spPr>
          <a:xfrm>
            <a:off x="9034272" y="4873752"/>
            <a:ext cx="2194560" cy="402336"/>
          </a:xfrm>
          <a:prstGeom prst="rect">
            <a:avLst/>
          </a:prstGeom>
          <a:solidFill>
            <a:srgbClr val="EDF6F9"/>
          </a:solidFill>
          <a:ln w="6350">
            <a:solidFill>
              <a:srgbClr val="D0DCE4"/>
            </a:solidFill>
            <a:prstDash val="solid"/>
          </a:ln>
        </p:spPr>
      </p:sp>
      <p:sp>
        <p:nvSpPr>
          <p:cNvPr id="60" name="Text 58"/>
          <p:cNvSpPr/>
          <p:nvPr/>
        </p:nvSpPr>
        <p:spPr>
          <a:xfrm>
            <a:off x="9079992" y="4873752"/>
            <a:ext cx="2121408" cy="402336"/>
          </a:xfrm>
          <a:prstGeom prst="rect">
            <a:avLst/>
          </a:prstGeom>
          <a:noFill/>
          <a:ln/>
        </p:spPr>
        <p:txBody>
          <a:bodyPr wrap="square" rtlCol="0" anchor="ctr"/>
          <a:lstStyle/>
          <a:p>
            <a:pPr indent="0" marL="0">
              <a:buNone/>
            </a:pPr>
            <a:r>
              <a:rPr lang="en-US" sz="1100" b="1" dirty="0">
                <a:solidFill>
                  <a:srgbClr val="006D77"/>
                </a:solidFill>
                <a:latin typeface="Calibri" pitchFamily="34" charset="0"/>
                <a:ea typeface="Calibri" pitchFamily="34" charset="-122"/>
                <a:cs typeface="Calibri" pitchFamily="34" charset="-120"/>
              </a:rPr>
              <a:t>Middle Aged</a:t>
            </a:r>
            <a:endParaRPr lang="en-US" sz="1100" dirty="0"/>
          </a:p>
        </p:txBody>
      </p:sp>
      <p:sp>
        <p:nvSpPr>
          <p:cNvPr id="61" name="Shape 59"/>
          <p:cNvSpPr/>
          <p:nvPr/>
        </p:nvSpPr>
        <p:spPr>
          <a:xfrm>
            <a:off x="320040" y="5312664"/>
            <a:ext cx="1115568" cy="402336"/>
          </a:xfrm>
          <a:prstGeom prst="rect">
            <a:avLst/>
          </a:prstGeom>
          <a:solidFill>
            <a:srgbClr val="FFFFFF"/>
          </a:solidFill>
          <a:ln w="6350">
            <a:solidFill>
              <a:srgbClr val="D0DCE4"/>
            </a:solidFill>
            <a:prstDash val="solid"/>
          </a:ln>
        </p:spPr>
      </p:sp>
      <p:sp>
        <p:nvSpPr>
          <p:cNvPr id="62" name="Text 60"/>
          <p:cNvSpPr/>
          <p:nvPr/>
        </p:nvSpPr>
        <p:spPr>
          <a:xfrm>
            <a:off x="365760" y="5312664"/>
            <a:ext cx="1042416" cy="402336"/>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Else</a:t>
            </a:r>
            <a:endParaRPr lang="en-US" sz="1100" dirty="0"/>
          </a:p>
        </p:txBody>
      </p:sp>
      <p:sp>
        <p:nvSpPr>
          <p:cNvPr id="63" name="Shape 61"/>
          <p:cNvSpPr/>
          <p:nvPr/>
        </p:nvSpPr>
        <p:spPr>
          <a:xfrm>
            <a:off x="1481328" y="5312664"/>
            <a:ext cx="1572768" cy="402336"/>
          </a:xfrm>
          <a:prstGeom prst="rect">
            <a:avLst/>
          </a:prstGeom>
          <a:solidFill>
            <a:srgbClr val="FFFFFF"/>
          </a:solidFill>
          <a:ln w="6350">
            <a:solidFill>
              <a:srgbClr val="D0DCE4"/>
            </a:solidFill>
            <a:prstDash val="solid"/>
          </a:ln>
        </p:spPr>
      </p:sp>
      <p:sp>
        <p:nvSpPr>
          <p:cNvPr id="64" name="Text 62"/>
          <p:cNvSpPr/>
          <p:nvPr/>
        </p:nvSpPr>
        <p:spPr>
          <a:xfrm>
            <a:off x="1527048" y="5312664"/>
            <a:ext cx="1499616" cy="402336"/>
          </a:xfrm>
          <a:prstGeom prst="rect">
            <a:avLst/>
          </a:prstGeom>
          <a:noFill/>
          <a:ln/>
        </p:spPr>
        <p:txBody>
          <a:bodyPr wrap="square" rtlCol="0" anchor="ctr"/>
          <a:lstStyle/>
          <a:p>
            <a:pPr indent="0" marL="0">
              <a:buNone/>
            </a:pPr>
            <a:endParaRPr lang="en-US" sz="1100" dirty="0"/>
          </a:p>
        </p:txBody>
      </p:sp>
      <p:sp>
        <p:nvSpPr>
          <p:cNvPr id="65" name="Shape 63"/>
          <p:cNvSpPr/>
          <p:nvPr/>
        </p:nvSpPr>
        <p:spPr>
          <a:xfrm>
            <a:off x="3090672" y="5312664"/>
            <a:ext cx="2560320" cy="402336"/>
          </a:xfrm>
          <a:prstGeom prst="rect">
            <a:avLst/>
          </a:prstGeom>
          <a:solidFill>
            <a:srgbClr val="FFFFFF"/>
          </a:solidFill>
          <a:ln w="6350">
            <a:solidFill>
              <a:srgbClr val="D0DCE4"/>
            </a:solidFill>
            <a:prstDash val="solid"/>
          </a:ln>
        </p:spPr>
      </p:sp>
      <p:sp>
        <p:nvSpPr>
          <p:cNvPr id="66" name="Text 64"/>
          <p:cNvSpPr/>
          <p:nvPr/>
        </p:nvSpPr>
        <p:spPr>
          <a:xfrm>
            <a:off x="3136392" y="5312664"/>
            <a:ext cx="2487168" cy="402336"/>
          </a:xfrm>
          <a:prstGeom prst="rect">
            <a:avLst/>
          </a:prstGeom>
          <a:noFill/>
          <a:ln/>
        </p:spPr>
        <p:txBody>
          <a:bodyPr wrap="square" rtlCol="0" anchor="ctr"/>
          <a:lstStyle/>
          <a:p>
            <a:pPr indent="0" marL="0">
              <a:buNone/>
            </a:pPr>
            <a:endParaRPr lang="en-US" sz="1100" dirty="0"/>
          </a:p>
        </p:txBody>
      </p:sp>
      <p:sp>
        <p:nvSpPr>
          <p:cNvPr id="67" name="Shape 65"/>
          <p:cNvSpPr/>
          <p:nvPr/>
        </p:nvSpPr>
        <p:spPr>
          <a:xfrm>
            <a:off x="5687568" y="5312664"/>
            <a:ext cx="1755648" cy="402336"/>
          </a:xfrm>
          <a:prstGeom prst="rect">
            <a:avLst/>
          </a:prstGeom>
          <a:solidFill>
            <a:srgbClr val="FFFFFF"/>
          </a:solidFill>
          <a:ln w="6350">
            <a:solidFill>
              <a:srgbClr val="D0DCE4"/>
            </a:solidFill>
            <a:prstDash val="solid"/>
          </a:ln>
        </p:spPr>
      </p:sp>
      <p:sp>
        <p:nvSpPr>
          <p:cNvPr id="68" name="Text 66"/>
          <p:cNvSpPr/>
          <p:nvPr/>
        </p:nvSpPr>
        <p:spPr>
          <a:xfrm>
            <a:off x="5733288" y="5312664"/>
            <a:ext cx="1682496" cy="402336"/>
          </a:xfrm>
          <a:prstGeom prst="rect">
            <a:avLst/>
          </a:prstGeom>
          <a:noFill/>
          <a:ln/>
        </p:spPr>
        <p:txBody>
          <a:bodyPr wrap="square" rtlCol="0" anchor="ctr"/>
          <a:lstStyle/>
          <a:p>
            <a:pPr indent="0" marL="0">
              <a:buNone/>
            </a:pPr>
            <a:endParaRPr lang="en-US" sz="1100" dirty="0"/>
          </a:p>
        </p:txBody>
      </p:sp>
      <p:sp>
        <p:nvSpPr>
          <p:cNvPr id="69" name="Shape 67"/>
          <p:cNvSpPr/>
          <p:nvPr/>
        </p:nvSpPr>
        <p:spPr>
          <a:xfrm>
            <a:off x="7479792" y="5312664"/>
            <a:ext cx="1517904" cy="402336"/>
          </a:xfrm>
          <a:prstGeom prst="rect">
            <a:avLst/>
          </a:prstGeom>
          <a:solidFill>
            <a:srgbClr val="FFFFFF"/>
          </a:solidFill>
          <a:ln w="6350">
            <a:solidFill>
              <a:srgbClr val="D0DCE4"/>
            </a:solidFill>
            <a:prstDash val="solid"/>
          </a:ln>
        </p:spPr>
      </p:sp>
      <p:sp>
        <p:nvSpPr>
          <p:cNvPr id="70" name="Text 68"/>
          <p:cNvSpPr/>
          <p:nvPr/>
        </p:nvSpPr>
        <p:spPr>
          <a:xfrm>
            <a:off x="7525512" y="5312664"/>
            <a:ext cx="1444752" cy="402336"/>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Then</a:t>
            </a:r>
            <a:endParaRPr lang="en-US" sz="1100" dirty="0"/>
          </a:p>
        </p:txBody>
      </p:sp>
      <p:sp>
        <p:nvSpPr>
          <p:cNvPr id="71" name="Shape 69"/>
          <p:cNvSpPr/>
          <p:nvPr/>
        </p:nvSpPr>
        <p:spPr>
          <a:xfrm>
            <a:off x="9034272" y="5312664"/>
            <a:ext cx="2194560" cy="402336"/>
          </a:xfrm>
          <a:prstGeom prst="rect">
            <a:avLst/>
          </a:prstGeom>
          <a:solidFill>
            <a:srgbClr val="FFFFFF"/>
          </a:solidFill>
          <a:ln w="6350">
            <a:solidFill>
              <a:srgbClr val="D0DCE4"/>
            </a:solidFill>
            <a:prstDash val="solid"/>
          </a:ln>
        </p:spPr>
      </p:sp>
      <p:sp>
        <p:nvSpPr>
          <p:cNvPr id="72" name="Text 70"/>
          <p:cNvSpPr/>
          <p:nvPr/>
        </p:nvSpPr>
        <p:spPr>
          <a:xfrm>
            <a:off x="9079992" y="5312664"/>
            <a:ext cx="2121408" cy="402336"/>
          </a:xfrm>
          <a:prstGeom prst="rect">
            <a:avLst/>
          </a:prstGeom>
          <a:noFill/>
          <a:ln/>
        </p:spPr>
        <p:txBody>
          <a:bodyPr wrap="square" rtlCol="0" anchor="ctr"/>
          <a:lstStyle/>
          <a:p>
            <a:pPr indent="0" marL="0">
              <a:buNone/>
            </a:pPr>
            <a:r>
              <a:rPr lang="en-US" sz="1100" b="1" dirty="0">
                <a:solidFill>
                  <a:srgbClr val="006D77"/>
                </a:solidFill>
                <a:latin typeface="Calibri" pitchFamily="34" charset="0"/>
                <a:ea typeface="Calibri" pitchFamily="34" charset="-122"/>
                <a:cs typeface="Calibri" pitchFamily="34" charset="-120"/>
              </a:rPr>
              <a:t>Senior</a:t>
            </a:r>
            <a:endParaRPr lang="en-US" sz="1100" dirty="0"/>
          </a:p>
        </p:txBody>
      </p:sp>
      <p:sp>
        <p:nvSpPr>
          <p:cNvPr id="73" name="Shape 71"/>
          <p:cNvSpPr/>
          <p:nvPr/>
        </p:nvSpPr>
        <p:spPr>
          <a:xfrm>
            <a:off x="320040" y="5897880"/>
            <a:ext cx="11475720" cy="438912"/>
          </a:xfrm>
          <a:prstGeom prst="roundRect">
            <a:avLst>
              <a:gd name="adj" fmla="val 14583"/>
            </a:avLst>
          </a:prstGeom>
          <a:solidFill>
            <a:srgbClr val="FFF1C1"/>
          </a:solidFill>
          <a:ln w="10160">
            <a:solidFill>
              <a:srgbClr val="E29F18"/>
            </a:solidFill>
            <a:prstDash val="solid"/>
          </a:ln>
        </p:spPr>
      </p:sp>
      <p:sp>
        <p:nvSpPr>
          <p:cNvPr id="74" name="Text 72"/>
          <p:cNvSpPr/>
          <p:nvPr/>
        </p:nvSpPr>
        <p:spPr>
          <a:xfrm>
            <a:off x="429768" y="5943600"/>
            <a:ext cx="11292840" cy="347472"/>
          </a:xfrm>
          <a:prstGeom prst="rect">
            <a:avLst/>
          </a:prstGeom>
          <a:noFill/>
          <a:ln/>
        </p:spPr>
        <p:txBody>
          <a:bodyPr wrap="square" rtlCol="0" anchor="ctr"/>
          <a:lstStyle/>
          <a:p>
            <a:pPr indent="0" marL="0">
              <a:buNone/>
            </a:pPr>
            <a:r>
              <a:rPr lang="en-US" sz="1100" i="1" dirty="0">
                <a:solidFill>
                  <a:srgbClr val="7D5900"/>
                </a:solidFill>
                <a:latin typeface="Calibri" pitchFamily="34" charset="0"/>
                <a:ea typeface="Calibri" pitchFamily="34" charset="-122"/>
                <a:cs typeface="Calibri" pitchFamily="34" charset="-120"/>
              </a:rPr>
              <a:t>⚡  After clicking OK, a new "Age_Group" column appears at the far right of the Patients table. Scroll right to verify it shows Child / Young Adult / Middle Aged / Senior correctly.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AFA"/>
          </a:solidFill>
          <a:ln/>
        </p:spPr>
      </p:sp>
      <p:sp>
        <p:nvSpPr>
          <p:cNvPr id="3" name="Shape 1"/>
          <p:cNvSpPr/>
          <p:nvPr/>
        </p:nvSpPr>
        <p:spPr>
          <a:xfrm>
            <a:off x="0" y="0"/>
            <a:ext cx="82296" cy="6858000"/>
          </a:xfrm>
          <a:prstGeom prst="rect">
            <a:avLst/>
          </a:prstGeom>
          <a:solidFill>
            <a:srgbClr val="006D77"/>
          </a:solidFill>
          <a:ln/>
        </p:spPr>
      </p:sp>
      <p:sp>
        <p:nvSpPr>
          <p:cNvPr id="4" name="Shape 2"/>
          <p:cNvSpPr/>
          <p:nvPr/>
        </p:nvSpPr>
        <p:spPr>
          <a:xfrm>
            <a:off x="0" y="0"/>
            <a:ext cx="12161520" cy="1371600"/>
          </a:xfrm>
          <a:prstGeom prst="rect">
            <a:avLst/>
          </a:prstGeom>
          <a:solidFill>
            <a:srgbClr val="006D77"/>
          </a:solidFill>
          <a:ln/>
        </p:spPr>
      </p:sp>
      <p:sp>
        <p:nvSpPr>
          <p:cNvPr id="5" name="Text 3"/>
          <p:cNvSpPr/>
          <p:nvPr/>
        </p:nvSpPr>
        <p:spPr>
          <a:xfrm>
            <a:off x="320040" y="164592"/>
            <a:ext cx="1152144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STEP 3 — Clean the Admissions Table</a:t>
            </a:r>
            <a:endParaRPr lang="en-US" sz="2400" dirty="0"/>
          </a:p>
        </p:txBody>
      </p:sp>
      <p:sp>
        <p:nvSpPr>
          <p:cNvPr id="6" name="Text 4"/>
          <p:cNvSpPr/>
          <p:nvPr/>
        </p:nvSpPr>
        <p:spPr>
          <a:xfrm>
            <a:off x="320040" y="822960"/>
            <a:ext cx="11521440" cy="411480"/>
          </a:xfrm>
          <a:prstGeom prst="rect">
            <a:avLst/>
          </a:prstGeom>
          <a:noFill/>
          <a:ln/>
        </p:spPr>
        <p:txBody>
          <a:bodyPr wrap="square" rtlCol="0" anchor="ctr"/>
          <a:lstStyle/>
          <a:p>
            <a:pPr indent="0" marL="0">
              <a:buNone/>
            </a:pPr>
            <a:r>
              <a:rPr lang="en-US" sz="1200" i="1" dirty="0">
                <a:solidFill>
                  <a:srgbClr val="83C5BE"/>
                </a:solidFill>
                <a:latin typeface="Calibri" pitchFamily="34" charset="0"/>
                <a:ea typeface="Calibri" pitchFamily="34" charset="-122"/>
                <a:cs typeface="Calibri" pitchFamily="34" charset="-120"/>
              </a:rPr>
              <a:t>Click "HC_Admissions" in the left panel now. All steps below are for this table.</a:t>
            </a:r>
            <a:endParaRPr lang="en-US" sz="1200" dirty="0"/>
          </a:p>
        </p:txBody>
      </p:sp>
      <p:sp>
        <p:nvSpPr>
          <p:cNvPr id="7" name="Shape 5"/>
          <p:cNvSpPr/>
          <p:nvPr/>
        </p:nvSpPr>
        <p:spPr>
          <a:xfrm>
            <a:off x="320040" y="1444752"/>
            <a:ext cx="11475720" cy="512064"/>
          </a:xfrm>
          <a:prstGeom prst="roundRect">
            <a:avLst>
              <a:gd name="adj" fmla="val 10714"/>
            </a:avLst>
          </a:prstGeom>
          <a:solidFill>
            <a:srgbClr val="FFFFFF"/>
          </a:solidFill>
          <a:ln w="10160">
            <a:solidFill>
              <a:srgbClr val="D0DCE4"/>
            </a:solidFill>
            <a:prstDash val="solid"/>
          </a:ln>
        </p:spPr>
      </p:sp>
      <p:sp>
        <p:nvSpPr>
          <p:cNvPr id="8" name="Shape 6"/>
          <p:cNvSpPr/>
          <p:nvPr/>
        </p:nvSpPr>
        <p:spPr>
          <a:xfrm>
            <a:off x="320040" y="1444752"/>
            <a:ext cx="137160" cy="512064"/>
          </a:xfrm>
          <a:prstGeom prst="rect">
            <a:avLst/>
          </a:prstGeom>
          <a:solidFill>
            <a:srgbClr val="008891"/>
          </a:solidFill>
          <a:ln/>
        </p:spPr>
      </p:sp>
      <p:sp>
        <p:nvSpPr>
          <p:cNvPr id="9" name="Shape 7"/>
          <p:cNvSpPr/>
          <p:nvPr/>
        </p:nvSpPr>
        <p:spPr>
          <a:xfrm>
            <a:off x="374904" y="1517904"/>
            <a:ext cx="384048" cy="384048"/>
          </a:xfrm>
          <a:prstGeom prst="ellipse">
            <a:avLst/>
          </a:prstGeom>
          <a:solidFill>
            <a:srgbClr val="008891"/>
          </a:solidFill>
          <a:ln/>
        </p:spPr>
      </p:sp>
      <p:sp>
        <p:nvSpPr>
          <p:cNvPr id="10" name="Text 8"/>
          <p:cNvSpPr/>
          <p:nvPr/>
        </p:nvSpPr>
        <p:spPr>
          <a:xfrm>
            <a:off x="374904" y="1517904"/>
            <a:ext cx="384048"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896112" y="1472184"/>
            <a:ext cx="3566160" cy="256032"/>
          </a:xfrm>
          <a:prstGeom prst="rect">
            <a:avLst/>
          </a:prstGeom>
          <a:noFill/>
          <a:ln/>
        </p:spPr>
        <p:txBody>
          <a:bodyPr wrap="square"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Rename the query</a:t>
            </a:r>
            <a:endParaRPr lang="en-US" sz="1200" dirty="0"/>
          </a:p>
        </p:txBody>
      </p:sp>
      <p:sp>
        <p:nvSpPr>
          <p:cNvPr id="12" name="Text 10"/>
          <p:cNvSpPr/>
          <p:nvPr/>
        </p:nvSpPr>
        <p:spPr>
          <a:xfrm>
            <a:off x="896112" y="1719072"/>
            <a:ext cx="10607040" cy="201168"/>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Right-click "HC_Admissions" in left panel → Rename → type  Admissions  → Enter.</a:t>
            </a:r>
            <a:endParaRPr lang="en-US" sz="1000" dirty="0"/>
          </a:p>
        </p:txBody>
      </p:sp>
      <p:sp>
        <p:nvSpPr>
          <p:cNvPr id="13" name="Shape 11"/>
          <p:cNvSpPr/>
          <p:nvPr/>
        </p:nvSpPr>
        <p:spPr>
          <a:xfrm>
            <a:off x="320040" y="1988820"/>
            <a:ext cx="11475720" cy="512064"/>
          </a:xfrm>
          <a:prstGeom prst="roundRect">
            <a:avLst>
              <a:gd name="adj" fmla="val 10714"/>
            </a:avLst>
          </a:prstGeom>
          <a:solidFill>
            <a:srgbClr val="FFFFFF"/>
          </a:solidFill>
          <a:ln w="10160">
            <a:solidFill>
              <a:srgbClr val="D0DCE4"/>
            </a:solidFill>
            <a:prstDash val="solid"/>
          </a:ln>
        </p:spPr>
      </p:sp>
      <p:sp>
        <p:nvSpPr>
          <p:cNvPr id="14" name="Shape 12"/>
          <p:cNvSpPr/>
          <p:nvPr/>
        </p:nvSpPr>
        <p:spPr>
          <a:xfrm>
            <a:off x="320040" y="1988820"/>
            <a:ext cx="137160" cy="512064"/>
          </a:xfrm>
          <a:prstGeom prst="rect">
            <a:avLst/>
          </a:prstGeom>
          <a:solidFill>
            <a:srgbClr val="008891"/>
          </a:solidFill>
          <a:ln/>
        </p:spPr>
      </p:sp>
      <p:sp>
        <p:nvSpPr>
          <p:cNvPr id="15" name="Shape 13"/>
          <p:cNvSpPr/>
          <p:nvPr/>
        </p:nvSpPr>
        <p:spPr>
          <a:xfrm>
            <a:off x="374904" y="2061972"/>
            <a:ext cx="384048" cy="384048"/>
          </a:xfrm>
          <a:prstGeom prst="ellipse">
            <a:avLst/>
          </a:prstGeom>
          <a:solidFill>
            <a:srgbClr val="008891"/>
          </a:solidFill>
          <a:ln/>
        </p:spPr>
      </p:sp>
      <p:sp>
        <p:nvSpPr>
          <p:cNvPr id="16" name="Text 14"/>
          <p:cNvSpPr/>
          <p:nvPr/>
        </p:nvSpPr>
        <p:spPr>
          <a:xfrm>
            <a:off x="374904" y="2061972"/>
            <a:ext cx="384048"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p:nvPr/>
        </p:nvSpPr>
        <p:spPr>
          <a:xfrm>
            <a:off x="896112" y="2016252"/>
            <a:ext cx="3566160" cy="256032"/>
          </a:xfrm>
          <a:prstGeom prst="rect">
            <a:avLst/>
          </a:prstGeom>
          <a:noFill/>
          <a:ln/>
        </p:spPr>
        <p:txBody>
          <a:bodyPr wrap="square"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Fix Admission_Date data type</a:t>
            </a:r>
            <a:endParaRPr lang="en-US" sz="1200" dirty="0"/>
          </a:p>
        </p:txBody>
      </p:sp>
      <p:sp>
        <p:nvSpPr>
          <p:cNvPr id="18" name="Text 16"/>
          <p:cNvSpPr/>
          <p:nvPr/>
        </p:nvSpPr>
        <p:spPr>
          <a:xfrm>
            <a:off x="896112" y="2263140"/>
            <a:ext cx="10607040" cy="201168"/>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Click the Admission_Date column header. The icon should show a Calendar icon (Date). If it shows ABC (Text), click the icon → select "Date". Repeat for Discharge_Date.</a:t>
            </a:r>
            <a:endParaRPr lang="en-US" sz="1000" dirty="0"/>
          </a:p>
        </p:txBody>
      </p:sp>
      <p:sp>
        <p:nvSpPr>
          <p:cNvPr id="19" name="Shape 17"/>
          <p:cNvSpPr/>
          <p:nvPr/>
        </p:nvSpPr>
        <p:spPr>
          <a:xfrm>
            <a:off x="320040" y="2532888"/>
            <a:ext cx="11475720" cy="512064"/>
          </a:xfrm>
          <a:prstGeom prst="roundRect">
            <a:avLst>
              <a:gd name="adj" fmla="val 10714"/>
            </a:avLst>
          </a:prstGeom>
          <a:solidFill>
            <a:srgbClr val="FFFFFF"/>
          </a:solidFill>
          <a:ln w="10160">
            <a:solidFill>
              <a:srgbClr val="D0DCE4"/>
            </a:solidFill>
            <a:prstDash val="solid"/>
          </a:ln>
        </p:spPr>
      </p:sp>
      <p:sp>
        <p:nvSpPr>
          <p:cNvPr id="20" name="Shape 18"/>
          <p:cNvSpPr/>
          <p:nvPr/>
        </p:nvSpPr>
        <p:spPr>
          <a:xfrm>
            <a:off x="320040" y="2532888"/>
            <a:ext cx="137160" cy="512064"/>
          </a:xfrm>
          <a:prstGeom prst="rect">
            <a:avLst/>
          </a:prstGeom>
          <a:solidFill>
            <a:srgbClr val="008891"/>
          </a:solidFill>
          <a:ln/>
        </p:spPr>
      </p:sp>
      <p:sp>
        <p:nvSpPr>
          <p:cNvPr id="21" name="Shape 19"/>
          <p:cNvSpPr/>
          <p:nvPr/>
        </p:nvSpPr>
        <p:spPr>
          <a:xfrm>
            <a:off x="374904" y="2606040"/>
            <a:ext cx="384048" cy="384048"/>
          </a:xfrm>
          <a:prstGeom prst="ellipse">
            <a:avLst/>
          </a:prstGeom>
          <a:solidFill>
            <a:srgbClr val="008891"/>
          </a:solidFill>
          <a:ln/>
        </p:spPr>
      </p:sp>
      <p:sp>
        <p:nvSpPr>
          <p:cNvPr id="22" name="Text 20"/>
          <p:cNvSpPr/>
          <p:nvPr/>
        </p:nvSpPr>
        <p:spPr>
          <a:xfrm>
            <a:off x="374904" y="2606040"/>
            <a:ext cx="384048"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896112" y="2560320"/>
            <a:ext cx="3566160" cy="256032"/>
          </a:xfrm>
          <a:prstGeom prst="rect">
            <a:avLst/>
          </a:prstGeom>
          <a:noFill/>
          <a:ln/>
        </p:spPr>
        <p:txBody>
          <a:bodyPr wrap="square"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Fix all money columns</a:t>
            </a:r>
            <a:endParaRPr lang="en-US" sz="1200" dirty="0"/>
          </a:p>
        </p:txBody>
      </p:sp>
      <p:sp>
        <p:nvSpPr>
          <p:cNvPr id="24" name="Text 22"/>
          <p:cNvSpPr/>
          <p:nvPr/>
        </p:nvSpPr>
        <p:spPr>
          <a:xfrm>
            <a:off x="896112" y="2807208"/>
            <a:ext cx="10607040" cy="201168"/>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Hold Ctrl, click Total_Bill_PKR, Insurance_Covered_PKR, Out_of_Pocket_PKR. Right-click → "Change Type" → "Whole Number".</a:t>
            </a:r>
            <a:endParaRPr lang="en-US" sz="1000" dirty="0"/>
          </a:p>
        </p:txBody>
      </p:sp>
      <p:sp>
        <p:nvSpPr>
          <p:cNvPr id="25" name="Shape 23"/>
          <p:cNvSpPr/>
          <p:nvPr/>
        </p:nvSpPr>
        <p:spPr>
          <a:xfrm>
            <a:off x="320040" y="3076956"/>
            <a:ext cx="11475720" cy="512064"/>
          </a:xfrm>
          <a:prstGeom prst="roundRect">
            <a:avLst>
              <a:gd name="adj" fmla="val 10714"/>
            </a:avLst>
          </a:prstGeom>
          <a:solidFill>
            <a:srgbClr val="FFFFFF"/>
          </a:solidFill>
          <a:ln w="10160">
            <a:solidFill>
              <a:srgbClr val="D0DCE4"/>
            </a:solidFill>
            <a:prstDash val="solid"/>
          </a:ln>
        </p:spPr>
      </p:sp>
      <p:sp>
        <p:nvSpPr>
          <p:cNvPr id="26" name="Shape 24"/>
          <p:cNvSpPr/>
          <p:nvPr/>
        </p:nvSpPr>
        <p:spPr>
          <a:xfrm>
            <a:off x="320040" y="3076956"/>
            <a:ext cx="137160" cy="512064"/>
          </a:xfrm>
          <a:prstGeom prst="rect">
            <a:avLst/>
          </a:prstGeom>
          <a:solidFill>
            <a:srgbClr val="008891"/>
          </a:solidFill>
          <a:ln/>
        </p:spPr>
      </p:sp>
      <p:sp>
        <p:nvSpPr>
          <p:cNvPr id="27" name="Shape 25"/>
          <p:cNvSpPr/>
          <p:nvPr/>
        </p:nvSpPr>
        <p:spPr>
          <a:xfrm>
            <a:off x="374904" y="3150108"/>
            <a:ext cx="384048" cy="384048"/>
          </a:xfrm>
          <a:prstGeom prst="ellipse">
            <a:avLst/>
          </a:prstGeom>
          <a:solidFill>
            <a:srgbClr val="008891"/>
          </a:solidFill>
          <a:ln/>
        </p:spPr>
      </p:sp>
      <p:sp>
        <p:nvSpPr>
          <p:cNvPr id="28" name="Text 26"/>
          <p:cNvSpPr/>
          <p:nvPr/>
        </p:nvSpPr>
        <p:spPr>
          <a:xfrm>
            <a:off x="374904" y="3150108"/>
            <a:ext cx="384048"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9" name="Text 27"/>
          <p:cNvSpPr/>
          <p:nvPr/>
        </p:nvSpPr>
        <p:spPr>
          <a:xfrm>
            <a:off x="896112" y="3104388"/>
            <a:ext cx="3566160" cy="256032"/>
          </a:xfrm>
          <a:prstGeom prst="rect">
            <a:avLst/>
          </a:prstGeom>
          <a:noFill/>
          <a:ln/>
        </p:spPr>
        <p:txBody>
          <a:bodyPr wrap="square"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Fix Satisfaction_Score type</a:t>
            </a:r>
            <a:endParaRPr lang="en-US" sz="1200" dirty="0"/>
          </a:p>
        </p:txBody>
      </p:sp>
      <p:sp>
        <p:nvSpPr>
          <p:cNvPr id="30" name="Text 28"/>
          <p:cNvSpPr/>
          <p:nvPr/>
        </p:nvSpPr>
        <p:spPr>
          <a:xfrm>
            <a:off x="896112" y="3351276"/>
            <a:ext cx="10607040" cy="201168"/>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Click Satisfaction_Score column → click the type icon → select "Decimal Number". Values like 3.7 need decimal, not whole number.</a:t>
            </a:r>
            <a:endParaRPr lang="en-US" sz="1000" dirty="0"/>
          </a:p>
        </p:txBody>
      </p:sp>
      <p:sp>
        <p:nvSpPr>
          <p:cNvPr id="31" name="Shape 29"/>
          <p:cNvSpPr/>
          <p:nvPr/>
        </p:nvSpPr>
        <p:spPr>
          <a:xfrm>
            <a:off x="320040" y="3621024"/>
            <a:ext cx="11475720" cy="512064"/>
          </a:xfrm>
          <a:prstGeom prst="roundRect">
            <a:avLst>
              <a:gd name="adj" fmla="val 10714"/>
            </a:avLst>
          </a:prstGeom>
          <a:solidFill>
            <a:srgbClr val="FFFFFF"/>
          </a:solidFill>
          <a:ln w="10160">
            <a:solidFill>
              <a:srgbClr val="D0DCE4"/>
            </a:solidFill>
            <a:prstDash val="solid"/>
          </a:ln>
        </p:spPr>
      </p:sp>
      <p:sp>
        <p:nvSpPr>
          <p:cNvPr id="32" name="Shape 30"/>
          <p:cNvSpPr/>
          <p:nvPr/>
        </p:nvSpPr>
        <p:spPr>
          <a:xfrm>
            <a:off x="320040" y="3621024"/>
            <a:ext cx="137160" cy="512064"/>
          </a:xfrm>
          <a:prstGeom prst="rect">
            <a:avLst/>
          </a:prstGeom>
          <a:solidFill>
            <a:srgbClr val="008891"/>
          </a:solidFill>
          <a:ln/>
        </p:spPr>
      </p:sp>
      <p:sp>
        <p:nvSpPr>
          <p:cNvPr id="33" name="Shape 31"/>
          <p:cNvSpPr/>
          <p:nvPr/>
        </p:nvSpPr>
        <p:spPr>
          <a:xfrm>
            <a:off x="374904" y="3694176"/>
            <a:ext cx="384048" cy="384048"/>
          </a:xfrm>
          <a:prstGeom prst="ellipse">
            <a:avLst/>
          </a:prstGeom>
          <a:solidFill>
            <a:srgbClr val="008891"/>
          </a:solidFill>
          <a:ln/>
        </p:spPr>
      </p:sp>
      <p:sp>
        <p:nvSpPr>
          <p:cNvPr id="34" name="Text 32"/>
          <p:cNvSpPr/>
          <p:nvPr/>
        </p:nvSpPr>
        <p:spPr>
          <a:xfrm>
            <a:off x="374904" y="3694176"/>
            <a:ext cx="384048"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5" name="Text 33"/>
          <p:cNvSpPr/>
          <p:nvPr/>
        </p:nvSpPr>
        <p:spPr>
          <a:xfrm>
            <a:off x="896112" y="3648456"/>
            <a:ext cx="3566160" cy="256032"/>
          </a:xfrm>
          <a:prstGeom prst="rect">
            <a:avLst/>
          </a:prstGeom>
          <a:noFill/>
          <a:ln/>
        </p:spPr>
        <p:txBody>
          <a:bodyPr wrap="square"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Fix Length_of_Stay type</a:t>
            </a:r>
            <a:endParaRPr lang="en-US" sz="1200" dirty="0"/>
          </a:p>
        </p:txBody>
      </p:sp>
      <p:sp>
        <p:nvSpPr>
          <p:cNvPr id="36" name="Text 34"/>
          <p:cNvSpPr/>
          <p:nvPr/>
        </p:nvSpPr>
        <p:spPr>
          <a:xfrm>
            <a:off x="896112" y="3895344"/>
            <a:ext cx="10607040" cy="201168"/>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Click Length_of_Stay → type icon → "Whole Number".</a:t>
            </a:r>
            <a:endParaRPr lang="en-US" sz="1000" dirty="0"/>
          </a:p>
        </p:txBody>
      </p:sp>
      <p:sp>
        <p:nvSpPr>
          <p:cNvPr id="37" name="Shape 35"/>
          <p:cNvSpPr/>
          <p:nvPr/>
        </p:nvSpPr>
        <p:spPr>
          <a:xfrm>
            <a:off x="320040" y="4165092"/>
            <a:ext cx="11475720" cy="512064"/>
          </a:xfrm>
          <a:prstGeom prst="roundRect">
            <a:avLst>
              <a:gd name="adj" fmla="val 10714"/>
            </a:avLst>
          </a:prstGeom>
          <a:solidFill>
            <a:srgbClr val="FFFFFF"/>
          </a:solidFill>
          <a:ln w="10160">
            <a:solidFill>
              <a:srgbClr val="D0DCE4"/>
            </a:solidFill>
            <a:prstDash val="solid"/>
          </a:ln>
        </p:spPr>
      </p:sp>
      <p:sp>
        <p:nvSpPr>
          <p:cNvPr id="38" name="Shape 36"/>
          <p:cNvSpPr/>
          <p:nvPr/>
        </p:nvSpPr>
        <p:spPr>
          <a:xfrm>
            <a:off x="320040" y="4165092"/>
            <a:ext cx="137160" cy="512064"/>
          </a:xfrm>
          <a:prstGeom prst="rect">
            <a:avLst/>
          </a:prstGeom>
          <a:solidFill>
            <a:srgbClr val="E29F18"/>
          </a:solidFill>
          <a:ln/>
        </p:spPr>
      </p:sp>
      <p:sp>
        <p:nvSpPr>
          <p:cNvPr id="39" name="Shape 37"/>
          <p:cNvSpPr/>
          <p:nvPr/>
        </p:nvSpPr>
        <p:spPr>
          <a:xfrm>
            <a:off x="374904" y="4238244"/>
            <a:ext cx="384048" cy="384048"/>
          </a:xfrm>
          <a:prstGeom prst="ellipse">
            <a:avLst/>
          </a:prstGeom>
          <a:solidFill>
            <a:srgbClr val="E29F18"/>
          </a:solidFill>
          <a:ln/>
        </p:spPr>
      </p:sp>
      <p:sp>
        <p:nvSpPr>
          <p:cNvPr id="40" name="Text 38"/>
          <p:cNvSpPr/>
          <p:nvPr/>
        </p:nvSpPr>
        <p:spPr>
          <a:xfrm>
            <a:off x="374904" y="4238244"/>
            <a:ext cx="384048"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1" name="Text 39"/>
          <p:cNvSpPr/>
          <p:nvPr/>
        </p:nvSpPr>
        <p:spPr>
          <a:xfrm>
            <a:off x="896112" y="4192524"/>
            <a:ext cx="3566160" cy="256032"/>
          </a:xfrm>
          <a:prstGeom prst="rect">
            <a:avLst/>
          </a:prstGeom>
          <a:noFill/>
          <a:ln/>
        </p:spPr>
        <p:txBody>
          <a:bodyPr wrap="square"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Add a Year column</a:t>
            </a:r>
            <a:endParaRPr lang="en-US" sz="1200" dirty="0"/>
          </a:p>
        </p:txBody>
      </p:sp>
      <p:sp>
        <p:nvSpPr>
          <p:cNvPr id="42" name="Text 40"/>
          <p:cNvSpPr/>
          <p:nvPr/>
        </p:nvSpPr>
        <p:spPr>
          <a:xfrm>
            <a:off x="896112" y="4439412"/>
            <a:ext cx="10607040" cy="201168"/>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"Add Column" ribbon → "Date" → "Year" → select Admission_Date. A new column "Year" appears. Rename it: right-click → Rename → "Admission_Year".</a:t>
            </a:r>
            <a:endParaRPr lang="en-US" sz="1000" dirty="0"/>
          </a:p>
        </p:txBody>
      </p:sp>
      <p:sp>
        <p:nvSpPr>
          <p:cNvPr id="43" name="Shape 41"/>
          <p:cNvSpPr/>
          <p:nvPr/>
        </p:nvSpPr>
        <p:spPr>
          <a:xfrm>
            <a:off x="320040" y="4709160"/>
            <a:ext cx="11475720" cy="512064"/>
          </a:xfrm>
          <a:prstGeom prst="roundRect">
            <a:avLst>
              <a:gd name="adj" fmla="val 10714"/>
            </a:avLst>
          </a:prstGeom>
          <a:solidFill>
            <a:srgbClr val="FFFFFF"/>
          </a:solidFill>
          <a:ln w="10160">
            <a:solidFill>
              <a:srgbClr val="D0DCE4"/>
            </a:solidFill>
            <a:prstDash val="solid"/>
          </a:ln>
        </p:spPr>
      </p:sp>
      <p:sp>
        <p:nvSpPr>
          <p:cNvPr id="44" name="Shape 42"/>
          <p:cNvSpPr/>
          <p:nvPr/>
        </p:nvSpPr>
        <p:spPr>
          <a:xfrm>
            <a:off x="320040" y="4709160"/>
            <a:ext cx="137160" cy="512064"/>
          </a:xfrm>
          <a:prstGeom prst="rect">
            <a:avLst/>
          </a:prstGeom>
          <a:solidFill>
            <a:srgbClr val="E29F18"/>
          </a:solidFill>
          <a:ln/>
        </p:spPr>
      </p:sp>
      <p:sp>
        <p:nvSpPr>
          <p:cNvPr id="45" name="Shape 43"/>
          <p:cNvSpPr/>
          <p:nvPr/>
        </p:nvSpPr>
        <p:spPr>
          <a:xfrm>
            <a:off x="374904" y="4782312"/>
            <a:ext cx="384048" cy="384048"/>
          </a:xfrm>
          <a:prstGeom prst="ellipse">
            <a:avLst/>
          </a:prstGeom>
          <a:solidFill>
            <a:srgbClr val="E29F18"/>
          </a:solidFill>
          <a:ln/>
        </p:spPr>
      </p:sp>
      <p:sp>
        <p:nvSpPr>
          <p:cNvPr id="46" name="Text 44"/>
          <p:cNvSpPr/>
          <p:nvPr/>
        </p:nvSpPr>
        <p:spPr>
          <a:xfrm>
            <a:off x="374904" y="4782312"/>
            <a:ext cx="384048"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7" name="Text 45"/>
          <p:cNvSpPr/>
          <p:nvPr/>
        </p:nvSpPr>
        <p:spPr>
          <a:xfrm>
            <a:off x="896112" y="4736592"/>
            <a:ext cx="3566160" cy="256032"/>
          </a:xfrm>
          <a:prstGeom prst="rect">
            <a:avLst/>
          </a:prstGeom>
          <a:noFill/>
          <a:ln/>
        </p:spPr>
        <p:txBody>
          <a:bodyPr wrap="square"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Add a Month Name column</a:t>
            </a:r>
            <a:endParaRPr lang="en-US" sz="1200" dirty="0"/>
          </a:p>
        </p:txBody>
      </p:sp>
      <p:sp>
        <p:nvSpPr>
          <p:cNvPr id="48" name="Text 46"/>
          <p:cNvSpPr/>
          <p:nvPr/>
        </p:nvSpPr>
        <p:spPr>
          <a:xfrm>
            <a:off x="896112" y="4983480"/>
            <a:ext cx="10607040" cy="201168"/>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"Add Column" → "Date" → "Month" → "Name of Month". Rename to "Admission_Month". This gives us January, February etc for charts.</a:t>
            </a:r>
            <a:endParaRPr lang="en-US" sz="1000" dirty="0"/>
          </a:p>
        </p:txBody>
      </p:sp>
      <p:sp>
        <p:nvSpPr>
          <p:cNvPr id="49" name="Shape 47"/>
          <p:cNvSpPr/>
          <p:nvPr/>
        </p:nvSpPr>
        <p:spPr>
          <a:xfrm>
            <a:off x="320040" y="5253228"/>
            <a:ext cx="11475720" cy="512064"/>
          </a:xfrm>
          <a:prstGeom prst="roundRect">
            <a:avLst>
              <a:gd name="adj" fmla="val 10714"/>
            </a:avLst>
          </a:prstGeom>
          <a:solidFill>
            <a:srgbClr val="FFFFFF"/>
          </a:solidFill>
          <a:ln w="10160">
            <a:solidFill>
              <a:srgbClr val="D0DCE4"/>
            </a:solidFill>
            <a:prstDash val="solid"/>
          </a:ln>
        </p:spPr>
      </p:sp>
      <p:sp>
        <p:nvSpPr>
          <p:cNvPr id="50" name="Shape 48"/>
          <p:cNvSpPr/>
          <p:nvPr/>
        </p:nvSpPr>
        <p:spPr>
          <a:xfrm>
            <a:off x="320040" y="5253228"/>
            <a:ext cx="137160" cy="512064"/>
          </a:xfrm>
          <a:prstGeom prst="rect">
            <a:avLst/>
          </a:prstGeom>
          <a:solidFill>
            <a:srgbClr val="E29F18"/>
          </a:solidFill>
          <a:ln/>
        </p:spPr>
      </p:sp>
      <p:sp>
        <p:nvSpPr>
          <p:cNvPr id="51" name="Shape 49"/>
          <p:cNvSpPr/>
          <p:nvPr/>
        </p:nvSpPr>
        <p:spPr>
          <a:xfrm>
            <a:off x="374904" y="5326380"/>
            <a:ext cx="384048" cy="384048"/>
          </a:xfrm>
          <a:prstGeom prst="ellipse">
            <a:avLst/>
          </a:prstGeom>
          <a:solidFill>
            <a:srgbClr val="E29F18"/>
          </a:solidFill>
          <a:ln/>
        </p:spPr>
      </p:sp>
      <p:sp>
        <p:nvSpPr>
          <p:cNvPr id="52" name="Text 50"/>
          <p:cNvSpPr/>
          <p:nvPr/>
        </p:nvSpPr>
        <p:spPr>
          <a:xfrm>
            <a:off x="374904" y="5326380"/>
            <a:ext cx="384048"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53" name="Text 51"/>
          <p:cNvSpPr/>
          <p:nvPr/>
        </p:nvSpPr>
        <p:spPr>
          <a:xfrm>
            <a:off x="896112" y="5280660"/>
            <a:ext cx="3566160" cy="256032"/>
          </a:xfrm>
          <a:prstGeom prst="rect">
            <a:avLst/>
          </a:prstGeom>
          <a:noFill/>
          <a:ln/>
        </p:spPr>
        <p:txBody>
          <a:bodyPr wrap="square"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Add a Month Number column</a:t>
            </a:r>
            <a:endParaRPr lang="en-US" sz="1200" dirty="0"/>
          </a:p>
        </p:txBody>
      </p:sp>
      <p:sp>
        <p:nvSpPr>
          <p:cNvPr id="54" name="Text 52"/>
          <p:cNvSpPr/>
          <p:nvPr/>
        </p:nvSpPr>
        <p:spPr>
          <a:xfrm>
            <a:off x="896112" y="5527548"/>
            <a:ext cx="10607040" cy="201168"/>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"Add Column" → "Date" → "Month" → "Month". Rename to "Month_Number". We need this to sort months correctly (Jan=1, Feb=2...).</a:t>
            </a:r>
            <a:endParaRPr lang="en-US" sz="1000" dirty="0"/>
          </a:p>
        </p:txBody>
      </p:sp>
      <p:sp>
        <p:nvSpPr>
          <p:cNvPr id="55" name="Shape 53"/>
          <p:cNvSpPr/>
          <p:nvPr/>
        </p:nvSpPr>
        <p:spPr>
          <a:xfrm>
            <a:off x="320040" y="5797296"/>
            <a:ext cx="11475720" cy="512064"/>
          </a:xfrm>
          <a:prstGeom prst="roundRect">
            <a:avLst>
              <a:gd name="adj" fmla="val 10714"/>
            </a:avLst>
          </a:prstGeom>
          <a:solidFill>
            <a:srgbClr val="FFFFFF"/>
          </a:solidFill>
          <a:ln w="10160">
            <a:solidFill>
              <a:srgbClr val="D0DCE4"/>
            </a:solidFill>
            <a:prstDash val="solid"/>
          </a:ln>
        </p:spPr>
      </p:sp>
      <p:sp>
        <p:nvSpPr>
          <p:cNvPr id="56" name="Shape 54"/>
          <p:cNvSpPr/>
          <p:nvPr/>
        </p:nvSpPr>
        <p:spPr>
          <a:xfrm>
            <a:off x="320040" y="5797296"/>
            <a:ext cx="137160" cy="512064"/>
          </a:xfrm>
          <a:prstGeom prst="rect">
            <a:avLst/>
          </a:prstGeom>
          <a:solidFill>
            <a:srgbClr val="1E8449"/>
          </a:solidFill>
          <a:ln/>
        </p:spPr>
      </p:sp>
      <p:sp>
        <p:nvSpPr>
          <p:cNvPr id="57" name="Shape 55"/>
          <p:cNvSpPr/>
          <p:nvPr/>
        </p:nvSpPr>
        <p:spPr>
          <a:xfrm>
            <a:off x="374904" y="5870448"/>
            <a:ext cx="384048" cy="384048"/>
          </a:xfrm>
          <a:prstGeom prst="ellipse">
            <a:avLst/>
          </a:prstGeom>
          <a:solidFill>
            <a:srgbClr val="1E8449"/>
          </a:solidFill>
          <a:ln/>
        </p:spPr>
      </p:sp>
      <p:sp>
        <p:nvSpPr>
          <p:cNvPr id="58" name="Text 56"/>
          <p:cNvSpPr/>
          <p:nvPr/>
        </p:nvSpPr>
        <p:spPr>
          <a:xfrm>
            <a:off x="374904" y="5870448"/>
            <a:ext cx="384048"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59" name="Text 57"/>
          <p:cNvSpPr/>
          <p:nvPr/>
        </p:nvSpPr>
        <p:spPr>
          <a:xfrm>
            <a:off x="896112" y="5824728"/>
            <a:ext cx="3566160" cy="256032"/>
          </a:xfrm>
          <a:prstGeom prst="rect">
            <a:avLst/>
          </a:prstGeom>
          <a:noFill/>
          <a:ln/>
        </p:spPr>
        <p:txBody>
          <a:bodyPr wrap="square"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Remove blank rows</a:t>
            </a:r>
            <a:endParaRPr lang="en-US" sz="1200" dirty="0"/>
          </a:p>
        </p:txBody>
      </p:sp>
      <p:sp>
        <p:nvSpPr>
          <p:cNvPr id="60" name="Text 58"/>
          <p:cNvSpPr/>
          <p:nvPr/>
        </p:nvSpPr>
        <p:spPr>
          <a:xfrm>
            <a:off x="896112" y="6071616"/>
            <a:ext cx="10607040" cy="201168"/>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Home → "Remove Rows" → "Remove Blank Rows". Verify: status bar shows 1000 rows.</a:t>
            </a:r>
            <a:endParaRPr lang="en-US" sz="1000" dirty="0"/>
          </a:p>
        </p:txBody>
      </p:sp>
      <p:sp>
        <p:nvSpPr>
          <p:cNvPr id="61" name="Shape 59"/>
          <p:cNvSpPr/>
          <p:nvPr/>
        </p:nvSpPr>
        <p:spPr>
          <a:xfrm>
            <a:off x="320040" y="6492240"/>
            <a:ext cx="11475720" cy="438912"/>
          </a:xfrm>
          <a:prstGeom prst="roundRect">
            <a:avLst>
              <a:gd name="adj" fmla="val 14583"/>
            </a:avLst>
          </a:prstGeom>
          <a:solidFill>
            <a:srgbClr val="FFF1C1"/>
          </a:solidFill>
          <a:ln w="10160">
            <a:solidFill>
              <a:srgbClr val="E29F18"/>
            </a:solidFill>
            <a:prstDash val="solid"/>
          </a:ln>
        </p:spPr>
      </p:sp>
      <p:sp>
        <p:nvSpPr>
          <p:cNvPr id="62" name="Text 60"/>
          <p:cNvSpPr/>
          <p:nvPr/>
        </p:nvSpPr>
        <p:spPr>
          <a:xfrm>
            <a:off x="429768" y="6537960"/>
            <a:ext cx="11292840" cy="347472"/>
          </a:xfrm>
          <a:prstGeom prst="rect">
            <a:avLst/>
          </a:prstGeom>
          <a:noFill/>
          <a:ln/>
        </p:spPr>
        <p:txBody>
          <a:bodyPr wrap="square" rtlCol="0" anchor="ctr"/>
          <a:lstStyle/>
          <a:p>
            <a:pPr indent="0" marL="0">
              <a:buNone/>
            </a:pPr>
            <a:r>
              <a:rPr lang="en-US" sz="1100" i="1" dirty="0">
                <a:solidFill>
                  <a:srgbClr val="7D5900"/>
                </a:solidFill>
                <a:latin typeface="Calibri" pitchFamily="34" charset="0"/>
                <a:ea typeface="Calibri" pitchFamily="34" charset="-122"/>
                <a:cs typeface="Calibri" pitchFamily="34" charset="-120"/>
              </a:rPr>
              <a:t>⚡  Steps 6-8 are very important — the Year and Month columns will be used in time-based charts. The Month_Number column lets Power BI sort months correctly (1,2,3...) instead of alphabetically.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AFA"/>
          </a:solidFill>
          <a:ln/>
        </p:spPr>
      </p:sp>
      <p:sp>
        <p:nvSpPr>
          <p:cNvPr id="3" name="Shape 1"/>
          <p:cNvSpPr/>
          <p:nvPr/>
        </p:nvSpPr>
        <p:spPr>
          <a:xfrm>
            <a:off x="0" y="0"/>
            <a:ext cx="82296" cy="6858000"/>
          </a:xfrm>
          <a:prstGeom prst="rect">
            <a:avLst/>
          </a:prstGeom>
          <a:solidFill>
            <a:srgbClr val="006D77"/>
          </a:solidFill>
          <a:ln/>
        </p:spPr>
      </p:sp>
      <p:sp>
        <p:nvSpPr>
          <p:cNvPr id="4" name="Shape 2"/>
          <p:cNvSpPr/>
          <p:nvPr/>
        </p:nvSpPr>
        <p:spPr>
          <a:xfrm>
            <a:off x="0" y="0"/>
            <a:ext cx="12161520" cy="1371600"/>
          </a:xfrm>
          <a:prstGeom prst="rect">
            <a:avLst/>
          </a:prstGeom>
          <a:solidFill>
            <a:srgbClr val="006D77"/>
          </a:solidFill>
          <a:ln/>
        </p:spPr>
      </p:sp>
      <p:sp>
        <p:nvSpPr>
          <p:cNvPr id="5" name="Text 3"/>
          <p:cNvSpPr/>
          <p:nvPr/>
        </p:nvSpPr>
        <p:spPr>
          <a:xfrm>
            <a:off x="320040" y="164592"/>
            <a:ext cx="1152144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STEP 4 — Create a Date Table (Blank Query)</a:t>
            </a:r>
            <a:endParaRPr lang="en-US" sz="2400" dirty="0"/>
          </a:p>
        </p:txBody>
      </p:sp>
      <p:sp>
        <p:nvSpPr>
          <p:cNvPr id="6" name="Text 4"/>
          <p:cNvSpPr/>
          <p:nvPr/>
        </p:nvSpPr>
        <p:spPr>
          <a:xfrm>
            <a:off x="320040" y="822960"/>
            <a:ext cx="11521440" cy="411480"/>
          </a:xfrm>
          <a:prstGeom prst="rect">
            <a:avLst/>
          </a:prstGeom>
          <a:noFill/>
          <a:ln/>
        </p:spPr>
        <p:txBody>
          <a:bodyPr wrap="square" rtlCol="0" anchor="ctr"/>
          <a:lstStyle/>
          <a:p>
            <a:pPr indent="0" marL="0">
              <a:buNone/>
            </a:pPr>
            <a:r>
              <a:rPr lang="en-US" sz="1200" i="1" dirty="0">
                <a:solidFill>
                  <a:srgbClr val="83C5BE"/>
                </a:solidFill>
                <a:latin typeface="Calibri" pitchFamily="34" charset="0"/>
                <a:ea typeface="Calibri" pitchFamily="34" charset="-122"/>
                <a:cs typeface="Calibri" pitchFamily="34" charset="-120"/>
              </a:rPr>
              <a:t>A Date table is essential for time intelligence. We create it inside Power Query using M code.</a:t>
            </a:r>
            <a:endParaRPr lang="en-US" sz="1200" dirty="0"/>
          </a:p>
        </p:txBody>
      </p:sp>
      <p:sp>
        <p:nvSpPr>
          <p:cNvPr id="7" name="Shape 5"/>
          <p:cNvSpPr/>
          <p:nvPr/>
        </p:nvSpPr>
        <p:spPr>
          <a:xfrm>
            <a:off x="320040" y="1417320"/>
            <a:ext cx="11475720" cy="868680"/>
          </a:xfrm>
          <a:prstGeom prst="roundRect">
            <a:avLst>
              <a:gd name="adj" fmla="val 9474"/>
            </a:avLst>
          </a:prstGeom>
          <a:solidFill>
            <a:srgbClr val="EDF6F9"/>
          </a:solidFill>
          <a:ln w="10160">
            <a:solidFill>
              <a:srgbClr val="006D77"/>
            </a:solidFill>
            <a:prstDash val="solid"/>
          </a:ln>
        </p:spPr>
      </p:sp>
      <p:sp>
        <p:nvSpPr>
          <p:cNvPr id="8" name="Text 6"/>
          <p:cNvSpPr/>
          <p:nvPr/>
        </p:nvSpPr>
        <p:spPr>
          <a:xfrm>
            <a:off x="475488" y="1481328"/>
            <a:ext cx="11155680" cy="731520"/>
          </a:xfrm>
          <a:prstGeom prst="rect">
            <a:avLst/>
          </a:prstGeom>
          <a:noFill/>
          <a:ln/>
        </p:spPr>
        <p:txBody>
          <a:bodyPr wrap="square" rtlCol="0" anchor="ctr"/>
          <a:lstStyle/>
          <a:p>
            <a:pPr indent="0" marL="0">
              <a:buNone/>
            </a:pPr>
            <a:r>
              <a:rPr lang="en-US" sz="1150" dirty="0">
                <a:solidFill>
                  <a:srgbClr val="1A2B4A"/>
                </a:solidFill>
                <a:latin typeface="Calibri" pitchFamily="34" charset="0"/>
                <a:ea typeface="Calibri" pitchFamily="34" charset="-122"/>
                <a:cs typeface="Calibri" pitchFamily="34" charset="-120"/>
              </a:rPr>
              <a:t>❓  Why do we need a Date Table?</a:t>
            </a:r>
            <a:endParaRPr lang="en-US" sz="1150" dirty="0"/>
          </a:p>
          <a:p>
            <a:pPr indent="0" marL="0">
              <a:buNone/>
            </a:pPr>
            <a:r>
              <a:rPr lang="en-US" sz="1150" dirty="0">
                <a:solidFill>
                  <a:srgbClr val="1A2B4A"/>
                </a:solidFill>
                <a:latin typeface="Calibri" pitchFamily="34" charset="0"/>
                <a:ea typeface="Calibri" pitchFamily="34" charset="-122"/>
                <a:cs typeface="Calibri" pitchFamily="34" charset="-120"/>
              </a:rPr>
              <a:t>Because Power BI's time intelligence functions (like TOTALYTD, SAMEPERIODLASTYEAR) require a proper Date table. Without it, year-over-year comparisons do not work.</a:t>
            </a:r>
            <a:endParaRPr lang="en-US" sz="1150" dirty="0"/>
          </a:p>
        </p:txBody>
      </p:sp>
      <p:sp>
        <p:nvSpPr>
          <p:cNvPr id="9" name="Shape 7"/>
          <p:cNvSpPr/>
          <p:nvPr/>
        </p:nvSpPr>
        <p:spPr>
          <a:xfrm>
            <a:off x="320040" y="2395728"/>
            <a:ext cx="5029200" cy="530352"/>
          </a:xfrm>
          <a:prstGeom prst="roundRect">
            <a:avLst>
              <a:gd name="adj" fmla="val 12069"/>
            </a:avLst>
          </a:prstGeom>
          <a:solidFill>
            <a:srgbClr val="FFFFFF"/>
          </a:solidFill>
          <a:ln w="10160">
            <a:solidFill>
              <a:srgbClr val="D0DCE4"/>
            </a:solidFill>
            <a:prstDash val="solid"/>
          </a:ln>
        </p:spPr>
      </p:sp>
      <p:sp>
        <p:nvSpPr>
          <p:cNvPr id="10" name="Shape 8"/>
          <p:cNvSpPr/>
          <p:nvPr/>
        </p:nvSpPr>
        <p:spPr>
          <a:xfrm>
            <a:off x="411480" y="2468880"/>
            <a:ext cx="402336" cy="402336"/>
          </a:xfrm>
          <a:prstGeom prst="ellipse">
            <a:avLst/>
          </a:prstGeom>
          <a:solidFill>
            <a:srgbClr val="006D77"/>
          </a:solidFill>
          <a:ln/>
        </p:spPr>
      </p:sp>
      <p:sp>
        <p:nvSpPr>
          <p:cNvPr id="11" name="Text 9"/>
          <p:cNvSpPr/>
          <p:nvPr/>
        </p:nvSpPr>
        <p:spPr>
          <a:xfrm>
            <a:off x="411480" y="2468880"/>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932688" y="2468880"/>
            <a:ext cx="4297680" cy="384048"/>
          </a:xfrm>
          <a:prstGeom prst="rect">
            <a:avLst/>
          </a:prstGeom>
          <a:noFill/>
          <a:ln/>
        </p:spPr>
        <p:txBody>
          <a:bodyPr wrap="square" rtlCol="0" anchor="ctr"/>
          <a:lstStyle/>
          <a:p>
            <a:pPr indent="0" marL="0">
              <a:buNone/>
            </a:pPr>
            <a:r>
              <a:rPr lang="en-US" sz="950" dirty="0">
                <a:solidFill>
                  <a:srgbClr val="3D5A6C"/>
                </a:solidFill>
                <a:latin typeface="Calibri" pitchFamily="34" charset="0"/>
                <a:ea typeface="Calibri" pitchFamily="34" charset="-122"/>
                <a:cs typeface="Calibri" pitchFamily="34" charset="-120"/>
              </a:rPr>
              <a:t>In Power Query Editor → Home ribbon → click "New Source" → "Blank Query". A new query called "Query1" appears in the left panel.</a:t>
            </a:r>
            <a:endParaRPr lang="en-US" sz="950" dirty="0"/>
          </a:p>
        </p:txBody>
      </p:sp>
      <p:sp>
        <p:nvSpPr>
          <p:cNvPr id="13" name="Shape 11"/>
          <p:cNvSpPr/>
          <p:nvPr/>
        </p:nvSpPr>
        <p:spPr>
          <a:xfrm>
            <a:off x="320040" y="2990088"/>
            <a:ext cx="5029200" cy="530352"/>
          </a:xfrm>
          <a:prstGeom prst="roundRect">
            <a:avLst>
              <a:gd name="adj" fmla="val 12069"/>
            </a:avLst>
          </a:prstGeom>
          <a:solidFill>
            <a:srgbClr val="FFFFFF"/>
          </a:solidFill>
          <a:ln w="10160">
            <a:solidFill>
              <a:srgbClr val="D0DCE4"/>
            </a:solidFill>
            <a:prstDash val="solid"/>
          </a:ln>
        </p:spPr>
      </p:sp>
      <p:sp>
        <p:nvSpPr>
          <p:cNvPr id="14" name="Shape 12"/>
          <p:cNvSpPr/>
          <p:nvPr/>
        </p:nvSpPr>
        <p:spPr>
          <a:xfrm>
            <a:off x="411480" y="3063240"/>
            <a:ext cx="402336" cy="402336"/>
          </a:xfrm>
          <a:prstGeom prst="ellipse">
            <a:avLst/>
          </a:prstGeom>
          <a:solidFill>
            <a:srgbClr val="006D77"/>
          </a:solidFill>
          <a:ln/>
        </p:spPr>
      </p:sp>
      <p:sp>
        <p:nvSpPr>
          <p:cNvPr id="15" name="Text 13"/>
          <p:cNvSpPr/>
          <p:nvPr/>
        </p:nvSpPr>
        <p:spPr>
          <a:xfrm>
            <a:off x="411480" y="3063240"/>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p:nvPr/>
        </p:nvSpPr>
        <p:spPr>
          <a:xfrm>
            <a:off x="932688" y="3063240"/>
            <a:ext cx="4297680" cy="384048"/>
          </a:xfrm>
          <a:prstGeom prst="rect">
            <a:avLst/>
          </a:prstGeom>
          <a:noFill/>
          <a:ln/>
        </p:spPr>
        <p:txBody>
          <a:bodyPr wrap="square" rtlCol="0" anchor="ctr"/>
          <a:lstStyle/>
          <a:p>
            <a:pPr indent="0" marL="0">
              <a:buNone/>
            </a:pPr>
            <a:r>
              <a:rPr lang="en-US" sz="950" dirty="0">
                <a:solidFill>
                  <a:srgbClr val="3D5A6C"/>
                </a:solidFill>
                <a:latin typeface="Calibri" pitchFamily="34" charset="0"/>
                <a:ea typeface="Calibri" pitchFamily="34" charset="-122"/>
                <a:cs typeface="Calibri" pitchFamily="34" charset="-120"/>
              </a:rPr>
              <a:t>Right-click "Query1" → Rename → type  DimDate  → Enter.</a:t>
            </a:r>
            <a:endParaRPr lang="en-US" sz="950" dirty="0"/>
          </a:p>
        </p:txBody>
      </p:sp>
      <p:sp>
        <p:nvSpPr>
          <p:cNvPr id="17" name="Shape 15"/>
          <p:cNvSpPr/>
          <p:nvPr/>
        </p:nvSpPr>
        <p:spPr>
          <a:xfrm>
            <a:off x="320040" y="3584448"/>
            <a:ext cx="5029200" cy="530352"/>
          </a:xfrm>
          <a:prstGeom prst="roundRect">
            <a:avLst>
              <a:gd name="adj" fmla="val 12069"/>
            </a:avLst>
          </a:prstGeom>
          <a:solidFill>
            <a:srgbClr val="FFFFFF"/>
          </a:solidFill>
          <a:ln w="10160">
            <a:solidFill>
              <a:srgbClr val="D0DCE4"/>
            </a:solidFill>
            <a:prstDash val="solid"/>
          </a:ln>
        </p:spPr>
      </p:sp>
      <p:sp>
        <p:nvSpPr>
          <p:cNvPr id="18" name="Shape 16"/>
          <p:cNvSpPr/>
          <p:nvPr/>
        </p:nvSpPr>
        <p:spPr>
          <a:xfrm>
            <a:off x="411480" y="3657600"/>
            <a:ext cx="402336" cy="402336"/>
          </a:xfrm>
          <a:prstGeom prst="ellipse">
            <a:avLst/>
          </a:prstGeom>
          <a:solidFill>
            <a:srgbClr val="006D77"/>
          </a:solidFill>
          <a:ln/>
        </p:spPr>
      </p:sp>
      <p:sp>
        <p:nvSpPr>
          <p:cNvPr id="19" name="Text 17"/>
          <p:cNvSpPr/>
          <p:nvPr/>
        </p:nvSpPr>
        <p:spPr>
          <a:xfrm>
            <a:off x="411480" y="3657600"/>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932688" y="3657600"/>
            <a:ext cx="4297680" cy="384048"/>
          </a:xfrm>
          <a:prstGeom prst="rect">
            <a:avLst/>
          </a:prstGeom>
          <a:noFill/>
          <a:ln/>
        </p:spPr>
        <p:txBody>
          <a:bodyPr wrap="square" rtlCol="0" anchor="ctr"/>
          <a:lstStyle/>
          <a:p>
            <a:pPr indent="0" marL="0">
              <a:buNone/>
            </a:pPr>
            <a:r>
              <a:rPr lang="en-US" sz="950" dirty="0">
                <a:solidFill>
                  <a:srgbClr val="3D5A6C"/>
                </a:solidFill>
                <a:latin typeface="Calibri" pitchFamily="34" charset="0"/>
                <a:ea typeface="Calibri" pitchFamily="34" charset="-122"/>
                <a:cs typeface="Calibri" pitchFamily="34" charset="-120"/>
              </a:rPr>
              <a:t>With DimDate selected, click "Advanced Editor" (Home ribbon). A code window opens. DELETE all existing code and paste the code below exactly.</a:t>
            </a:r>
            <a:endParaRPr lang="en-US" sz="950" dirty="0"/>
          </a:p>
        </p:txBody>
      </p:sp>
      <p:sp>
        <p:nvSpPr>
          <p:cNvPr id="21" name="Shape 19"/>
          <p:cNvSpPr/>
          <p:nvPr/>
        </p:nvSpPr>
        <p:spPr>
          <a:xfrm>
            <a:off x="320040" y="4178808"/>
            <a:ext cx="5029200" cy="530352"/>
          </a:xfrm>
          <a:prstGeom prst="roundRect">
            <a:avLst>
              <a:gd name="adj" fmla="val 12069"/>
            </a:avLst>
          </a:prstGeom>
          <a:solidFill>
            <a:srgbClr val="FFFFFF"/>
          </a:solidFill>
          <a:ln w="10160">
            <a:solidFill>
              <a:srgbClr val="D0DCE4"/>
            </a:solidFill>
            <a:prstDash val="solid"/>
          </a:ln>
        </p:spPr>
      </p:sp>
      <p:sp>
        <p:nvSpPr>
          <p:cNvPr id="22" name="Shape 20"/>
          <p:cNvSpPr/>
          <p:nvPr/>
        </p:nvSpPr>
        <p:spPr>
          <a:xfrm>
            <a:off x="411480" y="4251960"/>
            <a:ext cx="402336" cy="402336"/>
          </a:xfrm>
          <a:prstGeom prst="ellipse">
            <a:avLst/>
          </a:prstGeom>
          <a:solidFill>
            <a:srgbClr val="006D77"/>
          </a:solidFill>
          <a:ln/>
        </p:spPr>
      </p:sp>
      <p:sp>
        <p:nvSpPr>
          <p:cNvPr id="23" name="Text 21"/>
          <p:cNvSpPr/>
          <p:nvPr/>
        </p:nvSpPr>
        <p:spPr>
          <a:xfrm>
            <a:off x="411480" y="4251960"/>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932688" y="4251960"/>
            <a:ext cx="4297680" cy="384048"/>
          </a:xfrm>
          <a:prstGeom prst="rect">
            <a:avLst/>
          </a:prstGeom>
          <a:noFill/>
          <a:ln/>
        </p:spPr>
        <p:txBody>
          <a:bodyPr wrap="square" rtlCol="0" anchor="ctr"/>
          <a:lstStyle/>
          <a:p>
            <a:pPr indent="0" marL="0">
              <a:buNone/>
            </a:pPr>
            <a:r>
              <a:rPr lang="en-US" sz="950" dirty="0">
                <a:solidFill>
                  <a:srgbClr val="3D5A6C"/>
                </a:solidFill>
                <a:latin typeface="Calibri" pitchFamily="34" charset="0"/>
                <a:ea typeface="Calibri" pitchFamily="34" charset="-122"/>
                <a:cs typeface="Calibri" pitchFamily="34" charset="-120"/>
              </a:rPr>
              <a:t>Click "Done". The DimDate table fills with dates from Jan 2023 to Dec 2024. You should see columns: Date, Year, Month, MonthName, Quarter, DayOfWeek, WeekDay.</a:t>
            </a:r>
            <a:endParaRPr lang="en-US" sz="950" dirty="0"/>
          </a:p>
        </p:txBody>
      </p:sp>
      <p:sp>
        <p:nvSpPr>
          <p:cNvPr id="25" name="Shape 23"/>
          <p:cNvSpPr/>
          <p:nvPr/>
        </p:nvSpPr>
        <p:spPr>
          <a:xfrm>
            <a:off x="320040" y="4773168"/>
            <a:ext cx="5029200" cy="530352"/>
          </a:xfrm>
          <a:prstGeom prst="roundRect">
            <a:avLst>
              <a:gd name="adj" fmla="val 12069"/>
            </a:avLst>
          </a:prstGeom>
          <a:solidFill>
            <a:srgbClr val="FFFFFF"/>
          </a:solidFill>
          <a:ln w="10160">
            <a:solidFill>
              <a:srgbClr val="D0DCE4"/>
            </a:solidFill>
            <a:prstDash val="solid"/>
          </a:ln>
        </p:spPr>
      </p:sp>
      <p:sp>
        <p:nvSpPr>
          <p:cNvPr id="26" name="Shape 24"/>
          <p:cNvSpPr/>
          <p:nvPr/>
        </p:nvSpPr>
        <p:spPr>
          <a:xfrm>
            <a:off x="411480" y="4846320"/>
            <a:ext cx="402336" cy="402336"/>
          </a:xfrm>
          <a:prstGeom prst="ellipse">
            <a:avLst/>
          </a:prstGeom>
          <a:solidFill>
            <a:srgbClr val="006D77"/>
          </a:solidFill>
          <a:ln/>
        </p:spPr>
      </p:sp>
      <p:sp>
        <p:nvSpPr>
          <p:cNvPr id="27" name="Text 25"/>
          <p:cNvSpPr/>
          <p:nvPr/>
        </p:nvSpPr>
        <p:spPr>
          <a:xfrm>
            <a:off x="411480" y="4846320"/>
            <a:ext cx="402336"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932688" y="4846320"/>
            <a:ext cx="4297680" cy="384048"/>
          </a:xfrm>
          <a:prstGeom prst="rect">
            <a:avLst/>
          </a:prstGeom>
          <a:noFill/>
          <a:ln/>
        </p:spPr>
        <p:txBody>
          <a:bodyPr wrap="square" rtlCol="0" anchor="ctr"/>
          <a:lstStyle/>
          <a:p>
            <a:pPr indent="0" marL="0">
              <a:buNone/>
            </a:pPr>
            <a:r>
              <a:rPr lang="en-US" sz="950" dirty="0">
                <a:solidFill>
                  <a:srgbClr val="3D5A6C"/>
                </a:solidFill>
                <a:latin typeface="Calibri" pitchFamily="34" charset="0"/>
                <a:ea typeface="Calibri" pitchFamily="34" charset="-122"/>
                <a:cs typeface="Calibri" pitchFamily="34" charset="-120"/>
              </a:rPr>
              <a:t>Make sure the "Date" column type is set to Date (calendar icon). If not, click the type icon and select Date.</a:t>
            </a:r>
            <a:endParaRPr lang="en-US" sz="950" dirty="0"/>
          </a:p>
        </p:txBody>
      </p:sp>
      <p:sp>
        <p:nvSpPr>
          <p:cNvPr id="29" name="Shape 27"/>
          <p:cNvSpPr/>
          <p:nvPr/>
        </p:nvSpPr>
        <p:spPr>
          <a:xfrm>
            <a:off x="5532120" y="2359152"/>
            <a:ext cx="6537960" cy="3977640"/>
          </a:xfrm>
          <a:prstGeom prst="roundRect">
            <a:avLst>
              <a:gd name="adj" fmla="val 1609"/>
            </a:avLst>
          </a:prstGeom>
          <a:solidFill>
            <a:srgbClr val="1A2B4A"/>
          </a:solidFill>
          <a:ln w="10160">
            <a:solidFill>
              <a:srgbClr val="1A2B4A"/>
            </a:solidFill>
            <a:prstDash val="solid"/>
          </a:ln>
        </p:spPr>
      </p:sp>
      <p:sp>
        <p:nvSpPr>
          <p:cNvPr id="30" name="Text 28"/>
          <p:cNvSpPr/>
          <p:nvPr/>
        </p:nvSpPr>
        <p:spPr>
          <a:xfrm>
            <a:off x="5669280" y="2450592"/>
            <a:ext cx="6309360" cy="3813048"/>
          </a:xfrm>
          <a:prstGeom prst="rect">
            <a:avLst/>
          </a:prstGeom>
          <a:noFill/>
          <a:ln/>
        </p:spPr>
        <p:txBody>
          <a:bodyPr wrap="square" rtlCol="0" anchor="t"/>
          <a:lstStyle/>
          <a:p>
            <a:pPr indent="0" marL="0">
              <a:buNone/>
            </a:pPr>
            <a:r>
              <a:rPr lang="en-US" sz="1100" dirty="0">
                <a:solidFill>
                  <a:srgbClr val="A8D8E0"/>
                </a:solidFill>
                <a:latin typeface="Courier New" pitchFamily="34" charset="0"/>
                <a:ea typeface="Courier New" pitchFamily="34" charset="-122"/>
                <a:cs typeface="Courier New" pitchFamily="34" charset="-120"/>
              </a:rPr>
              <a:t>let</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StartDate = #date(2023,1,1),</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EndDate   = #date(2024,12,31),</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DateList  = List.Dates(StartDate,</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Duration.Days(EndDate-StartDate)+1,</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#duration(1,0,0,0)),</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ToTable = Table.FromList(</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DateList, Splitter.SplitByNothing(),</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{"Date"}),</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ChangeType = Table.TransformColumnTypes(</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ToTable,{{"Date",type date}}),</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AddYear = Table.AddColumn(</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ChangeType,"Year",each</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Date.Year([Date]),Int64.Type),</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AddMonth= Table.AddColumn(</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AddYear,"Month",each</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Date.Month([Date]),Int64.Type),</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AddMonthName=Table.AddColumn(</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AddMonth,"MonthName",each</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Date.ToText([Date],"MMM"),type text),</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AddQtr=Table.AddColumn(</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AddMonthName,"Quarter",each</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"Q"&amp;Text.From(Date.QuarterOfYear([Date])),</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type text)</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in  AddQtr</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AFA"/>
          </a:solidFill>
          <a:ln/>
        </p:spPr>
      </p:sp>
      <p:sp>
        <p:nvSpPr>
          <p:cNvPr id="3" name="Shape 1"/>
          <p:cNvSpPr/>
          <p:nvPr/>
        </p:nvSpPr>
        <p:spPr>
          <a:xfrm>
            <a:off x="0" y="0"/>
            <a:ext cx="82296" cy="6858000"/>
          </a:xfrm>
          <a:prstGeom prst="rect">
            <a:avLst/>
          </a:prstGeom>
          <a:solidFill>
            <a:srgbClr val="006D77"/>
          </a:solidFill>
          <a:ln/>
        </p:spPr>
      </p:sp>
      <p:sp>
        <p:nvSpPr>
          <p:cNvPr id="4" name="Shape 2"/>
          <p:cNvSpPr/>
          <p:nvPr/>
        </p:nvSpPr>
        <p:spPr>
          <a:xfrm>
            <a:off x="0" y="0"/>
            <a:ext cx="12161520" cy="1371600"/>
          </a:xfrm>
          <a:prstGeom prst="rect">
            <a:avLst/>
          </a:prstGeom>
          <a:solidFill>
            <a:srgbClr val="006D77"/>
          </a:solidFill>
          <a:ln/>
        </p:spPr>
      </p:sp>
      <p:sp>
        <p:nvSpPr>
          <p:cNvPr id="5" name="Text 3"/>
          <p:cNvSpPr/>
          <p:nvPr/>
        </p:nvSpPr>
        <p:spPr>
          <a:xfrm>
            <a:off x="320040" y="164592"/>
            <a:ext cx="1152144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STEP 5 — Verify &amp; Close Power Query</a:t>
            </a:r>
            <a:endParaRPr lang="en-US" sz="2400" dirty="0"/>
          </a:p>
        </p:txBody>
      </p:sp>
      <p:sp>
        <p:nvSpPr>
          <p:cNvPr id="6" name="Text 4"/>
          <p:cNvSpPr/>
          <p:nvPr/>
        </p:nvSpPr>
        <p:spPr>
          <a:xfrm>
            <a:off x="320040" y="822960"/>
            <a:ext cx="11521440" cy="411480"/>
          </a:xfrm>
          <a:prstGeom prst="rect">
            <a:avLst/>
          </a:prstGeom>
          <a:noFill/>
          <a:ln/>
        </p:spPr>
        <p:txBody>
          <a:bodyPr wrap="square" rtlCol="0" anchor="ctr"/>
          <a:lstStyle/>
          <a:p>
            <a:pPr indent="0" marL="0">
              <a:buNone/>
            </a:pPr>
            <a:r>
              <a:rPr lang="en-US" sz="1200" i="1" dirty="0">
                <a:solidFill>
                  <a:srgbClr val="83C5BE"/>
                </a:solidFill>
                <a:latin typeface="Calibri" pitchFamily="34" charset="0"/>
                <a:ea typeface="Calibri" pitchFamily="34" charset="-122"/>
                <a:cs typeface="Calibri" pitchFamily="34" charset="-120"/>
              </a:rPr>
              <a:t>Before closing, do a final check on all three tables.</a:t>
            </a:r>
            <a:endParaRPr lang="en-US" sz="1200" dirty="0"/>
          </a:p>
        </p:txBody>
      </p:sp>
      <p:sp>
        <p:nvSpPr>
          <p:cNvPr id="7" name="Text 5"/>
          <p:cNvSpPr/>
          <p:nvPr/>
        </p:nvSpPr>
        <p:spPr>
          <a:xfrm>
            <a:off x="320040" y="1417320"/>
            <a:ext cx="11475720" cy="347472"/>
          </a:xfrm>
          <a:prstGeom prst="rect">
            <a:avLst/>
          </a:prstGeom>
          <a:noFill/>
          <a:ln/>
        </p:spPr>
        <p:txBody>
          <a:bodyPr wrap="square" rtlCol="0" anchor="ctr"/>
          <a:lstStyle/>
          <a:p>
            <a:pPr indent="0" marL="0">
              <a:buNone/>
            </a:pPr>
            <a:r>
              <a:rPr lang="en-US" sz="1200" b="1" spc="200" kern="0" dirty="0">
                <a:solidFill>
                  <a:srgbClr val="006D77"/>
                </a:solidFill>
                <a:latin typeface="Calibri" pitchFamily="34" charset="0"/>
                <a:ea typeface="Calibri" pitchFamily="34" charset="-122"/>
                <a:cs typeface="Calibri" pitchFamily="34" charset="-120"/>
              </a:rPr>
              <a:t>FINAL CHECKS BEFORE CLOSING</a:t>
            </a:r>
            <a:endParaRPr lang="en-US" sz="1200" dirty="0"/>
          </a:p>
        </p:txBody>
      </p:sp>
      <p:sp>
        <p:nvSpPr>
          <p:cNvPr id="8" name="Shape 6"/>
          <p:cNvSpPr/>
          <p:nvPr/>
        </p:nvSpPr>
        <p:spPr>
          <a:xfrm>
            <a:off x="320040" y="1874520"/>
            <a:ext cx="11475720" cy="1298448"/>
          </a:xfrm>
          <a:prstGeom prst="roundRect">
            <a:avLst>
              <a:gd name="adj" fmla="val 6338"/>
            </a:avLst>
          </a:prstGeom>
          <a:solidFill>
            <a:srgbClr val="FFFFFF"/>
          </a:solidFill>
          <a:ln w="10160">
            <a:solidFill>
              <a:srgbClr val="D0DCE4"/>
            </a:solidFill>
            <a:prstDash val="solid"/>
          </a:ln>
        </p:spPr>
      </p:sp>
      <p:sp>
        <p:nvSpPr>
          <p:cNvPr id="9" name="Shape 7"/>
          <p:cNvSpPr/>
          <p:nvPr/>
        </p:nvSpPr>
        <p:spPr>
          <a:xfrm>
            <a:off x="320040" y="1874520"/>
            <a:ext cx="2377440" cy="1298448"/>
          </a:xfrm>
          <a:prstGeom prst="roundRect">
            <a:avLst>
              <a:gd name="adj" fmla="val 6338"/>
            </a:avLst>
          </a:prstGeom>
          <a:solidFill>
            <a:srgbClr val="006D77"/>
          </a:solidFill>
          <a:ln/>
        </p:spPr>
      </p:sp>
      <p:sp>
        <p:nvSpPr>
          <p:cNvPr id="10" name="Text 8"/>
          <p:cNvSpPr/>
          <p:nvPr/>
        </p:nvSpPr>
        <p:spPr>
          <a:xfrm>
            <a:off x="320040" y="1965960"/>
            <a:ext cx="237744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Patients</a:t>
            </a:r>
            <a:endParaRPr lang="en-US" sz="1600" dirty="0"/>
          </a:p>
        </p:txBody>
      </p:sp>
      <p:sp>
        <p:nvSpPr>
          <p:cNvPr id="11" name="Text 9"/>
          <p:cNvSpPr/>
          <p:nvPr/>
        </p:nvSpPr>
        <p:spPr>
          <a:xfrm>
            <a:off x="320040" y="2468880"/>
            <a:ext cx="2377440" cy="594360"/>
          </a:xfrm>
          <a:prstGeom prst="rect">
            <a:avLst/>
          </a:prstGeom>
          <a:noFill/>
          <a:ln/>
        </p:spPr>
        <p:txBody>
          <a:bodyPr wrap="square" rtlCol="0" anchor="ctr"/>
          <a:lstStyle/>
          <a:p>
            <a:pPr algn="ctr" indent="0" marL="0">
              <a:buNone/>
            </a:pPr>
            <a:r>
              <a:rPr lang="en-US" sz="1200" dirty="0">
                <a:solidFill>
                  <a:srgbClr val="D0F0F0"/>
                </a:solidFill>
                <a:latin typeface="Calibri" pitchFamily="34" charset="0"/>
                <a:ea typeface="Calibri" pitchFamily="34" charset="-122"/>
                <a:cs typeface="Calibri" pitchFamily="34" charset="-120"/>
              </a:rPr>
              <a:t>500 rows</a:t>
            </a:r>
            <a:endParaRPr lang="en-US" sz="1200" dirty="0"/>
          </a:p>
          <a:p>
            <a:pPr algn="ctr" indent="0" marL="0">
              <a:buNone/>
            </a:pPr>
            <a:r>
              <a:rPr lang="en-US" sz="1200" dirty="0">
                <a:solidFill>
                  <a:srgbClr val="D0F0F0"/>
                </a:solidFill>
                <a:latin typeface="Calibri" pitchFamily="34" charset="0"/>
                <a:ea typeface="Calibri" pitchFamily="34" charset="-122"/>
                <a:cs typeface="Calibri" pitchFamily="34" charset="-120"/>
              </a:rPr>
              <a:t>8 columns</a:t>
            </a:r>
            <a:endParaRPr lang="en-US" sz="1200" dirty="0"/>
          </a:p>
        </p:txBody>
      </p:sp>
      <p:sp>
        <p:nvSpPr>
          <p:cNvPr id="12" name="Text 10"/>
          <p:cNvSpPr/>
          <p:nvPr/>
        </p:nvSpPr>
        <p:spPr>
          <a:xfrm>
            <a:off x="2834640" y="1984248"/>
            <a:ext cx="8778240" cy="292608"/>
          </a:xfrm>
          <a:prstGeom prst="rect">
            <a:avLst/>
          </a:prstGeom>
          <a:noFill/>
          <a:ln/>
        </p:spPr>
        <p:txBody>
          <a:bodyPr wrap="square" rtlCol="0" anchor="ctr"/>
          <a:lstStyle/>
          <a:p>
            <a:pPr indent="0" marL="0">
              <a:buNone/>
            </a:pPr>
            <a:r>
              <a:rPr lang="en-US" sz="1100" b="1" dirty="0">
                <a:solidFill>
                  <a:srgbClr val="1A2B4A"/>
                </a:solidFill>
                <a:latin typeface="Calibri" pitchFamily="34" charset="0"/>
                <a:ea typeface="Calibri" pitchFamily="34" charset="-122"/>
                <a:cs typeface="Calibri" pitchFamily="34" charset="-120"/>
              </a:rPr>
              <a:t>✔  Must have:</a:t>
            </a:r>
            <a:endParaRPr lang="en-US" sz="1100" dirty="0"/>
          </a:p>
        </p:txBody>
      </p:sp>
      <p:sp>
        <p:nvSpPr>
          <p:cNvPr id="13" name="Text 11"/>
          <p:cNvSpPr/>
          <p:nvPr/>
        </p:nvSpPr>
        <p:spPr>
          <a:xfrm>
            <a:off x="2834640" y="2313432"/>
            <a:ext cx="8778240" cy="68580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Age_Group column exists · Age is Whole Number type · No Contact column</a:t>
            </a:r>
            <a:endParaRPr lang="en-US" sz="1100" dirty="0"/>
          </a:p>
        </p:txBody>
      </p:sp>
      <p:sp>
        <p:nvSpPr>
          <p:cNvPr id="14" name="Shape 12"/>
          <p:cNvSpPr/>
          <p:nvPr/>
        </p:nvSpPr>
        <p:spPr>
          <a:xfrm>
            <a:off x="320040" y="3291840"/>
            <a:ext cx="11475720" cy="1298448"/>
          </a:xfrm>
          <a:prstGeom prst="roundRect">
            <a:avLst>
              <a:gd name="adj" fmla="val 6338"/>
            </a:avLst>
          </a:prstGeom>
          <a:solidFill>
            <a:srgbClr val="FFFFFF"/>
          </a:solidFill>
          <a:ln w="10160">
            <a:solidFill>
              <a:srgbClr val="D0DCE4"/>
            </a:solidFill>
            <a:prstDash val="solid"/>
          </a:ln>
        </p:spPr>
      </p:sp>
      <p:sp>
        <p:nvSpPr>
          <p:cNvPr id="15" name="Shape 13"/>
          <p:cNvSpPr/>
          <p:nvPr/>
        </p:nvSpPr>
        <p:spPr>
          <a:xfrm>
            <a:off x="320040" y="3291840"/>
            <a:ext cx="2377440" cy="1298448"/>
          </a:xfrm>
          <a:prstGeom prst="roundRect">
            <a:avLst>
              <a:gd name="adj" fmla="val 6338"/>
            </a:avLst>
          </a:prstGeom>
          <a:solidFill>
            <a:srgbClr val="008891"/>
          </a:solidFill>
          <a:ln/>
        </p:spPr>
      </p:sp>
      <p:sp>
        <p:nvSpPr>
          <p:cNvPr id="16" name="Text 14"/>
          <p:cNvSpPr/>
          <p:nvPr/>
        </p:nvSpPr>
        <p:spPr>
          <a:xfrm>
            <a:off x="320040" y="3383280"/>
            <a:ext cx="237744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Admissions</a:t>
            </a:r>
            <a:endParaRPr lang="en-US" sz="1600" dirty="0"/>
          </a:p>
        </p:txBody>
      </p:sp>
      <p:sp>
        <p:nvSpPr>
          <p:cNvPr id="17" name="Text 15"/>
          <p:cNvSpPr/>
          <p:nvPr/>
        </p:nvSpPr>
        <p:spPr>
          <a:xfrm>
            <a:off x="320040" y="3886200"/>
            <a:ext cx="2377440" cy="594360"/>
          </a:xfrm>
          <a:prstGeom prst="rect">
            <a:avLst/>
          </a:prstGeom>
          <a:noFill/>
          <a:ln/>
        </p:spPr>
        <p:txBody>
          <a:bodyPr wrap="square" rtlCol="0" anchor="ctr"/>
          <a:lstStyle/>
          <a:p>
            <a:pPr algn="ctr" indent="0" marL="0">
              <a:buNone/>
            </a:pPr>
            <a:r>
              <a:rPr lang="en-US" sz="1200" dirty="0">
                <a:solidFill>
                  <a:srgbClr val="D0F0F0"/>
                </a:solidFill>
                <a:latin typeface="Calibri" pitchFamily="34" charset="0"/>
                <a:ea typeface="Calibri" pitchFamily="34" charset="-122"/>
                <a:cs typeface="Calibri" pitchFamily="34" charset="-120"/>
              </a:rPr>
              <a:t>1000 rows</a:t>
            </a:r>
            <a:endParaRPr lang="en-US" sz="1200" dirty="0"/>
          </a:p>
          <a:p>
            <a:pPr algn="ctr" indent="0" marL="0">
              <a:buNone/>
            </a:pPr>
            <a:r>
              <a:rPr lang="en-US" sz="1200" dirty="0">
                <a:solidFill>
                  <a:srgbClr val="D0F0F0"/>
                </a:solidFill>
                <a:latin typeface="Calibri" pitchFamily="34" charset="0"/>
                <a:ea typeface="Calibri" pitchFamily="34" charset="-122"/>
                <a:cs typeface="Calibri" pitchFamily="34" charset="-120"/>
              </a:rPr>
              <a:t>19 columns</a:t>
            </a:r>
            <a:endParaRPr lang="en-US" sz="1200" dirty="0"/>
          </a:p>
        </p:txBody>
      </p:sp>
      <p:sp>
        <p:nvSpPr>
          <p:cNvPr id="18" name="Text 16"/>
          <p:cNvSpPr/>
          <p:nvPr/>
        </p:nvSpPr>
        <p:spPr>
          <a:xfrm>
            <a:off x="2834640" y="3401568"/>
            <a:ext cx="8778240" cy="292608"/>
          </a:xfrm>
          <a:prstGeom prst="rect">
            <a:avLst/>
          </a:prstGeom>
          <a:noFill/>
          <a:ln/>
        </p:spPr>
        <p:txBody>
          <a:bodyPr wrap="square" rtlCol="0" anchor="ctr"/>
          <a:lstStyle/>
          <a:p>
            <a:pPr indent="0" marL="0">
              <a:buNone/>
            </a:pPr>
            <a:r>
              <a:rPr lang="en-US" sz="1100" b="1" dirty="0">
                <a:solidFill>
                  <a:srgbClr val="1A2B4A"/>
                </a:solidFill>
                <a:latin typeface="Calibri" pitchFamily="34" charset="0"/>
                <a:ea typeface="Calibri" pitchFamily="34" charset="-122"/>
                <a:cs typeface="Calibri" pitchFamily="34" charset="-120"/>
              </a:rPr>
              <a:t>✔  Must have:</a:t>
            </a:r>
            <a:endParaRPr lang="en-US" sz="1100" dirty="0"/>
          </a:p>
        </p:txBody>
      </p:sp>
      <p:sp>
        <p:nvSpPr>
          <p:cNvPr id="19" name="Text 17"/>
          <p:cNvSpPr/>
          <p:nvPr/>
        </p:nvSpPr>
        <p:spPr>
          <a:xfrm>
            <a:off x="2834640" y="3730752"/>
            <a:ext cx="8778240" cy="68580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Admission_Date &amp; Discharge_Date are Date type · Admission_Year, Admission_Month, Month_Number columns exist · Money columns are Whole Number</a:t>
            </a:r>
            <a:endParaRPr lang="en-US" sz="1100" dirty="0"/>
          </a:p>
        </p:txBody>
      </p:sp>
      <p:sp>
        <p:nvSpPr>
          <p:cNvPr id="20" name="Shape 18"/>
          <p:cNvSpPr/>
          <p:nvPr/>
        </p:nvSpPr>
        <p:spPr>
          <a:xfrm>
            <a:off x="320040" y="4709160"/>
            <a:ext cx="11475720" cy="1298448"/>
          </a:xfrm>
          <a:prstGeom prst="roundRect">
            <a:avLst>
              <a:gd name="adj" fmla="val 6338"/>
            </a:avLst>
          </a:prstGeom>
          <a:solidFill>
            <a:srgbClr val="FFFFFF"/>
          </a:solidFill>
          <a:ln w="10160">
            <a:solidFill>
              <a:srgbClr val="D0DCE4"/>
            </a:solidFill>
            <a:prstDash val="solid"/>
          </a:ln>
        </p:spPr>
      </p:sp>
      <p:sp>
        <p:nvSpPr>
          <p:cNvPr id="21" name="Shape 19"/>
          <p:cNvSpPr/>
          <p:nvPr/>
        </p:nvSpPr>
        <p:spPr>
          <a:xfrm>
            <a:off x="320040" y="4709160"/>
            <a:ext cx="2377440" cy="1298448"/>
          </a:xfrm>
          <a:prstGeom prst="roundRect">
            <a:avLst>
              <a:gd name="adj" fmla="val 6338"/>
            </a:avLst>
          </a:prstGeom>
          <a:solidFill>
            <a:srgbClr val="E29F18"/>
          </a:solidFill>
          <a:ln/>
        </p:spPr>
      </p:sp>
      <p:sp>
        <p:nvSpPr>
          <p:cNvPr id="22" name="Text 20"/>
          <p:cNvSpPr/>
          <p:nvPr/>
        </p:nvSpPr>
        <p:spPr>
          <a:xfrm>
            <a:off x="320040" y="4800600"/>
            <a:ext cx="237744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DimDate</a:t>
            </a:r>
            <a:endParaRPr lang="en-US" sz="1600" dirty="0"/>
          </a:p>
        </p:txBody>
      </p:sp>
      <p:sp>
        <p:nvSpPr>
          <p:cNvPr id="23" name="Text 21"/>
          <p:cNvSpPr/>
          <p:nvPr/>
        </p:nvSpPr>
        <p:spPr>
          <a:xfrm>
            <a:off x="320040" y="5303520"/>
            <a:ext cx="2377440" cy="594360"/>
          </a:xfrm>
          <a:prstGeom prst="rect">
            <a:avLst/>
          </a:prstGeom>
          <a:noFill/>
          <a:ln/>
        </p:spPr>
        <p:txBody>
          <a:bodyPr wrap="square" rtlCol="0" anchor="ctr"/>
          <a:lstStyle/>
          <a:p>
            <a:pPr algn="ctr" indent="0" marL="0">
              <a:buNone/>
            </a:pPr>
            <a:r>
              <a:rPr lang="en-US" sz="1200" dirty="0">
                <a:solidFill>
                  <a:srgbClr val="D0F0F0"/>
                </a:solidFill>
                <a:latin typeface="Calibri" pitchFamily="34" charset="0"/>
                <a:ea typeface="Calibri" pitchFamily="34" charset="-122"/>
                <a:cs typeface="Calibri" pitchFamily="34" charset="-120"/>
              </a:rPr>
              <a:t>730 rows</a:t>
            </a:r>
            <a:endParaRPr lang="en-US" sz="1200" dirty="0"/>
          </a:p>
          <a:p>
            <a:pPr algn="ctr" indent="0" marL="0">
              <a:buNone/>
            </a:pPr>
            <a:r>
              <a:rPr lang="en-US" sz="1200" dirty="0">
                <a:solidFill>
                  <a:srgbClr val="D0F0F0"/>
                </a:solidFill>
                <a:latin typeface="Calibri" pitchFamily="34" charset="0"/>
                <a:ea typeface="Calibri" pitchFamily="34" charset="-122"/>
                <a:cs typeface="Calibri" pitchFamily="34" charset="-120"/>
              </a:rPr>
              <a:t>6 columns</a:t>
            </a:r>
            <a:endParaRPr lang="en-US" sz="1200" dirty="0"/>
          </a:p>
        </p:txBody>
      </p:sp>
      <p:sp>
        <p:nvSpPr>
          <p:cNvPr id="24" name="Text 22"/>
          <p:cNvSpPr/>
          <p:nvPr/>
        </p:nvSpPr>
        <p:spPr>
          <a:xfrm>
            <a:off x="2834640" y="4818888"/>
            <a:ext cx="8778240" cy="292608"/>
          </a:xfrm>
          <a:prstGeom prst="rect">
            <a:avLst/>
          </a:prstGeom>
          <a:noFill/>
          <a:ln/>
        </p:spPr>
        <p:txBody>
          <a:bodyPr wrap="square" rtlCol="0" anchor="ctr"/>
          <a:lstStyle/>
          <a:p>
            <a:pPr indent="0" marL="0">
              <a:buNone/>
            </a:pPr>
            <a:r>
              <a:rPr lang="en-US" sz="1100" b="1" dirty="0">
                <a:solidFill>
                  <a:srgbClr val="1A2B4A"/>
                </a:solidFill>
                <a:latin typeface="Calibri" pitchFamily="34" charset="0"/>
                <a:ea typeface="Calibri" pitchFamily="34" charset="-122"/>
                <a:cs typeface="Calibri" pitchFamily="34" charset="-120"/>
              </a:rPr>
              <a:t>✔  Must have:</a:t>
            </a:r>
            <a:endParaRPr lang="en-US" sz="1100" dirty="0"/>
          </a:p>
        </p:txBody>
      </p:sp>
      <p:sp>
        <p:nvSpPr>
          <p:cNvPr id="25" name="Text 23"/>
          <p:cNvSpPr/>
          <p:nvPr/>
        </p:nvSpPr>
        <p:spPr>
          <a:xfrm>
            <a:off x="2834640" y="5148072"/>
            <a:ext cx="8778240" cy="68580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Date column is Date type · Year, Month, MonthName, Quarter columns present · Dates run 2023-01-01 to 2024-12-31</a:t>
            </a:r>
            <a:endParaRPr lang="en-US" sz="1100" dirty="0"/>
          </a:p>
        </p:txBody>
      </p:sp>
      <p:sp>
        <p:nvSpPr>
          <p:cNvPr id="26" name="Shape 24"/>
          <p:cNvSpPr/>
          <p:nvPr/>
        </p:nvSpPr>
        <p:spPr>
          <a:xfrm>
            <a:off x="320040" y="6236208"/>
            <a:ext cx="11475720" cy="502920"/>
          </a:xfrm>
          <a:prstGeom prst="roundRect">
            <a:avLst>
              <a:gd name="adj" fmla="val 16364"/>
            </a:avLst>
          </a:prstGeom>
          <a:solidFill>
            <a:srgbClr val="006D77"/>
          </a:solidFill>
          <a:ln w="10160">
            <a:solidFill>
              <a:srgbClr val="006D77"/>
            </a:solidFill>
            <a:prstDash val="solid"/>
          </a:ln>
        </p:spPr>
      </p:sp>
      <p:sp>
        <p:nvSpPr>
          <p:cNvPr id="27" name="Text 25"/>
          <p:cNvSpPr/>
          <p:nvPr/>
        </p:nvSpPr>
        <p:spPr>
          <a:xfrm>
            <a:off x="475488" y="6291072"/>
            <a:ext cx="1115568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Everything checks out?  →  Home ribbon → "Close &amp; Apply"  →  Power BI loads all 3 tables into the model</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06D77"/>
          </a:solidFill>
          <a:ln/>
        </p:spPr>
      </p:sp>
      <p:sp>
        <p:nvSpPr>
          <p:cNvPr id="3" name="Shape 1"/>
          <p:cNvSpPr/>
          <p:nvPr/>
        </p:nvSpPr>
        <p:spPr>
          <a:xfrm>
            <a:off x="0" y="6309360"/>
            <a:ext cx="12161520" cy="548640"/>
          </a:xfrm>
          <a:prstGeom prst="rect">
            <a:avLst/>
          </a:prstGeom>
          <a:solidFill>
            <a:srgbClr val="E29F18"/>
          </a:solidFill>
          <a:ln/>
        </p:spPr>
      </p:sp>
      <p:sp>
        <p:nvSpPr>
          <p:cNvPr id="4" name="Text 2"/>
          <p:cNvSpPr/>
          <p:nvPr/>
        </p:nvSpPr>
        <p:spPr>
          <a:xfrm>
            <a:off x="640080" y="1097280"/>
            <a:ext cx="10058400" cy="457200"/>
          </a:xfrm>
          <a:prstGeom prst="rect">
            <a:avLst/>
          </a:prstGeom>
          <a:noFill/>
          <a:ln/>
        </p:spPr>
        <p:txBody>
          <a:bodyPr wrap="square" rtlCol="0" anchor="ctr"/>
          <a:lstStyle/>
          <a:p>
            <a:pPr indent="0" marL="0">
              <a:buNone/>
            </a:pPr>
            <a:r>
              <a:rPr lang="en-US" sz="1300" b="1" spc="500" kern="0" dirty="0">
                <a:solidFill>
                  <a:srgbClr val="83C5BE"/>
                </a:solidFill>
                <a:latin typeface="Calibri" pitchFamily="34" charset="0"/>
                <a:ea typeface="Calibri" pitchFamily="34" charset="-122"/>
                <a:cs typeface="Calibri" pitchFamily="34" charset="-120"/>
              </a:rPr>
              <a:t>SECTION 02</a:t>
            </a:r>
            <a:endParaRPr lang="en-US" sz="1300" dirty="0"/>
          </a:p>
        </p:txBody>
      </p:sp>
      <p:sp>
        <p:nvSpPr>
          <p:cNvPr id="5" name="Text 3"/>
          <p:cNvSpPr/>
          <p:nvPr/>
        </p:nvSpPr>
        <p:spPr>
          <a:xfrm>
            <a:off x="640080" y="1572768"/>
            <a:ext cx="10058400" cy="1371600"/>
          </a:xfrm>
          <a:prstGeom prst="rect">
            <a:avLst/>
          </a:prstGeom>
          <a:noFill/>
          <a:ln/>
        </p:spPr>
        <p:txBody>
          <a:bodyPr wrap="square" rtlCol="0" anchor="ctr"/>
          <a:lstStyle/>
          <a:p>
            <a:pPr indent="0" marL="0">
              <a:lnSpc>
                <a:spcPct val="110000"/>
              </a:lnSpc>
              <a:buNone/>
            </a:pPr>
            <a:r>
              <a:rPr lang="en-US" sz="4400" b="1" dirty="0">
                <a:solidFill>
                  <a:srgbClr val="FFFFFF"/>
                </a:solidFill>
                <a:latin typeface="Calibri" pitchFamily="34" charset="0"/>
                <a:ea typeface="Calibri" pitchFamily="34" charset="-122"/>
                <a:cs typeface="Calibri" pitchFamily="34" charset="-120"/>
              </a:rPr>
              <a:t>Data Modeling</a:t>
            </a:r>
            <a:endParaRPr lang="en-US" sz="4400" dirty="0"/>
          </a:p>
          <a:p>
            <a:pPr indent="0" marL="0">
              <a:lnSpc>
                <a:spcPct val="110000"/>
              </a:lnSpc>
              <a:buNone/>
            </a:pPr>
            <a:r>
              <a:rPr lang="en-US" sz="4400" b="1" dirty="0">
                <a:solidFill>
                  <a:srgbClr val="FFFFFF"/>
                </a:solidFill>
                <a:latin typeface="Calibri" pitchFamily="34" charset="0"/>
                <a:ea typeface="Calibri" pitchFamily="34" charset="-122"/>
                <a:cs typeface="Calibri" pitchFamily="34" charset="-120"/>
              </a:rPr>
              <a:t>Star Schema</a:t>
            </a:r>
            <a:endParaRPr lang="en-US" sz="4400" dirty="0"/>
          </a:p>
        </p:txBody>
      </p:sp>
      <p:sp>
        <p:nvSpPr>
          <p:cNvPr id="6" name="Text 4"/>
          <p:cNvSpPr/>
          <p:nvPr/>
        </p:nvSpPr>
        <p:spPr>
          <a:xfrm>
            <a:off x="640080" y="3063240"/>
            <a:ext cx="9144000" cy="594360"/>
          </a:xfrm>
          <a:prstGeom prst="rect">
            <a:avLst/>
          </a:prstGeom>
          <a:noFill/>
          <a:ln/>
        </p:spPr>
        <p:txBody>
          <a:bodyPr wrap="square" rtlCol="0" anchor="ctr"/>
          <a:lstStyle/>
          <a:p>
            <a:pPr indent="0" marL="0">
              <a:buNone/>
            </a:pPr>
            <a:r>
              <a:rPr lang="en-US" sz="1800" i="1" dirty="0">
                <a:solidFill>
                  <a:srgbClr val="C8E6E8"/>
                </a:solidFill>
                <a:latin typeface="Calibri" pitchFamily="34" charset="0"/>
                <a:ea typeface="Calibri" pitchFamily="34" charset="-122"/>
                <a:cs typeface="Calibri" pitchFamily="34" charset="-120"/>
              </a:rPr>
              <a:t>Connect your tables correctly. The model is the engine — visuals are just the dashboard.</a:t>
            </a:r>
            <a:endParaRPr lang="en-US" sz="1800" dirty="0"/>
          </a:p>
        </p:txBody>
      </p:sp>
      <p:sp>
        <p:nvSpPr>
          <p:cNvPr id="7" name="Shape 5"/>
          <p:cNvSpPr/>
          <p:nvPr/>
        </p:nvSpPr>
        <p:spPr>
          <a:xfrm>
            <a:off x="640080" y="3840480"/>
            <a:ext cx="2697480" cy="1645920"/>
          </a:xfrm>
          <a:prstGeom prst="roundRect">
            <a:avLst>
              <a:gd name="adj" fmla="val 5556"/>
            </a:avLst>
          </a:prstGeom>
          <a:solidFill>
            <a:srgbClr val="1A2B4A"/>
          </a:solidFill>
          <a:ln w="10160">
            <a:solidFill>
              <a:srgbClr val="2A3B5A"/>
            </a:solidFill>
            <a:prstDash val="solid"/>
          </a:ln>
        </p:spPr>
      </p:sp>
      <p:sp>
        <p:nvSpPr>
          <p:cNvPr id="8" name="Text 6"/>
          <p:cNvSpPr/>
          <p:nvPr/>
        </p:nvSpPr>
        <p:spPr>
          <a:xfrm>
            <a:off x="640080" y="3977640"/>
            <a:ext cx="2697480" cy="59436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9" name="Text 7"/>
          <p:cNvSpPr/>
          <p:nvPr/>
        </p:nvSpPr>
        <p:spPr>
          <a:xfrm>
            <a:off x="640080" y="4590288"/>
            <a:ext cx="269748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Star Schema</a:t>
            </a:r>
            <a:endParaRPr lang="en-US" sz="1200" dirty="0"/>
          </a:p>
        </p:txBody>
      </p:sp>
      <p:sp>
        <p:nvSpPr>
          <p:cNvPr id="10" name="Shape 8"/>
          <p:cNvSpPr/>
          <p:nvPr/>
        </p:nvSpPr>
        <p:spPr>
          <a:xfrm>
            <a:off x="3566160" y="3840480"/>
            <a:ext cx="2697480" cy="1645920"/>
          </a:xfrm>
          <a:prstGeom prst="roundRect">
            <a:avLst>
              <a:gd name="adj" fmla="val 5556"/>
            </a:avLst>
          </a:prstGeom>
          <a:solidFill>
            <a:srgbClr val="1A2B4A"/>
          </a:solidFill>
          <a:ln w="10160">
            <a:solidFill>
              <a:srgbClr val="2A3B5A"/>
            </a:solidFill>
            <a:prstDash val="solid"/>
          </a:ln>
        </p:spPr>
      </p:sp>
      <p:sp>
        <p:nvSpPr>
          <p:cNvPr id="11" name="Text 9"/>
          <p:cNvSpPr/>
          <p:nvPr/>
        </p:nvSpPr>
        <p:spPr>
          <a:xfrm>
            <a:off x="3566160" y="3977640"/>
            <a:ext cx="2697480" cy="59436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12" name="Text 10"/>
          <p:cNvSpPr/>
          <p:nvPr/>
        </p:nvSpPr>
        <p:spPr>
          <a:xfrm>
            <a:off x="3566160" y="4590288"/>
            <a:ext cx="269748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Relationships</a:t>
            </a:r>
            <a:endParaRPr lang="en-US" sz="1200" dirty="0"/>
          </a:p>
        </p:txBody>
      </p:sp>
      <p:sp>
        <p:nvSpPr>
          <p:cNvPr id="13" name="Shape 11"/>
          <p:cNvSpPr/>
          <p:nvPr/>
        </p:nvSpPr>
        <p:spPr>
          <a:xfrm>
            <a:off x="6492240" y="3840480"/>
            <a:ext cx="2697480" cy="1645920"/>
          </a:xfrm>
          <a:prstGeom prst="roundRect">
            <a:avLst>
              <a:gd name="adj" fmla="val 5556"/>
            </a:avLst>
          </a:prstGeom>
          <a:solidFill>
            <a:srgbClr val="1A2B4A"/>
          </a:solidFill>
          <a:ln w="10160">
            <a:solidFill>
              <a:srgbClr val="2A3B5A"/>
            </a:solidFill>
            <a:prstDash val="solid"/>
          </a:ln>
        </p:spPr>
      </p:sp>
      <p:sp>
        <p:nvSpPr>
          <p:cNvPr id="14" name="Text 12"/>
          <p:cNvSpPr/>
          <p:nvPr/>
        </p:nvSpPr>
        <p:spPr>
          <a:xfrm>
            <a:off x="6492240" y="3977640"/>
            <a:ext cx="2697480" cy="59436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15" name="Text 13"/>
          <p:cNvSpPr/>
          <p:nvPr/>
        </p:nvSpPr>
        <p:spPr>
          <a:xfrm>
            <a:off x="6492240" y="4590288"/>
            <a:ext cx="269748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Mark Date Table</a:t>
            </a:r>
            <a:endParaRPr lang="en-US" sz="1200" dirty="0"/>
          </a:p>
        </p:txBody>
      </p:sp>
      <p:sp>
        <p:nvSpPr>
          <p:cNvPr id="16" name="Shape 14"/>
          <p:cNvSpPr/>
          <p:nvPr/>
        </p:nvSpPr>
        <p:spPr>
          <a:xfrm>
            <a:off x="9418320" y="3840480"/>
            <a:ext cx="2697480" cy="1645920"/>
          </a:xfrm>
          <a:prstGeom prst="roundRect">
            <a:avLst>
              <a:gd name="adj" fmla="val 5556"/>
            </a:avLst>
          </a:prstGeom>
          <a:solidFill>
            <a:srgbClr val="1A2B4A"/>
          </a:solidFill>
          <a:ln w="10160">
            <a:solidFill>
              <a:srgbClr val="2A3B5A"/>
            </a:solidFill>
            <a:prstDash val="solid"/>
          </a:ln>
        </p:spPr>
      </p:sp>
      <p:sp>
        <p:nvSpPr>
          <p:cNvPr id="17" name="Text 15"/>
          <p:cNvSpPr/>
          <p:nvPr/>
        </p:nvSpPr>
        <p:spPr>
          <a:xfrm>
            <a:off x="9418320" y="3977640"/>
            <a:ext cx="2697480" cy="59436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18" name="Text 16"/>
          <p:cNvSpPr/>
          <p:nvPr/>
        </p:nvSpPr>
        <p:spPr>
          <a:xfrm>
            <a:off x="9418320" y="4590288"/>
            <a:ext cx="269748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Column Settings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AFA"/>
          </a:solidFill>
          <a:ln/>
        </p:spPr>
      </p:sp>
      <p:sp>
        <p:nvSpPr>
          <p:cNvPr id="3" name="Shape 1"/>
          <p:cNvSpPr/>
          <p:nvPr/>
        </p:nvSpPr>
        <p:spPr>
          <a:xfrm>
            <a:off x="0" y="0"/>
            <a:ext cx="82296" cy="6858000"/>
          </a:xfrm>
          <a:prstGeom prst="rect">
            <a:avLst/>
          </a:prstGeom>
          <a:solidFill>
            <a:srgbClr val="006D77"/>
          </a:solidFill>
          <a:ln/>
        </p:spPr>
      </p:sp>
      <p:sp>
        <p:nvSpPr>
          <p:cNvPr id="4" name="Shape 2"/>
          <p:cNvSpPr/>
          <p:nvPr/>
        </p:nvSpPr>
        <p:spPr>
          <a:xfrm>
            <a:off x="0" y="0"/>
            <a:ext cx="12161520" cy="1371600"/>
          </a:xfrm>
          <a:prstGeom prst="rect">
            <a:avLst/>
          </a:prstGeom>
          <a:solidFill>
            <a:srgbClr val="006D77"/>
          </a:solidFill>
          <a:ln/>
        </p:spPr>
      </p:sp>
      <p:sp>
        <p:nvSpPr>
          <p:cNvPr id="5" name="Text 3"/>
          <p:cNvSpPr/>
          <p:nvPr/>
        </p:nvSpPr>
        <p:spPr>
          <a:xfrm>
            <a:off x="320040" y="164592"/>
            <a:ext cx="1152144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STEP 6 — Build the Data Model (Star Schema)</a:t>
            </a:r>
            <a:endParaRPr lang="en-US" sz="2400" dirty="0"/>
          </a:p>
        </p:txBody>
      </p:sp>
      <p:sp>
        <p:nvSpPr>
          <p:cNvPr id="6" name="Text 4"/>
          <p:cNvSpPr/>
          <p:nvPr/>
        </p:nvSpPr>
        <p:spPr>
          <a:xfrm>
            <a:off x="320040" y="822960"/>
            <a:ext cx="11521440" cy="411480"/>
          </a:xfrm>
          <a:prstGeom prst="rect">
            <a:avLst/>
          </a:prstGeom>
          <a:noFill/>
          <a:ln/>
        </p:spPr>
        <p:txBody>
          <a:bodyPr wrap="square" rtlCol="0" anchor="ctr"/>
          <a:lstStyle/>
          <a:p>
            <a:pPr indent="0" marL="0">
              <a:buNone/>
            </a:pPr>
            <a:r>
              <a:rPr lang="en-US" sz="1200" i="1" dirty="0">
                <a:solidFill>
                  <a:srgbClr val="83C5BE"/>
                </a:solidFill>
                <a:latin typeface="Calibri" pitchFamily="34" charset="0"/>
                <a:ea typeface="Calibri" pitchFamily="34" charset="-122"/>
                <a:cs typeface="Calibri" pitchFamily="34" charset="-120"/>
              </a:rPr>
              <a:t>Click the "Model" view icon on the left sidebar (looks like 3 connected boxes).</a:t>
            </a:r>
            <a:endParaRPr lang="en-US" sz="1200" dirty="0"/>
          </a:p>
        </p:txBody>
      </p:sp>
      <p:sp>
        <p:nvSpPr>
          <p:cNvPr id="7" name="Shape 5"/>
          <p:cNvSpPr/>
          <p:nvPr/>
        </p:nvSpPr>
        <p:spPr>
          <a:xfrm>
            <a:off x="4023360" y="2103120"/>
            <a:ext cx="4114800" cy="3200400"/>
          </a:xfrm>
          <a:prstGeom prst="roundRect">
            <a:avLst>
              <a:gd name="adj" fmla="val 3429"/>
            </a:avLst>
          </a:prstGeom>
          <a:solidFill>
            <a:srgbClr val="1A2B4A"/>
          </a:solidFill>
          <a:ln w="10160">
            <a:solidFill>
              <a:srgbClr val="006D77"/>
            </a:solidFill>
            <a:prstDash val="solid"/>
          </a:ln>
        </p:spPr>
      </p:sp>
      <p:sp>
        <p:nvSpPr>
          <p:cNvPr id="8" name="Shape 6"/>
          <p:cNvSpPr/>
          <p:nvPr/>
        </p:nvSpPr>
        <p:spPr>
          <a:xfrm>
            <a:off x="4023360" y="2103120"/>
            <a:ext cx="4114800" cy="502920"/>
          </a:xfrm>
          <a:prstGeom prst="roundRect">
            <a:avLst>
              <a:gd name="adj" fmla="val 21818"/>
            </a:avLst>
          </a:prstGeom>
          <a:solidFill>
            <a:srgbClr val="006D77"/>
          </a:solidFill>
          <a:ln/>
        </p:spPr>
      </p:sp>
      <p:sp>
        <p:nvSpPr>
          <p:cNvPr id="9" name="Text 7"/>
          <p:cNvSpPr/>
          <p:nvPr/>
        </p:nvSpPr>
        <p:spPr>
          <a:xfrm>
            <a:off x="4023360" y="2130552"/>
            <a:ext cx="4114800" cy="438912"/>
          </a:xfrm>
          <a:prstGeom prst="rect">
            <a:avLst/>
          </a:prstGeom>
          <a:noFill/>
          <a:ln/>
        </p:spPr>
        <p:txBody>
          <a:bodyPr wrap="square"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FACT TABLE</a:t>
            </a:r>
            <a:endParaRPr lang="en-US" sz="1100" dirty="0"/>
          </a:p>
        </p:txBody>
      </p:sp>
      <p:sp>
        <p:nvSpPr>
          <p:cNvPr id="10" name="Text 8"/>
          <p:cNvSpPr/>
          <p:nvPr/>
        </p:nvSpPr>
        <p:spPr>
          <a:xfrm>
            <a:off x="4023360" y="2633472"/>
            <a:ext cx="4114800" cy="438912"/>
          </a:xfrm>
          <a:prstGeom prst="rect">
            <a:avLst/>
          </a:prstGeom>
          <a:noFill/>
          <a:ln/>
        </p:spPr>
        <p:txBody>
          <a:bodyPr wrap="square" rtlCol="0" anchor="ctr"/>
          <a:lstStyle/>
          <a:p>
            <a:pPr algn="ctr" indent="0" marL="0">
              <a:buNone/>
            </a:pPr>
            <a:r>
              <a:rPr lang="en-US" sz="1800" b="1" dirty="0">
                <a:solidFill>
                  <a:srgbClr val="83C5BE"/>
                </a:solidFill>
                <a:latin typeface="Calibri" pitchFamily="34" charset="0"/>
                <a:ea typeface="Calibri" pitchFamily="34" charset="-122"/>
                <a:cs typeface="Calibri" pitchFamily="34" charset="-120"/>
              </a:rPr>
              <a:t>Admissions</a:t>
            </a:r>
            <a:endParaRPr lang="en-US" sz="1800" dirty="0"/>
          </a:p>
        </p:txBody>
      </p:sp>
      <p:sp>
        <p:nvSpPr>
          <p:cNvPr id="11" name="Text 9"/>
          <p:cNvSpPr/>
          <p:nvPr/>
        </p:nvSpPr>
        <p:spPr>
          <a:xfrm>
            <a:off x="4160520" y="3090672"/>
            <a:ext cx="3840480" cy="2057400"/>
          </a:xfrm>
          <a:prstGeom prst="rect">
            <a:avLst/>
          </a:prstGeom>
          <a:noFill/>
          <a:ln/>
        </p:spPr>
        <p:txBody>
          <a:bodyPr wrap="square" rtlCol="0" anchor="ctr"/>
          <a:lstStyle/>
          <a:p>
            <a:pPr indent="0" marL="0">
              <a:buNone/>
            </a:pPr>
            <a:r>
              <a:rPr lang="en-US" sz="1000" dirty="0">
                <a:solidFill>
                  <a:srgbClr val="A8D8E0"/>
                </a:solidFill>
                <a:latin typeface="Calibri" pitchFamily="34" charset="0"/>
                <a:ea typeface="Calibri" pitchFamily="34" charset="-122"/>
                <a:cs typeface="Calibri" pitchFamily="34" charset="-120"/>
              </a:rPr>
              <a:t>1000 rows</a:t>
            </a:r>
            <a:endParaRPr lang="en-US" sz="1000" dirty="0"/>
          </a:p>
          <a:p>
            <a:pPr indent="0" marL="0">
              <a:buNone/>
            </a:pPr>
            <a:r>
              <a:rPr lang="en-US" sz="1000" dirty="0">
                <a:solidFill>
                  <a:srgbClr val="A8D8E0"/>
                </a:solidFill>
                <a:latin typeface="Calibri" pitchFamily="34" charset="0"/>
                <a:ea typeface="Calibri" pitchFamily="34" charset="-122"/>
                <a:cs typeface="Calibri" pitchFamily="34" charset="-120"/>
              </a:rPr>
              <a:t>Admission_ID (Key)</a:t>
            </a:r>
            <a:endParaRPr lang="en-US" sz="1000" dirty="0"/>
          </a:p>
          <a:p>
            <a:pPr indent="0" marL="0">
              <a:buNone/>
            </a:pPr>
            <a:r>
              <a:rPr lang="en-US" sz="1000" dirty="0">
                <a:solidFill>
                  <a:srgbClr val="A8D8E0"/>
                </a:solidFill>
                <a:latin typeface="Calibri" pitchFamily="34" charset="0"/>
                <a:ea typeface="Calibri" pitchFamily="34" charset="-122"/>
                <a:cs typeface="Calibri" pitchFamily="34" charset="-120"/>
              </a:rPr>
              <a:t>Patient_ID  ←  links to Patients</a:t>
            </a:r>
            <a:endParaRPr lang="en-US" sz="1000" dirty="0"/>
          </a:p>
          <a:p>
            <a:pPr indent="0" marL="0">
              <a:buNone/>
            </a:pPr>
            <a:r>
              <a:rPr lang="en-US" sz="1000" dirty="0">
                <a:solidFill>
                  <a:srgbClr val="A8D8E0"/>
                </a:solidFill>
                <a:latin typeface="Calibri" pitchFamily="34" charset="0"/>
                <a:ea typeface="Calibri" pitchFamily="34" charset="-122"/>
                <a:cs typeface="Calibri" pitchFamily="34" charset="-120"/>
              </a:rPr>
              <a:t>Date columns  ←  links to DimDate</a:t>
            </a:r>
            <a:endParaRPr lang="en-US" sz="1000" dirty="0"/>
          </a:p>
          <a:p>
            <a:pPr indent="0" marL="0">
              <a:buNone/>
            </a:pPr>
            <a:r>
              <a:rPr lang="en-US" sz="1000" dirty="0">
                <a:solidFill>
                  <a:srgbClr val="A8D8E0"/>
                </a:solidFill>
                <a:latin typeface="Calibri" pitchFamily="34" charset="0"/>
                <a:ea typeface="Calibri" pitchFamily="34" charset="-122"/>
                <a:cs typeface="Calibri" pitchFamily="34" charset="-120"/>
              </a:rPr>
              <a:t>Total_Bill_PKR</a:t>
            </a:r>
            <a:endParaRPr lang="en-US" sz="1000" dirty="0"/>
          </a:p>
          <a:p>
            <a:pPr indent="0" marL="0">
              <a:buNone/>
            </a:pPr>
            <a:r>
              <a:rPr lang="en-US" sz="1000" dirty="0">
                <a:solidFill>
                  <a:srgbClr val="A8D8E0"/>
                </a:solidFill>
                <a:latin typeface="Calibri" pitchFamily="34" charset="0"/>
                <a:ea typeface="Calibri" pitchFamily="34" charset="-122"/>
                <a:cs typeface="Calibri" pitchFamily="34" charset="-120"/>
              </a:rPr>
              <a:t>Insurance_Covered_PKR</a:t>
            </a:r>
            <a:endParaRPr lang="en-US" sz="1000" dirty="0"/>
          </a:p>
          <a:p>
            <a:pPr indent="0" marL="0">
              <a:buNone/>
            </a:pPr>
            <a:r>
              <a:rPr lang="en-US" sz="1000" dirty="0">
                <a:solidFill>
                  <a:srgbClr val="A8D8E0"/>
                </a:solidFill>
                <a:latin typeface="Calibri" pitchFamily="34" charset="0"/>
                <a:ea typeface="Calibri" pitchFamily="34" charset="-122"/>
                <a:cs typeface="Calibri" pitchFamily="34" charset="-120"/>
              </a:rPr>
              <a:t>Satisfaction_Score</a:t>
            </a:r>
            <a:endParaRPr lang="en-US" sz="1000" dirty="0"/>
          </a:p>
          <a:p>
            <a:pPr indent="0" marL="0">
              <a:buNone/>
            </a:pPr>
            <a:r>
              <a:rPr lang="en-US" sz="1000" dirty="0">
                <a:solidFill>
                  <a:srgbClr val="A8D8E0"/>
                </a:solidFill>
                <a:latin typeface="Calibri" pitchFamily="34" charset="0"/>
                <a:ea typeface="Calibri" pitchFamily="34" charset="-122"/>
                <a:cs typeface="Calibri" pitchFamily="34" charset="-120"/>
              </a:rPr>
              <a:t>...</a:t>
            </a:r>
            <a:endParaRPr lang="en-US" sz="1000" dirty="0"/>
          </a:p>
        </p:txBody>
      </p:sp>
      <p:sp>
        <p:nvSpPr>
          <p:cNvPr id="12" name="Shape 10"/>
          <p:cNvSpPr/>
          <p:nvPr/>
        </p:nvSpPr>
        <p:spPr>
          <a:xfrm>
            <a:off x="320040" y="2560320"/>
            <a:ext cx="3200400" cy="2377440"/>
          </a:xfrm>
          <a:prstGeom prst="roundRect">
            <a:avLst>
              <a:gd name="adj" fmla="val 3846"/>
            </a:avLst>
          </a:prstGeom>
          <a:solidFill>
            <a:srgbClr val="FFFFFF"/>
          </a:solidFill>
          <a:ln w="10160">
            <a:solidFill>
              <a:srgbClr val="008891"/>
            </a:solidFill>
            <a:prstDash val="solid"/>
          </a:ln>
        </p:spPr>
      </p:sp>
      <p:sp>
        <p:nvSpPr>
          <p:cNvPr id="13" name="Shape 11"/>
          <p:cNvSpPr/>
          <p:nvPr/>
        </p:nvSpPr>
        <p:spPr>
          <a:xfrm>
            <a:off x="320040" y="2560320"/>
            <a:ext cx="3200400" cy="438912"/>
          </a:xfrm>
          <a:prstGeom prst="roundRect">
            <a:avLst>
              <a:gd name="adj" fmla="val 20833"/>
            </a:avLst>
          </a:prstGeom>
          <a:solidFill>
            <a:srgbClr val="008891"/>
          </a:solidFill>
          <a:ln/>
        </p:spPr>
      </p:sp>
      <p:sp>
        <p:nvSpPr>
          <p:cNvPr id="14" name="Text 12"/>
          <p:cNvSpPr/>
          <p:nvPr/>
        </p:nvSpPr>
        <p:spPr>
          <a:xfrm>
            <a:off x="320040" y="2596896"/>
            <a:ext cx="320040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DIM  —  Patients</a:t>
            </a:r>
            <a:endParaRPr lang="en-US" sz="1200" dirty="0"/>
          </a:p>
        </p:txBody>
      </p:sp>
      <p:sp>
        <p:nvSpPr>
          <p:cNvPr id="15" name="Text 13"/>
          <p:cNvSpPr/>
          <p:nvPr/>
        </p:nvSpPr>
        <p:spPr>
          <a:xfrm>
            <a:off x="457200" y="3063240"/>
            <a:ext cx="2926080" cy="1691640"/>
          </a:xfrm>
          <a:prstGeom prst="rect">
            <a:avLst/>
          </a:prstGeom>
          <a:noFill/>
          <a:ln/>
        </p:spPr>
        <p:txBody>
          <a:bodyPr wrap="square" rtlCol="0" anchor="ctr"/>
          <a:lstStyle/>
          <a:p>
            <a:pPr indent="0" marL="0">
              <a:buNone/>
            </a:pPr>
            <a:r>
              <a:rPr lang="en-US" sz="1000" dirty="0">
                <a:solidFill>
                  <a:srgbClr val="1A2B4A"/>
                </a:solidFill>
                <a:latin typeface="Calibri" pitchFamily="34" charset="0"/>
                <a:ea typeface="Calibri" pitchFamily="34" charset="-122"/>
                <a:cs typeface="Calibri" pitchFamily="34" charset="-120"/>
              </a:rPr>
              <a:t>500 rows</a:t>
            </a:r>
            <a:endParaRPr lang="en-US" sz="1000" dirty="0"/>
          </a:p>
          <a:p>
            <a:pPr indent="0" marL="0">
              <a:buNone/>
            </a:pPr>
            <a:r>
              <a:rPr lang="en-US" sz="1000" dirty="0">
                <a:solidFill>
                  <a:srgbClr val="1A2B4A"/>
                </a:solidFill>
                <a:latin typeface="Calibri" pitchFamily="34" charset="0"/>
                <a:ea typeface="Calibri" pitchFamily="34" charset="-122"/>
                <a:cs typeface="Calibri" pitchFamily="34" charset="-120"/>
              </a:rPr>
              <a:t>Patient_ID  ←  Key</a:t>
            </a:r>
            <a:endParaRPr lang="en-US" sz="1000" dirty="0"/>
          </a:p>
          <a:p>
            <a:pPr indent="0" marL="0">
              <a:buNone/>
            </a:pPr>
            <a:r>
              <a:rPr lang="en-US" sz="1000" dirty="0">
                <a:solidFill>
                  <a:srgbClr val="1A2B4A"/>
                </a:solidFill>
                <a:latin typeface="Calibri" pitchFamily="34" charset="0"/>
                <a:ea typeface="Calibri" pitchFamily="34" charset="-122"/>
                <a:cs typeface="Calibri" pitchFamily="34" charset="-120"/>
              </a:rPr>
              <a:t>Patient_Name</a:t>
            </a:r>
            <a:endParaRPr lang="en-US" sz="1000" dirty="0"/>
          </a:p>
          <a:p>
            <a:pPr indent="0" marL="0">
              <a:buNone/>
            </a:pPr>
            <a:r>
              <a:rPr lang="en-US" sz="1000" dirty="0">
                <a:solidFill>
                  <a:srgbClr val="1A2B4A"/>
                </a:solidFill>
                <a:latin typeface="Calibri" pitchFamily="34" charset="0"/>
                <a:ea typeface="Calibri" pitchFamily="34" charset="-122"/>
                <a:cs typeface="Calibri" pitchFamily="34" charset="-120"/>
              </a:rPr>
              <a:t>Age / Age_Group</a:t>
            </a:r>
            <a:endParaRPr lang="en-US" sz="1000" dirty="0"/>
          </a:p>
          <a:p>
            <a:pPr indent="0" marL="0">
              <a:buNone/>
            </a:pPr>
            <a:r>
              <a:rPr lang="en-US" sz="1000" dirty="0">
                <a:solidFill>
                  <a:srgbClr val="1A2B4A"/>
                </a:solidFill>
                <a:latin typeface="Calibri" pitchFamily="34" charset="0"/>
                <a:ea typeface="Calibri" pitchFamily="34" charset="-122"/>
                <a:cs typeface="Calibri" pitchFamily="34" charset="-120"/>
              </a:rPr>
              <a:t>Gender</a:t>
            </a:r>
            <a:endParaRPr lang="en-US" sz="1000" dirty="0"/>
          </a:p>
          <a:p>
            <a:pPr indent="0" marL="0">
              <a:buNone/>
            </a:pPr>
            <a:r>
              <a:rPr lang="en-US" sz="1000" dirty="0">
                <a:solidFill>
                  <a:srgbClr val="1A2B4A"/>
                </a:solidFill>
                <a:latin typeface="Calibri" pitchFamily="34" charset="0"/>
                <a:ea typeface="Calibri" pitchFamily="34" charset="-122"/>
                <a:cs typeface="Calibri" pitchFamily="34" charset="-120"/>
              </a:rPr>
              <a:t>City</a:t>
            </a:r>
            <a:endParaRPr lang="en-US" sz="1000" dirty="0"/>
          </a:p>
          <a:p>
            <a:pPr indent="0" marL="0">
              <a:buNone/>
            </a:pPr>
            <a:r>
              <a:rPr lang="en-US" sz="1000" dirty="0">
                <a:solidFill>
                  <a:srgbClr val="1A2B4A"/>
                </a:solidFill>
                <a:latin typeface="Calibri" pitchFamily="34" charset="0"/>
                <a:ea typeface="Calibri" pitchFamily="34" charset="-122"/>
                <a:cs typeface="Calibri" pitchFamily="34" charset="-120"/>
              </a:rPr>
              <a:t>Insurance_Provider</a:t>
            </a:r>
            <a:endParaRPr lang="en-US" sz="1000" dirty="0"/>
          </a:p>
        </p:txBody>
      </p:sp>
      <p:sp>
        <p:nvSpPr>
          <p:cNvPr id="16" name="Shape 14"/>
          <p:cNvSpPr/>
          <p:nvPr/>
        </p:nvSpPr>
        <p:spPr>
          <a:xfrm>
            <a:off x="8686800" y="2560320"/>
            <a:ext cx="3154680" cy="2377440"/>
          </a:xfrm>
          <a:prstGeom prst="roundRect">
            <a:avLst>
              <a:gd name="adj" fmla="val 3846"/>
            </a:avLst>
          </a:prstGeom>
          <a:solidFill>
            <a:srgbClr val="FFFFFF"/>
          </a:solidFill>
          <a:ln w="10160">
            <a:solidFill>
              <a:srgbClr val="E29F18"/>
            </a:solidFill>
            <a:prstDash val="solid"/>
          </a:ln>
        </p:spPr>
      </p:sp>
      <p:sp>
        <p:nvSpPr>
          <p:cNvPr id="17" name="Shape 15"/>
          <p:cNvSpPr/>
          <p:nvPr/>
        </p:nvSpPr>
        <p:spPr>
          <a:xfrm>
            <a:off x="8686800" y="2560320"/>
            <a:ext cx="3154680" cy="438912"/>
          </a:xfrm>
          <a:prstGeom prst="roundRect">
            <a:avLst>
              <a:gd name="adj" fmla="val 20833"/>
            </a:avLst>
          </a:prstGeom>
          <a:solidFill>
            <a:srgbClr val="E29F18"/>
          </a:solidFill>
          <a:ln/>
        </p:spPr>
      </p:sp>
      <p:sp>
        <p:nvSpPr>
          <p:cNvPr id="18" name="Text 16"/>
          <p:cNvSpPr/>
          <p:nvPr/>
        </p:nvSpPr>
        <p:spPr>
          <a:xfrm>
            <a:off x="8686800" y="2596896"/>
            <a:ext cx="315468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DIM  —  DimDate</a:t>
            </a:r>
            <a:endParaRPr lang="en-US" sz="1200" dirty="0"/>
          </a:p>
        </p:txBody>
      </p:sp>
      <p:sp>
        <p:nvSpPr>
          <p:cNvPr id="19" name="Text 17"/>
          <p:cNvSpPr/>
          <p:nvPr/>
        </p:nvSpPr>
        <p:spPr>
          <a:xfrm>
            <a:off x="8823960" y="3063240"/>
            <a:ext cx="2880360" cy="1691640"/>
          </a:xfrm>
          <a:prstGeom prst="rect">
            <a:avLst/>
          </a:prstGeom>
          <a:noFill/>
          <a:ln/>
        </p:spPr>
        <p:txBody>
          <a:bodyPr wrap="square" rtlCol="0" anchor="ctr"/>
          <a:lstStyle/>
          <a:p>
            <a:pPr indent="0" marL="0">
              <a:buNone/>
            </a:pPr>
            <a:r>
              <a:rPr lang="en-US" sz="1000" dirty="0">
                <a:solidFill>
                  <a:srgbClr val="1A2B4A"/>
                </a:solidFill>
                <a:latin typeface="Calibri" pitchFamily="34" charset="0"/>
                <a:ea typeface="Calibri" pitchFamily="34" charset="-122"/>
                <a:cs typeface="Calibri" pitchFamily="34" charset="-120"/>
              </a:rPr>
              <a:t>730 rows</a:t>
            </a:r>
            <a:endParaRPr lang="en-US" sz="1000" dirty="0"/>
          </a:p>
          <a:p>
            <a:pPr indent="0" marL="0">
              <a:buNone/>
            </a:pPr>
            <a:r>
              <a:rPr lang="en-US" sz="1000" dirty="0">
                <a:solidFill>
                  <a:srgbClr val="1A2B4A"/>
                </a:solidFill>
                <a:latin typeface="Calibri" pitchFamily="34" charset="0"/>
                <a:ea typeface="Calibri" pitchFamily="34" charset="-122"/>
                <a:cs typeface="Calibri" pitchFamily="34" charset="-120"/>
              </a:rPr>
              <a:t>Date  ←  Key</a:t>
            </a:r>
            <a:endParaRPr lang="en-US" sz="1000" dirty="0"/>
          </a:p>
          <a:p>
            <a:pPr indent="0" marL="0">
              <a:buNone/>
            </a:pPr>
            <a:r>
              <a:rPr lang="en-US" sz="1000" dirty="0">
                <a:solidFill>
                  <a:srgbClr val="1A2B4A"/>
                </a:solidFill>
                <a:latin typeface="Calibri" pitchFamily="34" charset="0"/>
                <a:ea typeface="Calibri" pitchFamily="34" charset="-122"/>
                <a:cs typeface="Calibri" pitchFamily="34" charset="-120"/>
              </a:rPr>
              <a:t>Year</a:t>
            </a:r>
            <a:endParaRPr lang="en-US" sz="1000" dirty="0"/>
          </a:p>
          <a:p>
            <a:pPr indent="0" marL="0">
              <a:buNone/>
            </a:pPr>
            <a:r>
              <a:rPr lang="en-US" sz="1000" dirty="0">
                <a:solidFill>
                  <a:srgbClr val="1A2B4A"/>
                </a:solidFill>
                <a:latin typeface="Calibri" pitchFamily="34" charset="0"/>
                <a:ea typeface="Calibri" pitchFamily="34" charset="-122"/>
                <a:cs typeface="Calibri" pitchFamily="34" charset="-120"/>
              </a:rPr>
              <a:t>Month / MonthName</a:t>
            </a:r>
            <a:endParaRPr lang="en-US" sz="1000" dirty="0"/>
          </a:p>
          <a:p>
            <a:pPr indent="0" marL="0">
              <a:buNone/>
            </a:pPr>
            <a:r>
              <a:rPr lang="en-US" sz="1000" dirty="0">
                <a:solidFill>
                  <a:srgbClr val="1A2B4A"/>
                </a:solidFill>
                <a:latin typeface="Calibri" pitchFamily="34" charset="0"/>
                <a:ea typeface="Calibri" pitchFamily="34" charset="-122"/>
                <a:cs typeface="Calibri" pitchFamily="34" charset="-120"/>
              </a:rPr>
              <a:t>Quarter</a:t>
            </a:r>
            <a:endParaRPr lang="en-US" sz="1000" dirty="0"/>
          </a:p>
        </p:txBody>
      </p:sp>
      <p:sp>
        <p:nvSpPr>
          <p:cNvPr id="20" name="Shape 18"/>
          <p:cNvSpPr/>
          <p:nvPr/>
        </p:nvSpPr>
        <p:spPr>
          <a:xfrm>
            <a:off x="3520440" y="3520440"/>
            <a:ext cx="502920" cy="109728"/>
          </a:xfrm>
          <a:prstGeom prst="rect">
            <a:avLst/>
          </a:prstGeom>
          <a:solidFill>
            <a:srgbClr val="008891"/>
          </a:solidFill>
          <a:ln/>
        </p:spPr>
      </p:sp>
      <p:sp>
        <p:nvSpPr>
          <p:cNvPr id="21" name="Text 19"/>
          <p:cNvSpPr/>
          <p:nvPr/>
        </p:nvSpPr>
        <p:spPr>
          <a:xfrm>
            <a:off x="3246120" y="3675888"/>
            <a:ext cx="914400" cy="256032"/>
          </a:xfrm>
          <a:prstGeom prst="rect">
            <a:avLst/>
          </a:prstGeom>
          <a:noFill/>
          <a:ln/>
        </p:spPr>
        <p:txBody>
          <a:bodyPr wrap="square" rtlCol="0" anchor="ctr"/>
          <a:lstStyle/>
          <a:p>
            <a:pPr algn="ctr" indent="0" marL="0">
              <a:buNone/>
            </a:pPr>
            <a:r>
              <a:rPr lang="en-US" sz="900" dirty="0">
                <a:solidFill>
                  <a:srgbClr val="008891"/>
                </a:solidFill>
                <a:latin typeface="Calibri" pitchFamily="34" charset="0"/>
                <a:ea typeface="Calibri" pitchFamily="34" charset="-122"/>
                <a:cs typeface="Calibri" pitchFamily="34" charset="-120"/>
              </a:rPr>
              <a:t>Patient_ID</a:t>
            </a:r>
            <a:endParaRPr lang="en-US" sz="900" dirty="0"/>
          </a:p>
        </p:txBody>
      </p:sp>
      <p:sp>
        <p:nvSpPr>
          <p:cNvPr id="22" name="Shape 20"/>
          <p:cNvSpPr/>
          <p:nvPr/>
        </p:nvSpPr>
        <p:spPr>
          <a:xfrm>
            <a:off x="8138160" y="3520440"/>
            <a:ext cx="548640" cy="109728"/>
          </a:xfrm>
          <a:prstGeom prst="rect">
            <a:avLst/>
          </a:prstGeom>
          <a:solidFill>
            <a:srgbClr val="E29F18"/>
          </a:solidFill>
          <a:ln/>
        </p:spPr>
      </p:sp>
      <p:sp>
        <p:nvSpPr>
          <p:cNvPr id="23" name="Text 21"/>
          <p:cNvSpPr/>
          <p:nvPr/>
        </p:nvSpPr>
        <p:spPr>
          <a:xfrm>
            <a:off x="8156448" y="3675888"/>
            <a:ext cx="685800" cy="256032"/>
          </a:xfrm>
          <a:prstGeom prst="rect">
            <a:avLst/>
          </a:prstGeom>
          <a:noFill/>
          <a:ln/>
        </p:spPr>
        <p:txBody>
          <a:bodyPr wrap="square" rtlCol="0" anchor="ctr"/>
          <a:lstStyle/>
          <a:p>
            <a:pPr algn="ctr" indent="0" marL="0">
              <a:buNone/>
            </a:pPr>
            <a:r>
              <a:rPr lang="en-US" sz="900" dirty="0">
                <a:solidFill>
                  <a:srgbClr val="E29F18"/>
                </a:solidFill>
                <a:latin typeface="Calibri" pitchFamily="34" charset="0"/>
                <a:ea typeface="Calibri" pitchFamily="34" charset="-122"/>
                <a:cs typeface="Calibri" pitchFamily="34" charset="-120"/>
              </a:rPr>
              <a:t>Date</a:t>
            </a:r>
            <a:endParaRPr lang="en-US" sz="900" dirty="0"/>
          </a:p>
        </p:txBody>
      </p:sp>
      <p:sp>
        <p:nvSpPr>
          <p:cNvPr id="24" name="Text 22"/>
          <p:cNvSpPr/>
          <p:nvPr/>
        </p:nvSpPr>
        <p:spPr>
          <a:xfrm>
            <a:off x="3337560" y="3273552"/>
            <a:ext cx="749808" cy="256032"/>
          </a:xfrm>
          <a:prstGeom prst="rect">
            <a:avLst/>
          </a:prstGeom>
          <a:noFill/>
          <a:ln/>
        </p:spPr>
        <p:txBody>
          <a:bodyPr wrap="square" rtlCol="0" anchor="ctr"/>
          <a:lstStyle/>
          <a:p>
            <a:pPr algn="ctr" indent="0" marL="0">
              <a:buNone/>
            </a:pPr>
            <a:r>
              <a:rPr lang="en-US" sz="1000" b="1" dirty="0">
                <a:solidFill>
                  <a:srgbClr val="008891"/>
                </a:solidFill>
                <a:latin typeface="Calibri" pitchFamily="34" charset="0"/>
                <a:ea typeface="Calibri" pitchFamily="34" charset="-122"/>
                <a:cs typeface="Calibri" pitchFamily="34" charset="-120"/>
              </a:rPr>
              <a:t>1 (one)</a:t>
            </a:r>
            <a:endParaRPr lang="en-US" sz="1000" dirty="0"/>
          </a:p>
        </p:txBody>
      </p:sp>
      <p:sp>
        <p:nvSpPr>
          <p:cNvPr id="25" name="Text 23"/>
          <p:cNvSpPr/>
          <p:nvPr/>
        </p:nvSpPr>
        <p:spPr>
          <a:xfrm>
            <a:off x="3977640" y="3273552"/>
            <a:ext cx="822960" cy="256032"/>
          </a:xfrm>
          <a:prstGeom prst="rect">
            <a:avLst/>
          </a:prstGeom>
          <a:noFill/>
          <a:ln/>
        </p:spPr>
        <p:txBody>
          <a:bodyPr wrap="square" rtlCol="0" anchor="ctr"/>
          <a:lstStyle/>
          <a:p>
            <a:pPr algn="ctr" indent="0" marL="0">
              <a:buNone/>
            </a:pPr>
            <a:r>
              <a:rPr lang="en-US" sz="1000" b="1" dirty="0">
                <a:solidFill>
                  <a:srgbClr val="008891"/>
                </a:solidFill>
                <a:latin typeface="Calibri" pitchFamily="34" charset="0"/>
                <a:ea typeface="Calibri" pitchFamily="34" charset="-122"/>
                <a:cs typeface="Calibri" pitchFamily="34" charset="-120"/>
              </a:rPr>
              <a:t>* (many)</a:t>
            </a:r>
            <a:endParaRPr lang="en-US" sz="1000" dirty="0"/>
          </a:p>
        </p:txBody>
      </p:sp>
      <p:sp>
        <p:nvSpPr>
          <p:cNvPr id="26" name="Text 24"/>
          <p:cNvSpPr/>
          <p:nvPr/>
        </p:nvSpPr>
        <p:spPr>
          <a:xfrm>
            <a:off x="7726680" y="3273552"/>
            <a:ext cx="822960" cy="256032"/>
          </a:xfrm>
          <a:prstGeom prst="rect">
            <a:avLst/>
          </a:prstGeom>
          <a:noFill/>
          <a:ln/>
        </p:spPr>
        <p:txBody>
          <a:bodyPr wrap="square" rtlCol="0" anchor="ctr"/>
          <a:lstStyle/>
          <a:p>
            <a:pPr algn="ctr" indent="0" marL="0">
              <a:buNone/>
            </a:pPr>
            <a:r>
              <a:rPr lang="en-US" sz="1000" b="1" dirty="0">
                <a:solidFill>
                  <a:srgbClr val="E29F18"/>
                </a:solidFill>
                <a:latin typeface="Calibri" pitchFamily="34" charset="0"/>
                <a:ea typeface="Calibri" pitchFamily="34" charset="-122"/>
                <a:cs typeface="Calibri" pitchFamily="34" charset="-120"/>
              </a:rPr>
              <a:t>* (many)</a:t>
            </a:r>
            <a:endParaRPr lang="en-US" sz="1000" dirty="0"/>
          </a:p>
        </p:txBody>
      </p:sp>
      <p:sp>
        <p:nvSpPr>
          <p:cNvPr id="27" name="Text 25"/>
          <p:cNvSpPr/>
          <p:nvPr/>
        </p:nvSpPr>
        <p:spPr>
          <a:xfrm>
            <a:off x="8668512" y="3273552"/>
            <a:ext cx="749808" cy="256032"/>
          </a:xfrm>
          <a:prstGeom prst="rect">
            <a:avLst/>
          </a:prstGeom>
          <a:noFill/>
          <a:ln/>
        </p:spPr>
        <p:txBody>
          <a:bodyPr wrap="square" rtlCol="0" anchor="ctr"/>
          <a:lstStyle/>
          <a:p>
            <a:pPr algn="ctr" indent="0" marL="0">
              <a:buNone/>
            </a:pPr>
            <a:r>
              <a:rPr lang="en-US" sz="1000" b="1" dirty="0">
                <a:solidFill>
                  <a:srgbClr val="E29F18"/>
                </a:solidFill>
                <a:latin typeface="Calibri" pitchFamily="34" charset="0"/>
                <a:ea typeface="Calibri" pitchFamily="34" charset="-122"/>
                <a:cs typeface="Calibri" pitchFamily="34" charset="-120"/>
              </a:rPr>
              <a:t>1 (one)</a:t>
            </a:r>
            <a:endParaRPr lang="en-US" sz="1000" dirty="0"/>
          </a:p>
        </p:txBody>
      </p:sp>
      <p:sp>
        <p:nvSpPr>
          <p:cNvPr id="28" name="Shape 26"/>
          <p:cNvSpPr/>
          <p:nvPr/>
        </p:nvSpPr>
        <p:spPr>
          <a:xfrm>
            <a:off x="320040" y="5166360"/>
            <a:ext cx="11475720" cy="438912"/>
          </a:xfrm>
          <a:prstGeom prst="roundRect">
            <a:avLst>
              <a:gd name="adj" fmla="val 14583"/>
            </a:avLst>
          </a:prstGeom>
          <a:solidFill>
            <a:srgbClr val="FFF1C1"/>
          </a:solidFill>
          <a:ln w="10160">
            <a:solidFill>
              <a:srgbClr val="E29F18"/>
            </a:solidFill>
            <a:prstDash val="solid"/>
          </a:ln>
        </p:spPr>
      </p:sp>
      <p:sp>
        <p:nvSpPr>
          <p:cNvPr id="29" name="Text 27"/>
          <p:cNvSpPr/>
          <p:nvPr/>
        </p:nvSpPr>
        <p:spPr>
          <a:xfrm>
            <a:off x="429768" y="5212080"/>
            <a:ext cx="11292840" cy="347472"/>
          </a:xfrm>
          <a:prstGeom prst="rect">
            <a:avLst/>
          </a:prstGeom>
          <a:noFill/>
          <a:ln/>
        </p:spPr>
        <p:txBody>
          <a:bodyPr wrap="square" rtlCol="0" anchor="ctr"/>
          <a:lstStyle/>
          <a:p>
            <a:pPr indent="0" marL="0">
              <a:buNone/>
            </a:pPr>
            <a:r>
              <a:rPr lang="en-US" sz="1100" i="1" dirty="0">
                <a:solidFill>
                  <a:srgbClr val="7D5900"/>
                </a:solidFill>
                <a:latin typeface="Calibri" pitchFamily="34" charset="0"/>
                <a:ea typeface="Calibri" pitchFamily="34" charset="-122"/>
                <a:cs typeface="Calibri" pitchFamily="34" charset="-120"/>
              </a:rPr>
              <a:t>⚡  The direction of the arrow matters: 1 side is the lookup table (Patients, DimDate), many side is the fact table (Admissions). Power BI filters flow from 1 → many automatically.</a:t>
            </a:r>
            <a:endParaRPr lang="en-US" sz="1100" dirty="0"/>
          </a:p>
        </p:txBody>
      </p:sp>
      <p:sp>
        <p:nvSpPr>
          <p:cNvPr id="30" name="Text 28"/>
          <p:cNvSpPr/>
          <p:nvPr/>
        </p:nvSpPr>
        <p:spPr>
          <a:xfrm>
            <a:off x="320040" y="5687568"/>
            <a:ext cx="11475720" cy="292608"/>
          </a:xfrm>
          <a:prstGeom prst="rect">
            <a:avLst/>
          </a:prstGeom>
          <a:noFill/>
          <a:ln/>
        </p:spPr>
        <p:txBody>
          <a:bodyPr wrap="square" rtlCol="0" anchor="ctr"/>
          <a:lstStyle/>
          <a:p>
            <a:pPr indent="0" marL="0">
              <a:buNone/>
            </a:pPr>
            <a:r>
              <a:rPr lang="en-US" sz="1000" b="1" spc="200" kern="0" dirty="0">
                <a:solidFill>
                  <a:srgbClr val="006D77"/>
                </a:solidFill>
                <a:latin typeface="Calibri" pitchFamily="34" charset="0"/>
                <a:ea typeface="Calibri" pitchFamily="34" charset="-122"/>
                <a:cs typeface="Calibri" pitchFamily="34" charset="-120"/>
              </a:rPr>
              <a:t>HOW TO CREATE THE RELATIONSHIPS</a:t>
            </a:r>
            <a:endParaRPr lang="en-US" sz="1000" dirty="0"/>
          </a:p>
        </p:txBody>
      </p:sp>
      <p:sp>
        <p:nvSpPr>
          <p:cNvPr id="31" name="Text 29"/>
          <p:cNvSpPr/>
          <p:nvPr/>
        </p:nvSpPr>
        <p:spPr>
          <a:xfrm>
            <a:off x="320040" y="6016752"/>
            <a:ext cx="11475720" cy="438912"/>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In Model View: drag "Patient_ID" from Patients table → drop onto "Patient_ID" in Admissions table. A line appears = relationship created. Then drag "Date" from DimDate → drop onto "Admission_Date" in Admissions. Verify both show the 1-to-many (1 → *) cardinality icon.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AFA"/>
          </a:solidFill>
          <a:ln/>
        </p:spPr>
      </p:sp>
      <p:sp>
        <p:nvSpPr>
          <p:cNvPr id="3" name="Shape 1"/>
          <p:cNvSpPr/>
          <p:nvPr/>
        </p:nvSpPr>
        <p:spPr>
          <a:xfrm>
            <a:off x="0" y="0"/>
            <a:ext cx="82296" cy="6858000"/>
          </a:xfrm>
          <a:prstGeom prst="rect">
            <a:avLst/>
          </a:prstGeom>
          <a:solidFill>
            <a:srgbClr val="006D77"/>
          </a:solidFill>
          <a:ln/>
        </p:spPr>
      </p:sp>
      <p:sp>
        <p:nvSpPr>
          <p:cNvPr id="4" name="Shape 2"/>
          <p:cNvSpPr/>
          <p:nvPr/>
        </p:nvSpPr>
        <p:spPr>
          <a:xfrm>
            <a:off x="0" y="0"/>
            <a:ext cx="12161520" cy="1371600"/>
          </a:xfrm>
          <a:prstGeom prst="rect">
            <a:avLst/>
          </a:prstGeom>
          <a:solidFill>
            <a:srgbClr val="006D77"/>
          </a:solidFill>
          <a:ln/>
        </p:spPr>
      </p:sp>
      <p:sp>
        <p:nvSpPr>
          <p:cNvPr id="5" name="Text 3"/>
          <p:cNvSpPr/>
          <p:nvPr/>
        </p:nvSpPr>
        <p:spPr>
          <a:xfrm>
            <a:off x="320040" y="164592"/>
            <a:ext cx="1152144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STEP 7 — Mark Date Table &amp; Set Column Properties</a:t>
            </a:r>
            <a:endParaRPr lang="en-US" sz="2400" dirty="0"/>
          </a:p>
        </p:txBody>
      </p:sp>
      <p:sp>
        <p:nvSpPr>
          <p:cNvPr id="6" name="Text 4"/>
          <p:cNvSpPr/>
          <p:nvPr/>
        </p:nvSpPr>
        <p:spPr>
          <a:xfrm>
            <a:off x="320040" y="822960"/>
            <a:ext cx="11521440" cy="411480"/>
          </a:xfrm>
          <a:prstGeom prst="rect">
            <a:avLst/>
          </a:prstGeom>
          <a:noFill/>
          <a:ln/>
        </p:spPr>
        <p:txBody>
          <a:bodyPr wrap="square" rtlCol="0" anchor="ctr"/>
          <a:lstStyle/>
          <a:p>
            <a:pPr indent="0" marL="0">
              <a:buNone/>
            </a:pPr>
            <a:r>
              <a:rPr lang="en-US" sz="1200" i="1" dirty="0">
                <a:solidFill>
                  <a:srgbClr val="83C5BE"/>
                </a:solidFill>
                <a:latin typeface="Calibri" pitchFamily="34" charset="0"/>
                <a:ea typeface="Calibri" pitchFamily="34" charset="-122"/>
                <a:cs typeface="Calibri" pitchFamily="34" charset="-120"/>
              </a:rPr>
              <a:t>Two quick but important settings before we move to DAX.</a:t>
            </a:r>
            <a:endParaRPr lang="en-US" sz="1200" dirty="0"/>
          </a:p>
        </p:txBody>
      </p:sp>
      <p:sp>
        <p:nvSpPr>
          <p:cNvPr id="7" name="Shape 5"/>
          <p:cNvSpPr/>
          <p:nvPr/>
        </p:nvSpPr>
        <p:spPr>
          <a:xfrm>
            <a:off x="320040" y="1417320"/>
            <a:ext cx="5577840" cy="3703320"/>
          </a:xfrm>
          <a:prstGeom prst="roundRect">
            <a:avLst>
              <a:gd name="adj" fmla="val 2469"/>
            </a:avLst>
          </a:prstGeom>
          <a:solidFill>
            <a:srgbClr val="FFFFFF"/>
          </a:solidFill>
          <a:ln w="10160">
            <a:solidFill>
              <a:srgbClr val="D0DCE4"/>
            </a:solidFill>
            <a:prstDash val="solid"/>
          </a:ln>
        </p:spPr>
      </p:sp>
      <p:sp>
        <p:nvSpPr>
          <p:cNvPr id="8" name="Shape 6"/>
          <p:cNvSpPr/>
          <p:nvPr/>
        </p:nvSpPr>
        <p:spPr>
          <a:xfrm>
            <a:off x="320040" y="1417320"/>
            <a:ext cx="5577840" cy="530352"/>
          </a:xfrm>
          <a:prstGeom prst="roundRect">
            <a:avLst>
              <a:gd name="adj" fmla="val 17241"/>
            </a:avLst>
          </a:prstGeom>
          <a:solidFill>
            <a:srgbClr val="006D77"/>
          </a:solidFill>
          <a:ln/>
        </p:spPr>
      </p:sp>
      <p:sp>
        <p:nvSpPr>
          <p:cNvPr id="9" name="Text 7"/>
          <p:cNvSpPr/>
          <p:nvPr/>
        </p:nvSpPr>
        <p:spPr>
          <a:xfrm>
            <a:off x="457200" y="1463040"/>
            <a:ext cx="5303520" cy="43891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  Mark DimDate as a Date Table</a:t>
            </a:r>
            <a:endParaRPr lang="en-US" sz="1400" dirty="0"/>
          </a:p>
        </p:txBody>
      </p:sp>
      <p:sp>
        <p:nvSpPr>
          <p:cNvPr id="10" name="Text 8"/>
          <p:cNvSpPr/>
          <p:nvPr/>
        </p:nvSpPr>
        <p:spPr>
          <a:xfrm>
            <a:off x="457200" y="2029968"/>
            <a:ext cx="5230368" cy="420624"/>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1.  In Model View, click on the DimDate table to select it.</a:t>
            </a:r>
            <a:endParaRPr lang="en-US" sz="1100" dirty="0"/>
          </a:p>
        </p:txBody>
      </p:sp>
      <p:sp>
        <p:nvSpPr>
          <p:cNvPr id="11" name="Text 9"/>
          <p:cNvSpPr/>
          <p:nvPr/>
        </p:nvSpPr>
        <p:spPr>
          <a:xfrm>
            <a:off x="457200" y="2523744"/>
            <a:ext cx="5230368" cy="420624"/>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2.  Go to the top ribbon → click "Table Tools" tab (appears when table is selected).</a:t>
            </a:r>
            <a:endParaRPr lang="en-US" sz="1100" dirty="0"/>
          </a:p>
        </p:txBody>
      </p:sp>
      <p:sp>
        <p:nvSpPr>
          <p:cNvPr id="12" name="Text 10"/>
          <p:cNvSpPr/>
          <p:nvPr/>
        </p:nvSpPr>
        <p:spPr>
          <a:xfrm>
            <a:off x="457200" y="3017520"/>
            <a:ext cx="5230368" cy="420624"/>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3.  Click "Mark as date table" → "Mark as date table" again from the dropdown.</a:t>
            </a:r>
            <a:endParaRPr lang="en-US" sz="1100" dirty="0"/>
          </a:p>
        </p:txBody>
      </p:sp>
      <p:sp>
        <p:nvSpPr>
          <p:cNvPr id="13" name="Text 11"/>
          <p:cNvSpPr/>
          <p:nvPr/>
        </p:nvSpPr>
        <p:spPr>
          <a:xfrm>
            <a:off x="457200" y="3511296"/>
            <a:ext cx="5230368" cy="420624"/>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4.  A dialog opens — select the "Date" column as the date column → click OK.</a:t>
            </a:r>
            <a:endParaRPr lang="en-US" sz="1100" dirty="0"/>
          </a:p>
        </p:txBody>
      </p:sp>
      <p:sp>
        <p:nvSpPr>
          <p:cNvPr id="14" name="Text 12"/>
          <p:cNvSpPr/>
          <p:nvPr/>
        </p:nvSpPr>
        <p:spPr>
          <a:xfrm>
            <a:off x="457200" y="4005072"/>
            <a:ext cx="5230368" cy="420624"/>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5.  A small calendar icon appears on the DimDate table — confirmation it worked.</a:t>
            </a:r>
            <a:endParaRPr lang="en-US" sz="1100" dirty="0"/>
          </a:p>
        </p:txBody>
      </p:sp>
      <p:sp>
        <p:nvSpPr>
          <p:cNvPr id="15" name="Text 13"/>
          <p:cNvSpPr/>
          <p:nvPr/>
        </p:nvSpPr>
        <p:spPr>
          <a:xfrm>
            <a:off x="457200" y="4498848"/>
            <a:ext cx="5230368" cy="420624"/>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6.  This is required for DAX time intelligence functions to work correctly.</a:t>
            </a:r>
            <a:endParaRPr lang="en-US" sz="1100" dirty="0"/>
          </a:p>
        </p:txBody>
      </p:sp>
      <p:sp>
        <p:nvSpPr>
          <p:cNvPr id="16" name="Shape 14"/>
          <p:cNvSpPr/>
          <p:nvPr/>
        </p:nvSpPr>
        <p:spPr>
          <a:xfrm>
            <a:off x="6172200" y="1417320"/>
            <a:ext cx="5669280" cy="3703320"/>
          </a:xfrm>
          <a:prstGeom prst="roundRect">
            <a:avLst>
              <a:gd name="adj" fmla="val 2469"/>
            </a:avLst>
          </a:prstGeom>
          <a:solidFill>
            <a:srgbClr val="FFFFFF"/>
          </a:solidFill>
          <a:ln w="10160">
            <a:solidFill>
              <a:srgbClr val="D0DCE4"/>
            </a:solidFill>
            <a:prstDash val="solid"/>
          </a:ln>
        </p:spPr>
      </p:sp>
      <p:sp>
        <p:nvSpPr>
          <p:cNvPr id="17" name="Shape 15"/>
          <p:cNvSpPr/>
          <p:nvPr/>
        </p:nvSpPr>
        <p:spPr>
          <a:xfrm>
            <a:off x="6172200" y="1417320"/>
            <a:ext cx="5669280" cy="530352"/>
          </a:xfrm>
          <a:prstGeom prst="roundRect">
            <a:avLst>
              <a:gd name="adj" fmla="val 17241"/>
            </a:avLst>
          </a:prstGeom>
          <a:solidFill>
            <a:srgbClr val="E29F18"/>
          </a:solidFill>
          <a:ln/>
        </p:spPr>
      </p:sp>
      <p:sp>
        <p:nvSpPr>
          <p:cNvPr id="18" name="Text 16"/>
          <p:cNvSpPr/>
          <p:nvPr/>
        </p:nvSpPr>
        <p:spPr>
          <a:xfrm>
            <a:off x="6309360" y="1463040"/>
            <a:ext cx="5394960" cy="43891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  Set Sort-by-Column for MonthName</a:t>
            </a:r>
            <a:endParaRPr lang="en-US" sz="1400" dirty="0"/>
          </a:p>
        </p:txBody>
      </p:sp>
      <p:sp>
        <p:nvSpPr>
          <p:cNvPr id="19" name="Text 17"/>
          <p:cNvSpPr/>
          <p:nvPr/>
        </p:nvSpPr>
        <p:spPr>
          <a:xfrm>
            <a:off x="6309360" y="2029968"/>
            <a:ext cx="5394960" cy="502920"/>
          </a:xfrm>
          <a:prstGeom prst="rect">
            <a:avLst/>
          </a:prstGeom>
          <a:noFill/>
          <a:ln/>
        </p:spPr>
        <p:txBody>
          <a:bodyPr wrap="square" rtlCol="0" anchor="ctr"/>
          <a:lstStyle/>
          <a:p>
            <a:pPr indent="0" marL="0">
              <a:buNone/>
            </a:pPr>
            <a:r>
              <a:rPr lang="en-US" sz="1100" i="1" dirty="0">
                <a:solidFill>
                  <a:srgbClr val="3D5A6C"/>
                </a:solidFill>
                <a:latin typeface="Calibri" pitchFamily="34" charset="0"/>
                <a:ea typeface="Calibri" pitchFamily="34" charset="-122"/>
                <a:cs typeface="Calibri" pitchFamily="34" charset="-120"/>
              </a:rPr>
              <a:t>Problem: without this, months sort alphabetically (April, August, December...) instead of correctly (January, February, March...)</a:t>
            </a:r>
            <a:endParaRPr lang="en-US" sz="1100" dirty="0"/>
          </a:p>
        </p:txBody>
      </p:sp>
      <p:sp>
        <p:nvSpPr>
          <p:cNvPr id="20" name="Text 18"/>
          <p:cNvSpPr/>
          <p:nvPr/>
        </p:nvSpPr>
        <p:spPr>
          <a:xfrm>
            <a:off x="6309360" y="2633472"/>
            <a:ext cx="5394960" cy="402336"/>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1.  Click the DimDate table in Model View.</a:t>
            </a:r>
            <a:endParaRPr lang="en-US" sz="1100" dirty="0"/>
          </a:p>
        </p:txBody>
      </p:sp>
      <p:sp>
        <p:nvSpPr>
          <p:cNvPr id="21" name="Text 19"/>
          <p:cNvSpPr/>
          <p:nvPr/>
        </p:nvSpPr>
        <p:spPr>
          <a:xfrm>
            <a:off x="6309360" y="3108960"/>
            <a:ext cx="5394960" cy="402336"/>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2.  Click the "MonthName" column to select it.</a:t>
            </a:r>
            <a:endParaRPr lang="en-US" sz="1100" dirty="0"/>
          </a:p>
        </p:txBody>
      </p:sp>
      <p:sp>
        <p:nvSpPr>
          <p:cNvPr id="22" name="Text 20"/>
          <p:cNvSpPr/>
          <p:nvPr/>
        </p:nvSpPr>
        <p:spPr>
          <a:xfrm>
            <a:off x="6309360" y="3584448"/>
            <a:ext cx="5394960" cy="402336"/>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3.  In top ribbon → "Column Tools" tab appears.</a:t>
            </a:r>
            <a:endParaRPr lang="en-US" sz="1100" dirty="0"/>
          </a:p>
        </p:txBody>
      </p:sp>
      <p:sp>
        <p:nvSpPr>
          <p:cNvPr id="23" name="Text 21"/>
          <p:cNvSpPr/>
          <p:nvPr/>
        </p:nvSpPr>
        <p:spPr>
          <a:xfrm>
            <a:off x="6309360" y="4059936"/>
            <a:ext cx="5394960" cy="402336"/>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4.  Click "Sort by Column" → select "Month" (the number column).</a:t>
            </a:r>
            <a:endParaRPr lang="en-US" sz="1100" dirty="0"/>
          </a:p>
        </p:txBody>
      </p:sp>
      <p:sp>
        <p:nvSpPr>
          <p:cNvPr id="24" name="Text 22"/>
          <p:cNvSpPr/>
          <p:nvPr/>
        </p:nvSpPr>
        <p:spPr>
          <a:xfrm>
            <a:off x="6309360" y="4535424"/>
            <a:ext cx="5394960" cy="402336"/>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5.  Now MonthName will sort Jan=1, Feb=2, Mar=3... correctly on charts.</a:t>
            </a:r>
            <a:endParaRPr lang="en-US" sz="1100" dirty="0"/>
          </a:p>
        </p:txBody>
      </p:sp>
      <p:sp>
        <p:nvSpPr>
          <p:cNvPr id="25" name="Shape 23"/>
          <p:cNvSpPr/>
          <p:nvPr/>
        </p:nvSpPr>
        <p:spPr>
          <a:xfrm>
            <a:off x="320040" y="5230368"/>
            <a:ext cx="11475720" cy="1298448"/>
          </a:xfrm>
          <a:prstGeom prst="roundRect">
            <a:avLst>
              <a:gd name="adj" fmla="val 6338"/>
            </a:avLst>
          </a:prstGeom>
          <a:solidFill>
            <a:srgbClr val="EDF6F9"/>
          </a:solidFill>
          <a:ln w="10160">
            <a:solidFill>
              <a:srgbClr val="006D77"/>
            </a:solidFill>
            <a:prstDash val="solid"/>
          </a:ln>
        </p:spPr>
      </p:sp>
      <p:sp>
        <p:nvSpPr>
          <p:cNvPr id="26" name="Text 24"/>
          <p:cNvSpPr/>
          <p:nvPr/>
        </p:nvSpPr>
        <p:spPr>
          <a:xfrm>
            <a:off x="475488" y="5303520"/>
            <a:ext cx="10972800" cy="347472"/>
          </a:xfrm>
          <a:prstGeom prst="rect">
            <a:avLst/>
          </a:prstGeom>
          <a:noFill/>
          <a:ln/>
        </p:spPr>
        <p:txBody>
          <a:bodyPr wrap="square" rtlCol="0" anchor="ctr"/>
          <a:lstStyle/>
          <a:p>
            <a:pPr indent="0" marL="0">
              <a:buNone/>
            </a:pPr>
            <a:r>
              <a:rPr lang="en-US" sz="1300" b="1" dirty="0">
                <a:solidFill>
                  <a:srgbClr val="006D77"/>
                </a:solidFill>
                <a:latin typeface="Calibri" pitchFamily="34" charset="0"/>
                <a:ea typeface="Calibri" pitchFamily="34" charset="-122"/>
                <a:cs typeface="Calibri" pitchFamily="34" charset="-120"/>
              </a:rPr>
              <a:t>C.  Create a Measures Table (Best Practice)</a:t>
            </a:r>
            <a:endParaRPr lang="en-US" sz="1300" dirty="0"/>
          </a:p>
        </p:txBody>
      </p:sp>
      <p:sp>
        <p:nvSpPr>
          <p:cNvPr id="27" name="Text 25"/>
          <p:cNvSpPr/>
          <p:nvPr/>
        </p:nvSpPr>
        <p:spPr>
          <a:xfrm>
            <a:off x="475488" y="5687568"/>
            <a:ext cx="10972800" cy="713232"/>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Go to Home ribbon → "Enter Data" → name the table "Measures" → click "Load". This creates an empty table. All your DAX measures will be stored here, keeping the model organised. In the field list on the right, you will see a "Measures" table with a calculator icon.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06D77"/>
          </a:solidFill>
          <a:ln/>
        </p:spPr>
      </p:sp>
      <p:sp>
        <p:nvSpPr>
          <p:cNvPr id="3" name="Shape 1"/>
          <p:cNvSpPr/>
          <p:nvPr/>
        </p:nvSpPr>
        <p:spPr>
          <a:xfrm>
            <a:off x="0" y="6309360"/>
            <a:ext cx="12161520" cy="548640"/>
          </a:xfrm>
          <a:prstGeom prst="rect">
            <a:avLst/>
          </a:prstGeom>
          <a:solidFill>
            <a:srgbClr val="E29F18"/>
          </a:solidFill>
          <a:ln/>
        </p:spPr>
      </p:sp>
      <p:sp>
        <p:nvSpPr>
          <p:cNvPr id="4" name="Text 2"/>
          <p:cNvSpPr/>
          <p:nvPr/>
        </p:nvSpPr>
        <p:spPr>
          <a:xfrm>
            <a:off x="640080" y="1097280"/>
            <a:ext cx="10058400" cy="457200"/>
          </a:xfrm>
          <a:prstGeom prst="rect">
            <a:avLst/>
          </a:prstGeom>
          <a:noFill/>
          <a:ln/>
        </p:spPr>
        <p:txBody>
          <a:bodyPr wrap="square" rtlCol="0" anchor="ctr"/>
          <a:lstStyle/>
          <a:p>
            <a:pPr indent="0" marL="0">
              <a:buNone/>
            </a:pPr>
            <a:r>
              <a:rPr lang="en-US" sz="1300" b="1" spc="500" kern="0" dirty="0">
                <a:solidFill>
                  <a:srgbClr val="83C5BE"/>
                </a:solidFill>
                <a:latin typeface="Calibri" pitchFamily="34" charset="0"/>
                <a:ea typeface="Calibri" pitchFamily="34" charset="-122"/>
                <a:cs typeface="Calibri" pitchFamily="34" charset="-120"/>
              </a:rPr>
              <a:t>SECTION 03</a:t>
            </a:r>
            <a:endParaRPr lang="en-US" sz="1300" dirty="0"/>
          </a:p>
        </p:txBody>
      </p:sp>
      <p:sp>
        <p:nvSpPr>
          <p:cNvPr id="5" name="Text 3"/>
          <p:cNvSpPr/>
          <p:nvPr/>
        </p:nvSpPr>
        <p:spPr>
          <a:xfrm>
            <a:off x="640080" y="1572768"/>
            <a:ext cx="10058400" cy="1371600"/>
          </a:xfrm>
          <a:prstGeom prst="rect">
            <a:avLst/>
          </a:prstGeom>
          <a:noFill/>
          <a:ln/>
        </p:spPr>
        <p:txBody>
          <a:bodyPr wrap="square" rtlCol="0" anchor="ctr"/>
          <a:lstStyle/>
          <a:p>
            <a:pPr indent="0" marL="0">
              <a:lnSpc>
                <a:spcPct val="110000"/>
              </a:lnSpc>
              <a:buNone/>
            </a:pPr>
            <a:r>
              <a:rPr lang="en-US" sz="4400" b="1" dirty="0">
                <a:solidFill>
                  <a:srgbClr val="FFFFFF"/>
                </a:solidFill>
                <a:latin typeface="Calibri" pitchFamily="34" charset="0"/>
                <a:ea typeface="Calibri" pitchFamily="34" charset="-122"/>
                <a:cs typeface="Calibri" pitchFamily="34" charset="-120"/>
              </a:rPr>
              <a:t>DAX Measures</a:t>
            </a:r>
            <a:endParaRPr lang="en-US" sz="4400" dirty="0"/>
          </a:p>
        </p:txBody>
      </p:sp>
      <p:sp>
        <p:nvSpPr>
          <p:cNvPr id="6" name="Text 4"/>
          <p:cNvSpPr/>
          <p:nvPr/>
        </p:nvSpPr>
        <p:spPr>
          <a:xfrm>
            <a:off x="640080" y="3063240"/>
            <a:ext cx="9144000" cy="594360"/>
          </a:xfrm>
          <a:prstGeom prst="rect">
            <a:avLst/>
          </a:prstGeom>
          <a:noFill/>
          <a:ln/>
        </p:spPr>
        <p:txBody>
          <a:bodyPr wrap="square" rtlCol="0" anchor="ctr"/>
          <a:lstStyle/>
          <a:p>
            <a:pPr indent="0" marL="0">
              <a:buNone/>
            </a:pPr>
            <a:r>
              <a:rPr lang="en-US" sz="1800" i="1" dirty="0">
                <a:solidFill>
                  <a:srgbClr val="C8E6E8"/>
                </a:solidFill>
                <a:latin typeface="Calibri" pitchFamily="34" charset="0"/>
                <a:ea typeface="Calibri" pitchFamily="34" charset="-122"/>
                <a:cs typeface="Calibri" pitchFamily="34" charset="-120"/>
              </a:rPr>
              <a:t>Write the calculations that answer your business questions. DAX is what makes Power BI powerful.</a:t>
            </a:r>
            <a:endParaRPr lang="en-US" sz="1800" dirty="0"/>
          </a:p>
        </p:txBody>
      </p:sp>
      <p:sp>
        <p:nvSpPr>
          <p:cNvPr id="7" name="Shape 5"/>
          <p:cNvSpPr/>
          <p:nvPr/>
        </p:nvSpPr>
        <p:spPr>
          <a:xfrm>
            <a:off x="640080" y="3840480"/>
            <a:ext cx="2697480" cy="1645920"/>
          </a:xfrm>
          <a:prstGeom prst="roundRect">
            <a:avLst>
              <a:gd name="adj" fmla="val 5556"/>
            </a:avLst>
          </a:prstGeom>
          <a:solidFill>
            <a:srgbClr val="1A2B4A"/>
          </a:solidFill>
          <a:ln w="10160">
            <a:solidFill>
              <a:srgbClr val="2A3B5A"/>
            </a:solidFill>
            <a:prstDash val="solid"/>
          </a:ln>
        </p:spPr>
      </p:sp>
      <p:sp>
        <p:nvSpPr>
          <p:cNvPr id="8" name="Text 6"/>
          <p:cNvSpPr/>
          <p:nvPr/>
        </p:nvSpPr>
        <p:spPr>
          <a:xfrm>
            <a:off x="640080" y="3977640"/>
            <a:ext cx="2697480" cy="59436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9" name="Text 7"/>
          <p:cNvSpPr/>
          <p:nvPr/>
        </p:nvSpPr>
        <p:spPr>
          <a:xfrm>
            <a:off x="640080" y="4590288"/>
            <a:ext cx="269748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Basic Measures</a:t>
            </a:r>
            <a:endParaRPr lang="en-US" sz="1200" dirty="0"/>
          </a:p>
        </p:txBody>
      </p:sp>
      <p:sp>
        <p:nvSpPr>
          <p:cNvPr id="10" name="Shape 8"/>
          <p:cNvSpPr/>
          <p:nvPr/>
        </p:nvSpPr>
        <p:spPr>
          <a:xfrm>
            <a:off x="3566160" y="3840480"/>
            <a:ext cx="2697480" cy="1645920"/>
          </a:xfrm>
          <a:prstGeom prst="roundRect">
            <a:avLst>
              <a:gd name="adj" fmla="val 5556"/>
            </a:avLst>
          </a:prstGeom>
          <a:solidFill>
            <a:srgbClr val="1A2B4A"/>
          </a:solidFill>
          <a:ln w="10160">
            <a:solidFill>
              <a:srgbClr val="2A3B5A"/>
            </a:solidFill>
            <a:prstDash val="solid"/>
          </a:ln>
        </p:spPr>
      </p:sp>
      <p:sp>
        <p:nvSpPr>
          <p:cNvPr id="11" name="Text 9"/>
          <p:cNvSpPr/>
          <p:nvPr/>
        </p:nvSpPr>
        <p:spPr>
          <a:xfrm>
            <a:off x="3566160" y="3977640"/>
            <a:ext cx="2697480" cy="59436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12" name="Text 10"/>
          <p:cNvSpPr/>
          <p:nvPr/>
        </p:nvSpPr>
        <p:spPr>
          <a:xfrm>
            <a:off x="3566160" y="4590288"/>
            <a:ext cx="269748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Aggregations</a:t>
            </a:r>
            <a:endParaRPr lang="en-US" sz="1200" dirty="0"/>
          </a:p>
        </p:txBody>
      </p:sp>
      <p:sp>
        <p:nvSpPr>
          <p:cNvPr id="13" name="Shape 11"/>
          <p:cNvSpPr/>
          <p:nvPr/>
        </p:nvSpPr>
        <p:spPr>
          <a:xfrm>
            <a:off x="6492240" y="3840480"/>
            <a:ext cx="2697480" cy="1645920"/>
          </a:xfrm>
          <a:prstGeom prst="roundRect">
            <a:avLst>
              <a:gd name="adj" fmla="val 5556"/>
            </a:avLst>
          </a:prstGeom>
          <a:solidFill>
            <a:srgbClr val="1A2B4A"/>
          </a:solidFill>
          <a:ln w="10160">
            <a:solidFill>
              <a:srgbClr val="2A3B5A"/>
            </a:solidFill>
            <a:prstDash val="solid"/>
          </a:ln>
        </p:spPr>
      </p:sp>
      <p:sp>
        <p:nvSpPr>
          <p:cNvPr id="14" name="Text 12"/>
          <p:cNvSpPr/>
          <p:nvPr/>
        </p:nvSpPr>
        <p:spPr>
          <a:xfrm>
            <a:off x="6492240" y="3977640"/>
            <a:ext cx="2697480" cy="59436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15" name="Text 13"/>
          <p:cNvSpPr/>
          <p:nvPr/>
        </p:nvSpPr>
        <p:spPr>
          <a:xfrm>
            <a:off x="6492240" y="4590288"/>
            <a:ext cx="269748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Time Intelligence</a:t>
            </a:r>
            <a:endParaRPr lang="en-US" sz="1200" dirty="0"/>
          </a:p>
        </p:txBody>
      </p:sp>
      <p:sp>
        <p:nvSpPr>
          <p:cNvPr id="16" name="Shape 14"/>
          <p:cNvSpPr/>
          <p:nvPr/>
        </p:nvSpPr>
        <p:spPr>
          <a:xfrm>
            <a:off x="9418320" y="3840480"/>
            <a:ext cx="2697480" cy="1645920"/>
          </a:xfrm>
          <a:prstGeom prst="roundRect">
            <a:avLst>
              <a:gd name="adj" fmla="val 5556"/>
            </a:avLst>
          </a:prstGeom>
          <a:solidFill>
            <a:srgbClr val="1A2B4A"/>
          </a:solidFill>
          <a:ln w="10160">
            <a:solidFill>
              <a:srgbClr val="2A3B5A"/>
            </a:solidFill>
            <a:prstDash val="solid"/>
          </a:ln>
        </p:spPr>
      </p:sp>
      <p:sp>
        <p:nvSpPr>
          <p:cNvPr id="17" name="Text 15"/>
          <p:cNvSpPr/>
          <p:nvPr/>
        </p:nvSpPr>
        <p:spPr>
          <a:xfrm>
            <a:off x="9418320" y="3977640"/>
            <a:ext cx="2697480" cy="59436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18" name="Text 16"/>
          <p:cNvSpPr/>
          <p:nvPr/>
        </p:nvSpPr>
        <p:spPr>
          <a:xfrm>
            <a:off x="9418320" y="4590288"/>
            <a:ext cx="269748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KPI Measures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AFA"/>
          </a:solidFill>
          <a:ln/>
        </p:spPr>
      </p:sp>
      <p:sp>
        <p:nvSpPr>
          <p:cNvPr id="3" name="Shape 1"/>
          <p:cNvSpPr/>
          <p:nvPr/>
        </p:nvSpPr>
        <p:spPr>
          <a:xfrm>
            <a:off x="0" y="0"/>
            <a:ext cx="82296" cy="6858000"/>
          </a:xfrm>
          <a:prstGeom prst="rect">
            <a:avLst/>
          </a:prstGeom>
          <a:solidFill>
            <a:srgbClr val="006D77"/>
          </a:solidFill>
          <a:ln/>
        </p:spPr>
      </p:sp>
      <p:sp>
        <p:nvSpPr>
          <p:cNvPr id="4" name="Shape 2"/>
          <p:cNvSpPr/>
          <p:nvPr/>
        </p:nvSpPr>
        <p:spPr>
          <a:xfrm>
            <a:off x="0" y="0"/>
            <a:ext cx="12161520" cy="1371600"/>
          </a:xfrm>
          <a:prstGeom prst="rect">
            <a:avLst/>
          </a:prstGeom>
          <a:solidFill>
            <a:srgbClr val="006D77"/>
          </a:solidFill>
          <a:ln/>
        </p:spPr>
      </p:sp>
      <p:sp>
        <p:nvSpPr>
          <p:cNvPr id="5" name="Text 3"/>
          <p:cNvSpPr/>
          <p:nvPr/>
        </p:nvSpPr>
        <p:spPr>
          <a:xfrm>
            <a:off x="320040" y="164592"/>
            <a:ext cx="1152144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How to Write a DAX Measure — Do This Every Time</a:t>
            </a:r>
            <a:endParaRPr lang="en-US" sz="2400" dirty="0"/>
          </a:p>
        </p:txBody>
      </p:sp>
      <p:sp>
        <p:nvSpPr>
          <p:cNvPr id="6" name="Text 4"/>
          <p:cNvSpPr/>
          <p:nvPr/>
        </p:nvSpPr>
        <p:spPr>
          <a:xfrm>
            <a:off x="320040" y="822960"/>
            <a:ext cx="11521440" cy="411480"/>
          </a:xfrm>
          <a:prstGeom prst="rect">
            <a:avLst/>
          </a:prstGeom>
          <a:noFill/>
          <a:ln/>
        </p:spPr>
        <p:txBody>
          <a:bodyPr wrap="square" rtlCol="0" anchor="ctr"/>
          <a:lstStyle/>
          <a:p>
            <a:pPr indent="0" marL="0">
              <a:buNone/>
            </a:pPr>
            <a:r>
              <a:rPr lang="en-US" sz="1200" i="1" dirty="0">
                <a:solidFill>
                  <a:srgbClr val="83C5BE"/>
                </a:solidFill>
                <a:latin typeface="Calibri" pitchFamily="34" charset="0"/>
                <a:ea typeface="Calibri" pitchFamily="34" charset="-122"/>
                <a:cs typeface="Calibri" pitchFamily="34" charset="-120"/>
              </a:rPr>
              <a:t>Follow this exact process for EVERY measure you create in the next slides.</a:t>
            </a:r>
            <a:endParaRPr lang="en-US" sz="1200" dirty="0"/>
          </a:p>
        </p:txBody>
      </p:sp>
      <p:sp>
        <p:nvSpPr>
          <p:cNvPr id="7" name="Shape 5"/>
          <p:cNvSpPr/>
          <p:nvPr/>
        </p:nvSpPr>
        <p:spPr>
          <a:xfrm>
            <a:off x="320040" y="1444752"/>
            <a:ext cx="11475720" cy="612648"/>
          </a:xfrm>
          <a:prstGeom prst="roundRect">
            <a:avLst>
              <a:gd name="adj" fmla="val 10448"/>
            </a:avLst>
          </a:prstGeom>
          <a:solidFill>
            <a:srgbClr val="FFFFFF"/>
          </a:solidFill>
          <a:ln w="10160">
            <a:solidFill>
              <a:srgbClr val="D0DCE4"/>
            </a:solidFill>
            <a:prstDash val="solid"/>
          </a:ln>
        </p:spPr>
      </p:sp>
      <p:sp>
        <p:nvSpPr>
          <p:cNvPr id="8" name="Shape 6"/>
          <p:cNvSpPr/>
          <p:nvPr/>
        </p:nvSpPr>
        <p:spPr>
          <a:xfrm>
            <a:off x="438912" y="1554480"/>
            <a:ext cx="438912" cy="438912"/>
          </a:xfrm>
          <a:prstGeom prst="ellipse">
            <a:avLst/>
          </a:prstGeom>
          <a:solidFill>
            <a:srgbClr val="006D77"/>
          </a:solidFill>
          <a:ln/>
        </p:spPr>
      </p:sp>
      <p:sp>
        <p:nvSpPr>
          <p:cNvPr id="9" name="Text 7"/>
          <p:cNvSpPr/>
          <p:nvPr/>
        </p:nvSpPr>
        <p:spPr>
          <a:xfrm>
            <a:off x="438912" y="1554480"/>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1005840" y="1490472"/>
            <a:ext cx="347472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Go to Report View</a:t>
            </a:r>
            <a:endParaRPr lang="en-US" sz="1300" dirty="0"/>
          </a:p>
        </p:txBody>
      </p:sp>
      <p:sp>
        <p:nvSpPr>
          <p:cNvPr id="11" name="Text 9"/>
          <p:cNvSpPr/>
          <p:nvPr/>
        </p:nvSpPr>
        <p:spPr>
          <a:xfrm>
            <a:off x="1005840" y="1792224"/>
            <a:ext cx="10424160" cy="27432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Click the Report View icon (bar chart) on the left sidebar. You should see the blank canvas.</a:t>
            </a:r>
            <a:endParaRPr lang="en-US" sz="1100" dirty="0"/>
          </a:p>
        </p:txBody>
      </p:sp>
      <p:sp>
        <p:nvSpPr>
          <p:cNvPr id="12" name="Shape 10"/>
          <p:cNvSpPr/>
          <p:nvPr/>
        </p:nvSpPr>
        <p:spPr>
          <a:xfrm>
            <a:off x="320040" y="2112264"/>
            <a:ext cx="11475720" cy="612648"/>
          </a:xfrm>
          <a:prstGeom prst="roundRect">
            <a:avLst>
              <a:gd name="adj" fmla="val 10448"/>
            </a:avLst>
          </a:prstGeom>
          <a:solidFill>
            <a:srgbClr val="FFFFFF"/>
          </a:solidFill>
          <a:ln w="10160">
            <a:solidFill>
              <a:srgbClr val="D0DCE4"/>
            </a:solidFill>
            <a:prstDash val="solid"/>
          </a:ln>
        </p:spPr>
      </p:sp>
      <p:sp>
        <p:nvSpPr>
          <p:cNvPr id="13" name="Shape 11"/>
          <p:cNvSpPr/>
          <p:nvPr/>
        </p:nvSpPr>
        <p:spPr>
          <a:xfrm>
            <a:off x="438912" y="2221992"/>
            <a:ext cx="438912" cy="438912"/>
          </a:xfrm>
          <a:prstGeom prst="ellipse">
            <a:avLst/>
          </a:prstGeom>
          <a:solidFill>
            <a:srgbClr val="006D77"/>
          </a:solidFill>
          <a:ln/>
        </p:spPr>
      </p:sp>
      <p:sp>
        <p:nvSpPr>
          <p:cNvPr id="14" name="Text 12"/>
          <p:cNvSpPr/>
          <p:nvPr/>
        </p:nvSpPr>
        <p:spPr>
          <a:xfrm>
            <a:off x="438912" y="2221992"/>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1005840" y="2157984"/>
            <a:ext cx="347472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Select the Measures table</a:t>
            </a:r>
            <a:endParaRPr lang="en-US" sz="1300" dirty="0"/>
          </a:p>
        </p:txBody>
      </p:sp>
      <p:sp>
        <p:nvSpPr>
          <p:cNvPr id="16" name="Text 14"/>
          <p:cNvSpPr/>
          <p:nvPr/>
        </p:nvSpPr>
        <p:spPr>
          <a:xfrm>
            <a:off x="1005840" y="2459736"/>
            <a:ext cx="10424160" cy="27432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In the right panel (Fields), click once on the "Measures" table (the empty one you created). It highlights.</a:t>
            </a:r>
            <a:endParaRPr lang="en-US" sz="1100" dirty="0"/>
          </a:p>
        </p:txBody>
      </p:sp>
      <p:sp>
        <p:nvSpPr>
          <p:cNvPr id="17" name="Shape 15"/>
          <p:cNvSpPr/>
          <p:nvPr/>
        </p:nvSpPr>
        <p:spPr>
          <a:xfrm>
            <a:off x="320040" y="2779776"/>
            <a:ext cx="11475720" cy="612648"/>
          </a:xfrm>
          <a:prstGeom prst="roundRect">
            <a:avLst>
              <a:gd name="adj" fmla="val 10448"/>
            </a:avLst>
          </a:prstGeom>
          <a:solidFill>
            <a:srgbClr val="FFFFFF"/>
          </a:solidFill>
          <a:ln w="10160">
            <a:solidFill>
              <a:srgbClr val="D0DCE4"/>
            </a:solidFill>
            <a:prstDash val="solid"/>
          </a:ln>
        </p:spPr>
      </p:sp>
      <p:sp>
        <p:nvSpPr>
          <p:cNvPr id="18" name="Shape 16"/>
          <p:cNvSpPr/>
          <p:nvPr/>
        </p:nvSpPr>
        <p:spPr>
          <a:xfrm>
            <a:off x="438912" y="2889504"/>
            <a:ext cx="438912" cy="438912"/>
          </a:xfrm>
          <a:prstGeom prst="ellipse">
            <a:avLst/>
          </a:prstGeom>
          <a:solidFill>
            <a:srgbClr val="006D77"/>
          </a:solidFill>
          <a:ln/>
        </p:spPr>
      </p:sp>
      <p:sp>
        <p:nvSpPr>
          <p:cNvPr id="19" name="Text 17"/>
          <p:cNvSpPr/>
          <p:nvPr/>
        </p:nvSpPr>
        <p:spPr>
          <a:xfrm>
            <a:off x="438912" y="2889504"/>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1005840" y="2825496"/>
            <a:ext cx="347472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Click "New Measure" in the ribbon</a:t>
            </a:r>
            <a:endParaRPr lang="en-US" sz="1300" dirty="0"/>
          </a:p>
        </p:txBody>
      </p:sp>
      <p:sp>
        <p:nvSpPr>
          <p:cNvPr id="21" name="Text 19"/>
          <p:cNvSpPr/>
          <p:nvPr/>
        </p:nvSpPr>
        <p:spPr>
          <a:xfrm>
            <a:off x="1005840" y="3127248"/>
            <a:ext cx="10424160" cy="27432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In the Home ribbon, click "New Measure". A formula bar appears at the top of the screen with "Measure = ".</a:t>
            </a:r>
            <a:endParaRPr lang="en-US" sz="1100" dirty="0"/>
          </a:p>
        </p:txBody>
      </p:sp>
      <p:sp>
        <p:nvSpPr>
          <p:cNvPr id="22" name="Shape 20"/>
          <p:cNvSpPr/>
          <p:nvPr/>
        </p:nvSpPr>
        <p:spPr>
          <a:xfrm>
            <a:off x="320040" y="3447288"/>
            <a:ext cx="11475720" cy="612648"/>
          </a:xfrm>
          <a:prstGeom prst="roundRect">
            <a:avLst>
              <a:gd name="adj" fmla="val 10448"/>
            </a:avLst>
          </a:prstGeom>
          <a:solidFill>
            <a:srgbClr val="FFFFFF"/>
          </a:solidFill>
          <a:ln w="10160">
            <a:solidFill>
              <a:srgbClr val="D0DCE4"/>
            </a:solidFill>
            <a:prstDash val="solid"/>
          </a:ln>
        </p:spPr>
      </p:sp>
      <p:sp>
        <p:nvSpPr>
          <p:cNvPr id="23" name="Shape 21"/>
          <p:cNvSpPr/>
          <p:nvPr/>
        </p:nvSpPr>
        <p:spPr>
          <a:xfrm>
            <a:off x="438912" y="3557016"/>
            <a:ext cx="438912" cy="438912"/>
          </a:xfrm>
          <a:prstGeom prst="ellipse">
            <a:avLst/>
          </a:prstGeom>
          <a:solidFill>
            <a:srgbClr val="006D77"/>
          </a:solidFill>
          <a:ln/>
        </p:spPr>
      </p:sp>
      <p:sp>
        <p:nvSpPr>
          <p:cNvPr id="24" name="Text 22"/>
          <p:cNvSpPr/>
          <p:nvPr/>
        </p:nvSpPr>
        <p:spPr>
          <a:xfrm>
            <a:off x="438912" y="3557016"/>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1005840" y="3493008"/>
            <a:ext cx="347472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Type or paste the DAX formula</a:t>
            </a:r>
            <a:endParaRPr lang="en-US" sz="1300" dirty="0"/>
          </a:p>
        </p:txBody>
      </p:sp>
      <p:sp>
        <p:nvSpPr>
          <p:cNvPr id="26" name="Text 24"/>
          <p:cNvSpPr/>
          <p:nvPr/>
        </p:nvSpPr>
        <p:spPr>
          <a:xfrm>
            <a:off x="1005840" y="3794760"/>
            <a:ext cx="10424160" cy="27432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Delete "Measure =" and type the formula shown on the following slides. Formulas are shown in code boxes — type exactly as shown.</a:t>
            </a:r>
            <a:endParaRPr lang="en-US" sz="1100" dirty="0"/>
          </a:p>
        </p:txBody>
      </p:sp>
      <p:sp>
        <p:nvSpPr>
          <p:cNvPr id="27" name="Shape 25"/>
          <p:cNvSpPr/>
          <p:nvPr/>
        </p:nvSpPr>
        <p:spPr>
          <a:xfrm>
            <a:off x="320040" y="4114800"/>
            <a:ext cx="11475720" cy="612648"/>
          </a:xfrm>
          <a:prstGeom prst="roundRect">
            <a:avLst>
              <a:gd name="adj" fmla="val 10448"/>
            </a:avLst>
          </a:prstGeom>
          <a:solidFill>
            <a:srgbClr val="FFFFFF"/>
          </a:solidFill>
          <a:ln w="10160">
            <a:solidFill>
              <a:srgbClr val="D0DCE4"/>
            </a:solidFill>
            <a:prstDash val="solid"/>
          </a:ln>
        </p:spPr>
      </p:sp>
      <p:sp>
        <p:nvSpPr>
          <p:cNvPr id="28" name="Shape 26"/>
          <p:cNvSpPr/>
          <p:nvPr/>
        </p:nvSpPr>
        <p:spPr>
          <a:xfrm>
            <a:off x="438912" y="4224528"/>
            <a:ext cx="438912" cy="438912"/>
          </a:xfrm>
          <a:prstGeom prst="ellipse">
            <a:avLst/>
          </a:prstGeom>
          <a:solidFill>
            <a:srgbClr val="006D77"/>
          </a:solidFill>
          <a:ln/>
        </p:spPr>
      </p:sp>
      <p:sp>
        <p:nvSpPr>
          <p:cNvPr id="29" name="Text 27"/>
          <p:cNvSpPr/>
          <p:nvPr/>
        </p:nvSpPr>
        <p:spPr>
          <a:xfrm>
            <a:off x="438912" y="4224528"/>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1005840" y="4160520"/>
            <a:ext cx="347472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Press Enter to confirm</a:t>
            </a:r>
            <a:endParaRPr lang="en-US" sz="1300" dirty="0"/>
          </a:p>
        </p:txBody>
      </p:sp>
      <p:sp>
        <p:nvSpPr>
          <p:cNvPr id="31" name="Text 29"/>
          <p:cNvSpPr/>
          <p:nvPr/>
        </p:nvSpPr>
        <p:spPr>
          <a:xfrm>
            <a:off x="1005840" y="4462272"/>
            <a:ext cx="10424160" cy="27432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Press Enter or click the checkmark (✓) button. If there is a syntax error, Power BI will show a red underline and an error message.</a:t>
            </a:r>
            <a:endParaRPr lang="en-US" sz="1100" dirty="0"/>
          </a:p>
        </p:txBody>
      </p:sp>
      <p:sp>
        <p:nvSpPr>
          <p:cNvPr id="32" name="Shape 30"/>
          <p:cNvSpPr/>
          <p:nvPr/>
        </p:nvSpPr>
        <p:spPr>
          <a:xfrm>
            <a:off x="320040" y="4782312"/>
            <a:ext cx="11475720" cy="612648"/>
          </a:xfrm>
          <a:prstGeom prst="roundRect">
            <a:avLst>
              <a:gd name="adj" fmla="val 10448"/>
            </a:avLst>
          </a:prstGeom>
          <a:solidFill>
            <a:srgbClr val="FFFFFF"/>
          </a:solidFill>
          <a:ln w="10160">
            <a:solidFill>
              <a:srgbClr val="D0DCE4"/>
            </a:solidFill>
            <a:prstDash val="solid"/>
          </a:ln>
        </p:spPr>
      </p:sp>
      <p:sp>
        <p:nvSpPr>
          <p:cNvPr id="33" name="Shape 31"/>
          <p:cNvSpPr/>
          <p:nvPr/>
        </p:nvSpPr>
        <p:spPr>
          <a:xfrm>
            <a:off x="438912" y="4892040"/>
            <a:ext cx="438912" cy="438912"/>
          </a:xfrm>
          <a:prstGeom prst="ellipse">
            <a:avLst/>
          </a:prstGeom>
          <a:solidFill>
            <a:srgbClr val="1E8449"/>
          </a:solidFill>
          <a:ln/>
        </p:spPr>
      </p:sp>
      <p:sp>
        <p:nvSpPr>
          <p:cNvPr id="34" name="Text 32"/>
          <p:cNvSpPr/>
          <p:nvPr/>
        </p:nvSpPr>
        <p:spPr>
          <a:xfrm>
            <a:off x="438912" y="4892040"/>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5" name="Text 33"/>
          <p:cNvSpPr/>
          <p:nvPr/>
        </p:nvSpPr>
        <p:spPr>
          <a:xfrm>
            <a:off x="1005840" y="4828032"/>
            <a:ext cx="347472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Verify it appears in Measures table</a:t>
            </a:r>
            <a:endParaRPr lang="en-US" sz="1300" dirty="0"/>
          </a:p>
        </p:txBody>
      </p:sp>
      <p:sp>
        <p:nvSpPr>
          <p:cNvPr id="36" name="Text 34"/>
          <p:cNvSpPr/>
          <p:nvPr/>
        </p:nvSpPr>
        <p:spPr>
          <a:xfrm>
            <a:off x="1005840" y="5129784"/>
            <a:ext cx="10424160" cy="27432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The new measure appears under the Measures table in the Fields panel with a small calculator icon (fx) next to it.</a:t>
            </a:r>
            <a:endParaRPr lang="en-US" sz="1100" dirty="0"/>
          </a:p>
        </p:txBody>
      </p:sp>
      <p:sp>
        <p:nvSpPr>
          <p:cNvPr id="37" name="Shape 35"/>
          <p:cNvSpPr/>
          <p:nvPr/>
        </p:nvSpPr>
        <p:spPr>
          <a:xfrm>
            <a:off x="320040" y="5449824"/>
            <a:ext cx="11475720" cy="612648"/>
          </a:xfrm>
          <a:prstGeom prst="roundRect">
            <a:avLst>
              <a:gd name="adj" fmla="val 10448"/>
            </a:avLst>
          </a:prstGeom>
          <a:solidFill>
            <a:srgbClr val="FFFFFF"/>
          </a:solidFill>
          <a:ln w="10160">
            <a:solidFill>
              <a:srgbClr val="D0DCE4"/>
            </a:solidFill>
            <a:prstDash val="solid"/>
          </a:ln>
        </p:spPr>
      </p:sp>
      <p:sp>
        <p:nvSpPr>
          <p:cNvPr id="38" name="Shape 36"/>
          <p:cNvSpPr/>
          <p:nvPr/>
        </p:nvSpPr>
        <p:spPr>
          <a:xfrm>
            <a:off x="438912" y="5559552"/>
            <a:ext cx="438912" cy="438912"/>
          </a:xfrm>
          <a:prstGeom prst="ellipse">
            <a:avLst/>
          </a:prstGeom>
          <a:solidFill>
            <a:srgbClr val="1E8449"/>
          </a:solidFill>
          <a:ln/>
        </p:spPr>
      </p:sp>
      <p:sp>
        <p:nvSpPr>
          <p:cNvPr id="39" name="Text 37"/>
          <p:cNvSpPr/>
          <p:nvPr/>
        </p:nvSpPr>
        <p:spPr>
          <a:xfrm>
            <a:off x="438912" y="5559552"/>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0" name="Text 38"/>
          <p:cNvSpPr/>
          <p:nvPr/>
        </p:nvSpPr>
        <p:spPr>
          <a:xfrm>
            <a:off x="1005840" y="5495544"/>
            <a:ext cx="347472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Format the measure</a:t>
            </a:r>
            <a:endParaRPr lang="en-US" sz="1300" dirty="0"/>
          </a:p>
        </p:txBody>
      </p:sp>
      <p:sp>
        <p:nvSpPr>
          <p:cNvPr id="41" name="Text 39"/>
          <p:cNvSpPr/>
          <p:nvPr/>
        </p:nvSpPr>
        <p:spPr>
          <a:xfrm>
            <a:off x="1005840" y="5797296"/>
            <a:ext cx="10424160" cy="27432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With the measure selected in Fields, use the "Measure Tools" ribbon to set the format — e.g. Whole Number, Currency, Percentage, Decimal Places.</a:t>
            </a:r>
            <a:endParaRPr lang="en-US" sz="1100" dirty="0"/>
          </a:p>
        </p:txBody>
      </p:sp>
      <p:sp>
        <p:nvSpPr>
          <p:cNvPr id="42" name="Shape 40"/>
          <p:cNvSpPr/>
          <p:nvPr/>
        </p:nvSpPr>
        <p:spPr>
          <a:xfrm>
            <a:off x="320040" y="6492240"/>
            <a:ext cx="11475720" cy="438912"/>
          </a:xfrm>
          <a:prstGeom prst="roundRect">
            <a:avLst>
              <a:gd name="adj" fmla="val 14583"/>
            </a:avLst>
          </a:prstGeom>
          <a:solidFill>
            <a:srgbClr val="FFF1C1"/>
          </a:solidFill>
          <a:ln w="10160">
            <a:solidFill>
              <a:srgbClr val="E29F18"/>
            </a:solidFill>
            <a:prstDash val="solid"/>
          </a:ln>
        </p:spPr>
      </p:sp>
      <p:sp>
        <p:nvSpPr>
          <p:cNvPr id="43" name="Text 41"/>
          <p:cNvSpPr/>
          <p:nvPr/>
        </p:nvSpPr>
        <p:spPr>
          <a:xfrm>
            <a:off x="429768" y="6537960"/>
            <a:ext cx="11292840" cy="347472"/>
          </a:xfrm>
          <a:prstGeom prst="rect">
            <a:avLst/>
          </a:prstGeom>
          <a:noFill/>
          <a:ln/>
        </p:spPr>
        <p:txBody>
          <a:bodyPr wrap="square" rtlCol="0" anchor="ctr"/>
          <a:lstStyle/>
          <a:p>
            <a:pPr indent="0" marL="0">
              <a:buNone/>
            </a:pPr>
            <a:r>
              <a:rPr lang="en-US" sz="1100" i="1" dirty="0">
                <a:solidFill>
                  <a:srgbClr val="7D5900"/>
                </a:solidFill>
                <a:latin typeface="Calibri" pitchFamily="34" charset="0"/>
                <a:ea typeface="Calibri" pitchFamily="34" charset="-122"/>
                <a:cs typeface="Calibri" pitchFamily="34" charset="-120"/>
              </a:rPr>
              <a:t>⚡  If a measure shows an error: check for missing brackets, wrong table name, or wrong column name. Column names must match exactly including spaces and capitalisation.</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AFA"/>
          </a:solidFill>
          <a:ln/>
        </p:spPr>
      </p:sp>
      <p:sp>
        <p:nvSpPr>
          <p:cNvPr id="3" name="Shape 1"/>
          <p:cNvSpPr/>
          <p:nvPr/>
        </p:nvSpPr>
        <p:spPr>
          <a:xfrm>
            <a:off x="0" y="0"/>
            <a:ext cx="82296" cy="6858000"/>
          </a:xfrm>
          <a:prstGeom prst="rect">
            <a:avLst/>
          </a:prstGeom>
          <a:solidFill>
            <a:srgbClr val="006D77"/>
          </a:solidFill>
          <a:ln/>
        </p:spPr>
      </p:sp>
      <p:sp>
        <p:nvSpPr>
          <p:cNvPr id="4" name="Shape 2"/>
          <p:cNvSpPr/>
          <p:nvPr/>
        </p:nvSpPr>
        <p:spPr>
          <a:xfrm>
            <a:off x="0" y="0"/>
            <a:ext cx="12161520" cy="1371600"/>
          </a:xfrm>
          <a:prstGeom prst="rect">
            <a:avLst/>
          </a:prstGeom>
          <a:solidFill>
            <a:srgbClr val="006D77"/>
          </a:solidFill>
          <a:ln/>
        </p:spPr>
      </p:sp>
      <p:sp>
        <p:nvSpPr>
          <p:cNvPr id="5" name="Text 3"/>
          <p:cNvSpPr/>
          <p:nvPr/>
        </p:nvSpPr>
        <p:spPr>
          <a:xfrm>
            <a:off x="320040" y="164592"/>
            <a:ext cx="1152144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STEP 8 — DAX Measures (Part 1): Core Counts &amp; Totals</a:t>
            </a:r>
            <a:endParaRPr lang="en-US" sz="2400" dirty="0"/>
          </a:p>
        </p:txBody>
      </p:sp>
      <p:sp>
        <p:nvSpPr>
          <p:cNvPr id="6" name="Text 4"/>
          <p:cNvSpPr/>
          <p:nvPr/>
        </p:nvSpPr>
        <p:spPr>
          <a:xfrm>
            <a:off x="320040" y="822960"/>
            <a:ext cx="11521440" cy="411480"/>
          </a:xfrm>
          <a:prstGeom prst="rect">
            <a:avLst/>
          </a:prstGeom>
          <a:noFill/>
          <a:ln/>
        </p:spPr>
        <p:txBody>
          <a:bodyPr wrap="square" rtlCol="0" anchor="ctr"/>
          <a:lstStyle/>
          <a:p>
            <a:pPr indent="0" marL="0">
              <a:buNone/>
            </a:pPr>
            <a:r>
              <a:rPr lang="en-US" sz="1200" i="1" dirty="0">
                <a:solidFill>
                  <a:srgbClr val="83C5BE"/>
                </a:solidFill>
                <a:latin typeface="Calibri" pitchFamily="34" charset="0"/>
                <a:ea typeface="Calibri" pitchFamily="34" charset="-122"/>
                <a:cs typeface="Calibri" pitchFamily="34" charset="-120"/>
              </a:rPr>
              <a:t>Write each of these measures. Format settings are listed after each formula.</a:t>
            </a:r>
            <a:endParaRPr lang="en-US" sz="1200" dirty="0"/>
          </a:p>
        </p:txBody>
      </p:sp>
      <p:sp>
        <p:nvSpPr>
          <p:cNvPr id="7" name="Shape 5"/>
          <p:cNvSpPr/>
          <p:nvPr/>
        </p:nvSpPr>
        <p:spPr>
          <a:xfrm>
            <a:off x="320040" y="1444752"/>
            <a:ext cx="11475720" cy="960120"/>
          </a:xfrm>
          <a:prstGeom prst="roundRect">
            <a:avLst>
              <a:gd name="adj" fmla="val 6667"/>
            </a:avLst>
          </a:prstGeom>
          <a:solidFill>
            <a:srgbClr val="FFFFFF"/>
          </a:solidFill>
          <a:ln w="10160">
            <a:solidFill>
              <a:srgbClr val="D0DCE4"/>
            </a:solidFill>
            <a:prstDash val="solid"/>
          </a:ln>
        </p:spPr>
      </p:sp>
      <p:sp>
        <p:nvSpPr>
          <p:cNvPr id="8" name="Shape 6"/>
          <p:cNvSpPr/>
          <p:nvPr/>
        </p:nvSpPr>
        <p:spPr>
          <a:xfrm>
            <a:off x="320040" y="1444752"/>
            <a:ext cx="2011680" cy="960120"/>
          </a:xfrm>
          <a:prstGeom prst="roundRect">
            <a:avLst>
              <a:gd name="adj" fmla="val 6667"/>
            </a:avLst>
          </a:prstGeom>
          <a:solidFill>
            <a:srgbClr val="006D77"/>
          </a:solidFill>
          <a:ln/>
        </p:spPr>
      </p:sp>
      <p:sp>
        <p:nvSpPr>
          <p:cNvPr id="9" name="Text 7"/>
          <p:cNvSpPr/>
          <p:nvPr/>
        </p:nvSpPr>
        <p:spPr>
          <a:xfrm>
            <a:off x="320040" y="1490472"/>
            <a:ext cx="201168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Total Admissions</a:t>
            </a:r>
            <a:endParaRPr lang="en-US" sz="1200" dirty="0"/>
          </a:p>
        </p:txBody>
      </p:sp>
      <p:sp>
        <p:nvSpPr>
          <p:cNvPr id="10" name="Text 8"/>
          <p:cNvSpPr/>
          <p:nvPr/>
        </p:nvSpPr>
        <p:spPr>
          <a:xfrm>
            <a:off x="320040" y="1975104"/>
            <a:ext cx="2011680" cy="347472"/>
          </a:xfrm>
          <a:prstGeom prst="rect">
            <a:avLst/>
          </a:prstGeom>
          <a:noFill/>
          <a:ln/>
        </p:spPr>
        <p:txBody>
          <a:bodyPr wrap="square" rtlCol="0" anchor="ctr"/>
          <a:lstStyle/>
          <a:p>
            <a:pPr algn="ctr" indent="0" marL="0">
              <a:buNone/>
            </a:pPr>
            <a:r>
              <a:rPr lang="en-US" sz="900" dirty="0">
                <a:solidFill>
                  <a:srgbClr val="D0F0F0"/>
                </a:solidFill>
                <a:latin typeface="Calibri" pitchFamily="34" charset="0"/>
                <a:ea typeface="Calibri" pitchFamily="34" charset="-122"/>
                <a:cs typeface="Calibri" pitchFamily="34" charset="-120"/>
              </a:rPr>
              <a:t>Format: Whole Number</a:t>
            </a:r>
            <a:endParaRPr lang="en-US" sz="900" dirty="0"/>
          </a:p>
        </p:txBody>
      </p:sp>
      <p:sp>
        <p:nvSpPr>
          <p:cNvPr id="11" name="Shape 9"/>
          <p:cNvSpPr/>
          <p:nvPr/>
        </p:nvSpPr>
        <p:spPr>
          <a:xfrm>
            <a:off x="2468880" y="1490472"/>
            <a:ext cx="9125712" cy="475488"/>
          </a:xfrm>
          <a:prstGeom prst="roundRect">
            <a:avLst>
              <a:gd name="adj" fmla="val 13462"/>
            </a:avLst>
          </a:prstGeom>
          <a:solidFill>
            <a:srgbClr val="1A2B4A"/>
          </a:solidFill>
          <a:ln w="10160">
            <a:solidFill>
              <a:srgbClr val="1A2B4A"/>
            </a:solidFill>
            <a:prstDash val="solid"/>
          </a:ln>
        </p:spPr>
      </p:sp>
      <p:sp>
        <p:nvSpPr>
          <p:cNvPr id="12" name="Text 10"/>
          <p:cNvSpPr/>
          <p:nvPr/>
        </p:nvSpPr>
        <p:spPr>
          <a:xfrm>
            <a:off x="2606040" y="1581912"/>
            <a:ext cx="8897112" cy="310896"/>
          </a:xfrm>
          <a:prstGeom prst="rect">
            <a:avLst/>
          </a:prstGeom>
          <a:noFill/>
          <a:ln/>
        </p:spPr>
        <p:txBody>
          <a:bodyPr wrap="square" rtlCol="0" anchor="t"/>
          <a:lstStyle/>
          <a:p>
            <a:pPr indent="0" marL="0">
              <a:buNone/>
            </a:pPr>
            <a:r>
              <a:rPr lang="en-US" sz="1100" dirty="0">
                <a:solidFill>
                  <a:srgbClr val="A8D8E0"/>
                </a:solidFill>
                <a:latin typeface="Courier New" pitchFamily="34" charset="0"/>
                <a:ea typeface="Courier New" pitchFamily="34" charset="-122"/>
                <a:cs typeface="Courier New" pitchFamily="34" charset="-120"/>
              </a:rPr>
              <a:t>Total Admissions = COUNTROWS(Admissions)</a:t>
            </a:r>
            <a:endParaRPr lang="en-US" sz="1100" dirty="0"/>
          </a:p>
        </p:txBody>
      </p:sp>
      <p:sp>
        <p:nvSpPr>
          <p:cNvPr id="13" name="Text 11"/>
          <p:cNvSpPr/>
          <p:nvPr/>
        </p:nvSpPr>
        <p:spPr>
          <a:xfrm>
            <a:off x="2468880" y="2011680"/>
            <a:ext cx="9125712" cy="329184"/>
          </a:xfrm>
          <a:prstGeom prst="rect">
            <a:avLst/>
          </a:prstGeom>
          <a:noFill/>
          <a:ln/>
        </p:spPr>
        <p:txBody>
          <a:bodyPr wrap="square" rtlCol="0" anchor="ctr"/>
          <a:lstStyle/>
          <a:p>
            <a:pPr indent="0" marL="0">
              <a:buNone/>
            </a:pPr>
            <a:r>
              <a:rPr lang="en-US" sz="1000" i="1" dirty="0">
                <a:solidFill>
                  <a:srgbClr val="3D5A6C"/>
                </a:solidFill>
                <a:latin typeface="Calibri" pitchFamily="34" charset="0"/>
                <a:ea typeface="Calibri" pitchFamily="34" charset="-122"/>
                <a:cs typeface="Calibri" pitchFamily="34" charset="-120"/>
              </a:rPr>
              <a:t>COUNTROWS counts every row in the Admissions table. When a chart filters by Department, it counts only that department's rows.</a:t>
            </a:r>
            <a:endParaRPr lang="en-US" sz="1000" dirty="0"/>
          </a:p>
        </p:txBody>
      </p:sp>
      <p:sp>
        <p:nvSpPr>
          <p:cNvPr id="14" name="Shape 12"/>
          <p:cNvSpPr/>
          <p:nvPr/>
        </p:nvSpPr>
        <p:spPr>
          <a:xfrm>
            <a:off x="320040" y="2468880"/>
            <a:ext cx="11475720" cy="960120"/>
          </a:xfrm>
          <a:prstGeom prst="roundRect">
            <a:avLst>
              <a:gd name="adj" fmla="val 6667"/>
            </a:avLst>
          </a:prstGeom>
          <a:solidFill>
            <a:srgbClr val="FFFFFF"/>
          </a:solidFill>
          <a:ln w="10160">
            <a:solidFill>
              <a:srgbClr val="D0DCE4"/>
            </a:solidFill>
            <a:prstDash val="solid"/>
          </a:ln>
        </p:spPr>
      </p:sp>
      <p:sp>
        <p:nvSpPr>
          <p:cNvPr id="15" name="Shape 13"/>
          <p:cNvSpPr/>
          <p:nvPr/>
        </p:nvSpPr>
        <p:spPr>
          <a:xfrm>
            <a:off x="320040" y="2468880"/>
            <a:ext cx="2011680" cy="960120"/>
          </a:xfrm>
          <a:prstGeom prst="roundRect">
            <a:avLst>
              <a:gd name="adj" fmla="val 6667"/>
            </a:avLst>
          </a:prstGeom>
          <a:solidFill>
            <a:srgbClr val="008891"/>
          </a:solidFill>
          <a:ln/>
        </p:spPr>
      </p:sp>
      <p:sp>
        <p:nvSpPr>
          <p:cNvPr id="16" name="Text 14"/>
          <p:cNvSpPr/>
          <p:nvPr/>
        </p:nvSpPr>
        <p:spPr>
          <a:xfrm>
            <a:off x="320040" y="2514600"/>
            <a:ext cx="201168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Total Patients</a:t>
            </a:r>
            <a:endParaRPr lang="en-US" sz="1200" dirty="0"/>
          </a:p>
        </p:txBody>
      </p:sp>
      <p:sp>
        <p:nvSpPr>
          <p:cNvPr id="17" name="Text 15"/>
          <p:cNvSpPr/>
          <p:nvPr/>
        </p:nvSpPr>
        <p:spPr>
          <a:xfrm>
            <a:off x="320040" y="2999232"/>
            <a:ext cx="2011680" cy="347472"/>
          </a:xfrm>
          <a:prstGeom prst="rect">
            <a:avLst/>
          </a:prstGeom>
          <a:noFill/>
          <a:ln/>
        </p:spPr>
        <p:txBody>
          <a:bodyPr wrap="square" rtlCol="0" anchor="ctr"/>
          <a:lstStyle/>
          <a:p>
            <a:pPr algn="ctr" indent="0" marL="0">
              <a:buNone/>
            </a:pPr>
            <a:r>
              <a:rPr lang="en-US" sz="900" dirty="0">
                <a:solidFill>
                  <a:srgbClr val="D0F0F0"/>
                </a:solidFill>
                <a:latin typeface="Calibri" pitchFamily="34" charset="0"/>
                <a:ea typeface="Calibri" pitchFamily="34" charset="-122"/>
                <a:cs typeface="Calibri" pitchFamily="34" charset="-120"/>
              </a:rPr>
              <a:t>Format: Whole Number</a:t>
            </a:r>
            <a:endParaRPr lang="en-US" sz="900" dirty="0"/>
          </a:p>
        </p:txBody>
      </p:sp>
      <p:sp>
        <p:nvSpPr>
          <p:cNvPr id="18" name="Shape 16"/>
          <p:cNvSpPr/>
          <p:nvPr/>
        </p:nvSpPr>
        <p:spPr>
          <a:xfrm>
            <a:off x="2468880" y="2514600"/>
            <a:ext cx="9125712" cy="475488"/>
          </a:xfrm>
          <a:prstGeom prst="roundRect">
            <a:avLst>
              <a:gd name="adj" fmla="val 13462"/>
            </a:avLst>
          </a:prstGeom>
          <a:solidFill>
            <a:srgbClr val="1A2B4A"/>
          </a:solidFill>
          <a:ln w="10160">
            <a:solidFill>
              <a:srgbClr val="1A2B4A"/>
            </a:solidFill>
            <a:prstDash val="solid"/>
          </a:ln>
        </p:spPr>
      </p:sp>
      <p:sp>
        <p:nvSpPr>
          <p:cNvPr id="19" name="Text 17"/>
          <p:cNvSpPr/>
          <p:nvPr/>
        </p:nvSpPr>
        <p:spPr>
          <a:xfrm>
            <a:off x="2606040" y="2606040"/>
            <a:ext cx="8897112" cy="310896"/>
          </a:xfrm>
          <a:prstGeom prst="rect">
            <a:avLst/>
          </a:prstGeom>
          <a:noFill/>
          <a:ln/>
        </p:spPr>
        <p:txBody>
          <a:bodyPr wrap="square" rtlCol="0" anchor="t"/>
          <a:lstStyle/>
          <a:p>
            <a:pPr indent="0" marL="0">
              <a:buNone/>
            </a:pPr>
            <a:r>
              <a:rPr lang="en-US" sz="1100" dirty="0">
                <a:solidFill>
                  <a:srgbClr val="A8D8E0"/>
                </a:solidFill>
                <a:latin typeface="Courier New" pitchFamily="34" charset="0"/>
                <a:ea typeface="Courier New" pitchFamily="34" charset="-122"/>
                <a:cs typeface="Courier New" pitchFamily="34" charset="-120"/>
              </a:rPr>
              <a:t>Total Patients = DISTINCTCOUNT(Admissions[Patient_ID])</a:t>
            </a:r>
            <a:endParaRPr lang="en-US" sz="1100" dirty="0"/>
          </a:p>
        </p:txBody>
      </p:sp>
      <p:sp>
        <p:nvSpPr>
          <p:cNvPr id="20" name="Text 18"/>
          <p:cNvSpPr/>
          <p:nvPr/>
        </p:nvSpPr>
        <p:spPr>
          <a:xfrm>
            <a:off x="2468880" y="3035808"/>
            <a:ext cx="9125712" cy="329184"/>
          </a:xfrm>
          <a:prstGeom prst="rect">
            <a:avLst/>
          </a:prstGeom>
          <a:noFill/>
          <a:ln/>
        </p:spPr>
        <p:txBody>
          <a:bodyPr wrap="square" rtlCol="0" anchor="ctr"/>
          <a:lstStyle/>
          <a:p>
            <a:pPr indent="0" marL="0">
              <a:buNone/>
            </a:pPr>
            <a:r>
              <a:rPr lang="en-US" sz="1000" i="1" dirty="0">
                <a:solidFill>
                  <a:srgbClr val="3D5A6C"/>
                </a:solidFill>
                <a:latin typeface="Calibri" pitchFamily="34" charset="0"/>
                <a:ea typeface="Calibri" pitchFamily="34" charset="-122"/>
                <a:cs typeface="Calibri" pitchFamily="34" charset="-120"/>
              </a:rPr>
              <a:t>DISTINCTCOUNT counts unique Patient IDs. One patient admitted 3 times = still counts as 1 patient.</a:t>
            </a:r>
            <a:endParaRPr lang="en-US" sz="1000" dirty="0"/>
          </a:p>
        </p:txBody>
      </p:sp>
      <p:sp>
        <p:nvSpPr>
          <p:cNvPr id="21" name="Shape 19"/>
          <p:cNvSpPr/>
          <p:nvPr/>
        </p:nvSpPr>
        <p:spPr>
          <a:xfrm>
            <a:off x="320040" y="3493008"/>
            <a:ext cx="11475720" cy="960120"/>
          </a:xfrm>
          <a:prstGeom prst="roundRect">
            <a:avLst>
              <a:gd name="adj" fmla="val 6667"/>
            </a:avLst>
          </a:prstGeom>
          <a:solidFill>
            <a:srgbClr val="FFFFFF"/>
          </a:solidFill>
          <a:ln w="10160">
            <a:solidFill>
              <a:srgbClr val="D0DCE4"/>
            </a:solidFill>
            <a:prstDash val="solid"/>
          </a:ln>
        </p:spPr>
      </p:sp>
      <p:sp>
        <p:nvSpPr>
          <p:cNvPr id="22" name="Shape 20"/>
          <p:cNvSpPr/>
          <p:nvPr/>
        </p:nvSpPr>
        <p:spPr>
          <a:xfrm>
            <a:off x="320040" y="3493008"/>
            <a:ext cx="2011680" cy="960120"/>
          </a:xfrm>
          <a:prstGeom prst="roundRect">
            <a:avLst>
              <a:gd name="adj" fmla="val 6667"/>
            </a:avLst>
          </a:prstGeom>
          <a:solidFill>
            <a:srgbClr val="E29F18"/>
          </a:solidFill>
          <a:ln/>
        </p:spPr>
      </p:sp>
      <p:sp>
        <p:nvSpPr>
          <p:cNvPr id="23" name="Text 21"/>
          <p:cNvSpPr/>
          <p:nvPr/>
        </p:nvSpPr>
        <p:spPr>
          <a:xfrm>
            <a:off x="320040" y="3538728"/>
            <a:ext cx="201168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Total Revenue</a:t>
            </a:r>
            <a:endParaRPr lang="en-US" sz="1200" dirty="0"/>
          </a:p>
        </p:txBody>
      </p:sp>
      <p:sp>
        <p:nvSpPr>
          <p:cNvPr id="24" name="Text 22"/>
          <p:cNvSpPr/>
          <p:nvPr/>
        </p:nvSpPr>
        <p:spPr>
          <a:xfrm>
            <a:off x="320040" y="4023360"/>
            <a:ext cx="2011680" cy="347472"/>
          </a:xfrm>
          <a:prstGeom prst="rect">
            <a:avLst/>
          </a:prstGeom>
          <a:noFill/>
          <a:ln/>
        </p:spPr>
        <p:txBody>
          <a:bodyPr wrap="square" rtlCol="0" anchor="ctr"/>
          <a:lstStyle/>
          <a:p>
            <a:pPr algn="ctr" indent="0" marL="0">
              <a:buNone/>
            </a:pPr>
            <a:r>
              <a:rPr lang="en-US" sz="900" dirty="0">
                <a:solidFill>
                  <a:srgbClr val="D0F0F0"/>
                </a:solidFill>
                <a:latin typeface="Calibri" pitchFamily="34" charset="0"/>
                <a:ea typeface="Calibri" pitchFamily="34" charset="-122"/>
                <a:cs typeface="Calibri" pitchFamily="34" charset="-120"/>
              </a:rPr>
              <a:t>Format: Currency (₨ or PKR), 0 decimal places</a:t>
            </a:r>
            <a:endParaRPr lang="en-US" sz="900" dirty="0"/>
          </a:p>
        </p:txBody>
      </p:sp>
      <p:sp>
        <p:nvSpPr>
          <p:cNvPr id="25" name="Shape 23"/>
          <p:cNvSpPr/>
          <p:nvPr/>
        </p:nvSpPr>
        <p:spPr>
          <a:xfrm>
            <a:off x="2468880" y="3538728"/>
            <a:ext cx="9125712" cy="475488"/>
          </a:xfrm>
          <a:prstGeom prst="roundRect">
            <a:avLst>
              <a:gd name="adj" fmla="val 13462"/>
            </a:avLst>
          </a:prstGeom>
          <a:solidFill>
            <a:srgbClr val="1A2B4A"/>
          </a:solidFill>
          <a:ln w="10160">
            <a:solidFill>
              <a:srgbClr val="1A2B4A"/>
            </a:solidFill>
            <a:prstDash val="solid"/>
          </a:ln>
        </p:spPr>
      </p:sp>
      <p:sp>
        <p:nvSpPr>
          <p:cNvPr id="26" name="Text 24"/>
          <p:cNvSpPr/>
          <p:nvPr/>
        </p:nvSpPr>
        <p:spPr>
          <a:xfrm>
            <a:off x="2606040" y="3630168"/>
            <a:ext cx="8897112" cy="310896"/>
          </a:xfrm>
          <a:prstGeom prst="rect">
            <a:avLst/>
          </a:prstGeom>
          <a:noFill/>
          <a:ln/>
        </p:spPr>
        <p:txBody>
          <a:bodyPr wrap="square" rtlCol="0" anchor="t"/>
          <a:lstStyle/>
          <a:p>
            <a:pPr indent="0" marL="0">
              <a:buNone/>
            </a:pPr>
            <a:r>
              <a:rPr lang="en-US" sz="1100" dirty="0">
                <a:solidFill>
                  <a:srgbClr val="A8D8E0"/>
                </a:solidFill>
                <a:latin typeface="Courier New" pitchFamily="34" charset="0"/>
                <a:ea typeface="Courier New" pitchFamily="34" charset="-122"/>
                <a:cs typeface="Courier New" pitchFamily="34" charset="-120"/>
              </a:rPr>
              <a:t>Total Revenue = SUM(Admissions[Total_Bill_PKR])</a:t>
            </a:r>
            <a:endParaRPr lang="en-US" sz="1100" dirty="0"/>
          </a:p>
        </p:txBody>
      </p:sp>
      <p:sp>
        <p:nvSpPr>
          <p:cNvPr id="27" name="Text 25"/>
          <p:cNvSpPr/>
          <p:nvPr/>
        </p:nvSpPr>
        <p:spPr>
          <a:xfrm>
            <a:off x="2468880" y="4059936"/>
            <a:ext cx="9125712" cy="329184"/>
          </a:xfrm>
          <a:prstGeom prst="rect">
            <a:avLst/>
          </a:prstGeom>
          <a:noFill/>
          <a:ln/>
        </p:spPr>
        <p:txBody>
          <a:bodyPr wrap="square" rtlCol="0" anchor="ctr"/>
          <a:lstStyle/>
          <a:p>
            <a:pPr indent="0" marL="0">
              <a:buNone/>
            </a:pPr>
            <a:r>
              <a:rPr lang="en-US" sz="1000" i="1" dirty="0">
                <a:solidFill>
                  <a:srgbClr val="3D5A6C"/>
                </a:solidFill>
                <a:latin typeface="Calibri" pitchFamily="34" charset="0"/>
                <a:ea typeface="Calibri" pitchFamily="34" charset="-122"/>
                <a:cs typeface="Calibri" pitchFamily="34" charset="-120"/>
              </a:rPr>
              <a:t>SUM adds all bills. In a Department filter context, it sums only that department's bills.</a:t>
            </a:r>
            <a:endParaRPr lang="en-US" sz="1000" dirty="0"/>
          </a:p>
        </p:txBody>
      </p:sp>
      <p:sp>
        <p:nvSpPr>
          <p:cNvPr id="28" name="Shape 26"/>
          <p:cNvSpPr/>
          <p:nvPr/>
        </p:nvSpPr>
        <p:spPr>
          <a:xfrm>
            <a:off x="320040" y="4517136"/>
            <a:ext cx="11475720" cy="960120"/>
          </a:xfrm>
          <a:prstGeom prst="roundRect">
            <a:avLst>
              <a:gd name="adj" fmla="val 6667"/>
            </a:avLst>
          </a:prstGeom>
          <a:solidFill>
            <a:srgbClr val="FFFFFF"/>
          </a:solidFill>
          <a:ln w="10160">
            <a:solidFill>
              <a:srgbClr val="D0DCE4"/>
            </a:solidFill>
            <a:prstDash val="solid"/>
          </a:ln>
        </p:spPr>
      </p:sp>
      <p:sp>
        <p:nvSpPr>
          <p:cNvPr id="29" name="Shape 27"/>
          <p:cNvSpPr/>
          <p:nvPr/>
        </p:nvSpPr>
        <p:spPr>
          <a:xfrm>
            <a:off x="320040" y="4517136"/>
            <a:ext cx="2011680" cy="960120"/>
          </a:xfrm>
          <a:prstGeom prst="roundRect">
            <a:avLst>
              <a:gd name="adj" fmla="val 6667"/>
            </a:avLst>
          </a:prstGeom>
          <a:solidFill>
            <a:srgbClr val="E67E22"/>
          </a:solidFill>
          <a:ln/>
        </p:spPr>
      </p:sp>
      <p:sp>
        <p:nvSpPr>
          <p:cNvPr id="30" name="Text 28"/>
          <p:cNvSpPr/>
          <p:nvPr/>
        </p:nvSpPr>
        <p:spPr>
          <a:xfrm>
            <a:off x="320040" y="4562856"/>
            <a:ext cx="201168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Total Insurance Covered</a:t>
            </a:r>
            <a:endParaRPr lang="en-US" sz="1200" dirty="0"/>
          </a:p>
        </p:txBody>
      </p:sp>
      <p:sp>
        <p:nvSpPr>
          <p:cNvPr id="31" name="Text 29"/>
          <p:cNvSpPr/>
          <p:nvPr/>
        </p:nvSpPr>
        <p:spPr>
          <a:xfrm>
            <a:off x="320040" y="5047488"/>
            <a:ext cx="2011680" cy="347472"/>
          </a:xfrm>
          <a:prstGeom prst="rect">
            <a:avLst/>
          </a:prstGeom>
          <a:noFill/>
          <a:ln/>
        </p:spPr>
        <p:txBody>
          <a:bodyPr wrap="square" rtlCol="0" anchor="ctr"/>
          <a:lstStyle/>
          <a:p>
            <a:pPr algn="ctr" indent="0" marL="0">
              <a:buNone/>
            </a:pPr>
            <a:r>
              <a:rPr lang="en-US" sz="900" dirty="0">
                <a:solidFill>
                  <a:srgbClr val="D0F0F0"/>
                </a:solidFill>
                <a:latin typeface="Calibri" pitchFamily="34" charset="0"/>
                <a:ea typeface="Calibri" pitchFamily="34" charset="-122"/>
                <a:cs typeface="Calibri" pitchFamily="34" charset="-120"/>
              </a:rPr>
              <a:t>Format: Currency, 0 decimal places</a:t>
            </a:r>
            <a:endParaRPr lang="en-US" sz="900" dirty="0"/>
          </a:p>
        </p:txBody>
      </p:sp>
      <p:sp>
        <p:nvSpPr>
          <p:cNvPr id="32" name="Shape 30"/>
          <p:cNvSpPr/>
          <p:nvPr/>
        </p:nvSpPr>
        <p:spPr>
          <a:xfrm>
            <a:off x="2468880" y="4562856"/>
            <a:ext cx="9125712" cy="475488"/>
          </a:xfrm>
          <a:prstGeom prst="roundRect">
            <a:avLst>
              <a:gd name="adj" fmla="val 13462"/>
            </a:avLst>
          </a:prstGeom>
          <a:solidFill>
            <a:srgbClr val="1A2B4A"/>
          </a:solidFill>
          <a:ln w="10160">
            <a:solidFill>
              <a:srgbClr val="1A2B4A"/>
            </a:solidFill>
            <a:prstDash val="solid"/>
          </a:ln>
        </p:spPr>
      </p:sp>
      <p:sp>
        <p:nvSpPr>
          <p:cNvPr id="33" name="Text 31"/>
          <p:cNvSpPr/>
          <p:nvPr/>
        </p:nvSpPr>
        <p:spPr>
          <a:xfrm>
            <a:off x="2606040" y="4654296"/>
            <a:ext cx="8897112" cy="310896"/>
          </a:xfrm>
          <a:prstGeom prst="rect">
            <a:avLst/>
          </a:prstGeom>
          <a:noFill/>
          <a:ln/>
        </p:spPr>
        <p:txBody>
          <a:bodyPr wrap="square" rtlCol="0" anchor="t"/>
          <a:lstStyle/>
          <a:p>
            <a:pPr indent="0" marL="0">
              <a:buNone/>
            </a:pPr>
            <a:r>
              <a:rPr lang="en-US" sz="1100" dirty="0">
                <a:solidFill>
                  <a:srgbClr val="A8D8E0"/>
                </a:solidFill>
                <a:latin typeface="Courier New" pitchFamily="34" charset="0"/>
                <a:ea typeface="Courier New" pitchFamily="34" charset="-122"/>
                <a:cs typeface="Courier New" pitchFamily="34" charset="-120"/>
              </a:rPr>
              <a:t>Total Insurance = SUM(Admissions[Insurance_Covered_PKR])</a:t>
            </a:r>
            <a:endParaRPr lang="en-US" sz="1100" dirty="0"/>
          </a:p>
        </p:txBody>
      </p:sp>
      <p:sp>
        <p:nvSpPr>
          <p:cNvPr id="34" name="Text 32"/>
          <p:cNvSpPr/>
          <p:nvPr/>
        </p:nvSpPr>
        <p:spPr>
          <a:xfrm>
            <a:off x="2468880" y="5084064"/>
            <a:ext cx="9125712" cy="329184"/>
          </a:xfrm>
          <a:prstGeom prst="rect">
            <a:avLst/>
          </a:prstGeom>
          <a:noFill/>
          <a:ln/>
        </p:spPr>
        <p:txBody>
          <a:bodyPr wrap="square" rtlCol="0" anchor="ctr"/>
          <a:lstStyle/>
          <a:p>
            <a:pPr indent="0" marL="0">
              <a:buNone/>
            </a:pPr>
            <a:r>
              <a:rPr lang="en-US" sz="1000" i="1" dirty="0">
                <a:solidFill>
                  <a:srgbClr val="3D5A6C"/>
                </a:solidFill>
                <a:latin typeface="Calibri" pitchFamily="34" charset="0"/>
                <a:ea typeface="Calibri" pitchFamily="34" charset="-122"/>
                <a:cs typeface="Calibri" pitchFamily="34" charset="-120"/>
              </a:rPr>
              <a:t>Sum of all insurance payments. Use this alongside Total Revenue to show how much insurance covers.</a:t>
            </a:r>
            <a:endParaRPr lang="en-US" sz="1000" dirty="0"/>
          </a:p>
        </p:txBody>
      </p:sp>
      <p:sp>
        <p:nvSpPr>
          <p:cNvPr id="35" name="Shape 33"/>
          <p:cNvSpPr/>
          <p:nvPr/>
        </p:nvSpPr>
        <p:spPr>
          <a:xfrm>
            <a:off x="320040" y="5541264"/>
            <a:ext cx="11475720" cy="960120"/>
          </a:xfrm>
          <a:prstGeom prst="roundRect">
            <a:avLst>
              <a:gd name="adj" fmla="val 6667"/>
            </a:avLst>
          </a:prstGeom>
          <a:solidFill>
            <a:srgbClr val="FFFFFF"/>
          </a:solidFill>
          <a:ln w="10160">
            <a:solidFill>
              <a:srgbClr val="D0DCE4"/>
            </a:solidFill>
            <a:prstDash val="solid"/>
          </a:ln>
        </p:spPr>
      </p:sp>
      <p:sp>
        <p:nvSpPr>
          <p:cNvPr id="36" name="Shape 34"/>
          <p:cNvSpPr/>
          <p:nvPr/>
        </p:nvSpPr>
        <p:spPr>
          <a:xfrm>
            <a:off x="320040" y="5541264"/>
            <a:ext cx="2011680" cy="960120"/>
          </a:xfrm>
          <a:prstGeom prst="roundRect">
            <a:avLst>
              <a:gd name="adj" fmla="val 6667"/>
            </a:avLst>
          </a:prstGeom>
          <a:solidFill>
            <a:srgbClr val="C0392B"/>
          </a:solidFill>
          <a:ln/>
        </p:spPr>
      </p:sp>
      <p:sp>
        <p:nvSpPr>
          <p:cNvPr id="37" name="Text 35"/>
          <p:cNvSpPr/>
          <p:nvPr/>
        </p:nvSpPr>
        <p:spPr>
          <a:xfrm>
            <a:off x="320040" y="5586984"/>
            <a:ext cx="201168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Total Out of Pocket</a:t>
            </a:r>
            <a:endParaRPr lang="en-US" sz="1200" dirty="0"/>
          </a:p>
        </p:txBody>
      </p:sp>
      <p:sp>
        <p:nvSpPr>
          <p:cNvPr id="38" name="Text 36"/>
          <p:cNvSpPr/>
          <p:nvPr/>
        </p:nvSpPr>
        <p:spPr>
          <a:xfrm>
            <a:off x="320040" y="6071616"/>
            <a:ext cx="2011680" cy="347472"/>
          </a:xfrm>
          <a:prstGeom prst="rect">
            <a:avLst/>
          </a:prstGeom>
          <a:noFill/>
          <a:ln/>
        </p:spPr>
        <p:txBody>
          <a:bodyPr wrap="square" rtlCol="0" anchor="ctr"/>
          <a:lstStyle/>
          <a:p>
            <a:pPr algn="ctr" indent="0" marL="0">
              <a:buNone/>
            </a:pPr>
            <a:r>
              <a:rPr lang="en-US" sz="900" dirty="0">
                <a:solidFill>
                  <a:srgbClr val="D0F0F0"/>
                </a:solidFill>
                <a:latin typeface="Calibri" pitchFamily="34" charset="0"/>
                <a:ea typeface="Calibri" pitchFamily="34" charset="-122"/>
                <a:cs typeface="Calibri" pitchFamily="34" charset="-120"/>
              </a:rPr>
              <a:t>Format: Currency, 0 decimal places</a:t>
            </a:r>
            <a:endParaRPr lang="en-US" sz="900" dirty="0"/>
          </a:p>
        </p:txBody>
      </p:sp>
      <p:sp>
        <p:nvSpPr>
          <p:cNvPr id="39" name="Shape 37"/>
          <p:cNvSpPr/>
          <p:nvPr/>
        </p:nvSpPr>
        <p:spPr>
          <a:xfrm>
            <a:off x="2468880" y="5586984"/>
            <a:ext cx="9125712" cy="475488"/>
          </a:xfrm>
          <a:prstGeom prst="roundRect">
            <a:avLst>
              <a:gd name="adj" fmla="val 13462"/>
            </a:avLst>
          </a:prstGeom>
          <a:solidFill>
            <a:srgbClr val="1A2B4A"/>
          </a:solidFill>
          <a:ln w="10160">
            <a:solidFill>
              <a:srgbClr val="1A2B4A"/>
            </a:solidFill>
            <a:prstDash val="solid"/>
          </a:ln>
        </p:spPr>
      </p:sp>
      <p:sp>
        <p:nvSpPr>
          <p:cNvPr id="40" name="Text 38"/>
          <p:cNvSpPr/>
          <p:nvPr/>
        </p:nvSpPr>
        <p:spPr>
          <a:xfrm>
            <a:off x="2606040" y="5678424"/>
            <a:ext cx="8897112" cy="310896"/>
          </a:xfrm>
          <a:prstGeom prst="rect">
            <a:avLst/>
          </a:prstGeom>
          <a:noFill/>
          <a:ln/>
        </p:spPr>
        <p:txBody>
          <a:bodyPr wrap="square" rtlCol="0" anchor="t"/>
          <a:lstStyle/>
          <a:p>
            <a:pPr indent="0" marL="0">
              <a:buNone/>
            </a:pPr>
            <a:r>
              <a:rPr lang="en-US" sz="1100" dirty="0">
                <a:solidFill>
                  <a:srgbClr val="A8D8E0"/>
                </a:solidFill>
                <a:latin typeface="Courier New" pitchFamily="34" charset="0"/>
                <a:ea typeface="Courier New" pitchFamily="34" charset="-122"/>
                <a:cs typeface="Courier New" pitchFamily="34" charset="-120"/>
              </a:rPr>
              <a:t>Total Out of Pocket = SUM(Admissions[Out_of_Pocket_PKR])</a:t>
            </a:r>
            <a:endParaRPr lang="en-US" sz="1100" dirty="0"/>
          </a:p>
        </p:txBody>
      </p:sp>
      <p:sp>
        <p:nvSpPr>
          <p:cNvPr id="41" name="Text 39"/>
          <p:cNvSpPr/>
          <p:nvPr/>
        </p:nvSpPr>
        <p:spPr>
          <a:xfrm>
            <a:off x="2468880" y="6108192"/>
            <a:ext cx="9125712" cy="329184"/>
          </a:xfrm>
          <a:prstGeom prst="rect">
            <a:avLst/>
          </a:prstGeom>
          <a:noFill/>
          <a:ln/>
        </p:spPr>
        <p:txBody>
          <a:bodyPr wrap="square" rtlCol="0" anchor="ctr"/>
          <a:lstStyle/>
          <a:p>
            <a:pPr indent="0" marL="0">
              <a:buNone/>
            </a:pPr>
            <a:r>
              <a:rPr lang="en-US" sz="1000" i="1" dirty="0">
                <a:solidFill>
                  <a:srgbClr val="3D5A6C"/>
                </a:solidFill>
                <a:latin typeface="Calibri" pitchFamily="34" charset="0"/>
                <a:ea typeface="Calibri" pitchFamily="34" charset="-122"/>
                <a:cs typeface="Calibri" pitchFamily="34" charset="-120"/>
              </a:rPr>
              <a:t>Sum of patient self-payments. A high number here = patients with no or low insurance coverage.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AFA"/>
          </a:solidFill>
          <a:ln/>
        </p:spPr>
      </p:sp>
      <p:sp>
        <p:nvSpPr>
          <p:cNvPr id="3" name="Shape 1"/>
          <p:cNvSpPr/>
          <p:nvPr/>
        </p:nvSpPr>
        <p:spPr>
          <a:xfrm>
            <a:off x="0" y="0"/>
            <a:ext cx="82296" cy="6858000"/>
          </a:xfrm>
          <a:prstGeom prst="rect">
            <a:avLst/>
          </a:prstGeom>
          <a:solidFill>
            <a:srgbClr val="006D77"/>
          </a:solidFill>
          <a:ln/>
        </p:spPr>
      </p:sp>
      <p:sp>
        <p:nvSpPr>
          <p:cNvPr id="4" name="Shape 2"/>
          <p:cNvSpPr/>
          <p:nvPr/>
        </p:nvSpPr>
        <p:spPr>
          <a:xfrm>
            <a:off x="0" y="0"/>
            <a:ext cx="12161520" cy="1371600"/>
          </a:xfrm>
          <a:prstGeom prst="rect">
            <a:avLst/>
          </a:prstGeom>
          <a:solidFill>
            <a:srgbClr val="006D77"/>
          </a:solidFill>
          <a:ln/>
        </p:spPr>
      </p:sp>
      <p:sp>
        <p:nvSpPr>
          <p:cNvPr id="5" name="Text 3"/>
          <p:cNvSpPr/>
          <p:nvPr/>
        </p:nvSpPr>
        <p:spPr>
          <a:xfrm>
            <a:off x="320040" y="164592"/>
            <a:ext cx="1152144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STEP 8 — DAX Measures (Part 2): Averages, Rates &amp; Ratios</a:t>
            </a:r>
            <a:endParaRPr lang="en-US" sz="2400" dirty="0"/>
          </a:p>
        </p:txBody>
      </p:sp>
      <p:sp>
        <p:nvSpPr>
          <p:cNvPr id="6" name="Text 4"/>
          <p:cNvSpPr/>
          <p:nvPr/>
        </p:nvSpPr>
        <p:spPr>
          <a:xfrm>
            <a:off x="320040" y="822960"/>
            <a:ext cx="11521440" cy="411480"/>
          </a:xfrm>
          <a:prstGeom prst="rect">
            <a:avLst/>
          </a:prstGeom>
          <a:noFill/>
          <a:ln/>
        </p:spPr>
        <p:txBody>
          <a:bodyPr wrap="square" rtlCol="0" anchor="ctr"/>
          <a:lstStyle/>
          <a:p>
            <a:pPr indent="0" marL="0">
              <a:buNone/>
            </a:pPr>
            <a:r>
              <a:rPr lang="en-US" sz="1200" i="1" dirty="0">
                <a:solidFill>
                  <a:srgbClr val="83C5BE"/>
                </a:solidFill>
                <a:latin typeface="Calibri" pitchFamily="34" charset="0"/>
                <a:ea typeface="Calibri" pitchFamily="34" charset="-122"/>
                <a:cs typeface="Calibri" pitchFamily="34" charset="-120"/>
              </a:rPr>
              <a:t>These measures give the CMO meaningful operational metrics, not just raw totals.</a:t>
            </a:r>
            <a:endParaRPr lang="en-US" sz="1200" dirty="0"/>
          </a:p>
        </p:txBody>
      </p:sp>
      <p:sp>
        <p:nvSpPr>
          <p:cNvPr id="7" name="Shape 5"/>
          <p:cNvSpPr/>
          <p:nvPr/>
        </p:nvSpPr>
        <p:spPr>
          <a:xfrm>
            <a:off x="320040" y="1444752"/>
            <a:ext cx="11475720" cy="960120"/>
          </a:xfrm>
          <a:prstGeom prst="roundRect">
            <a:avLst>
              <a:gd name="adj" fmla="val 6667"/>
            </a:avLst>
          </a:prstGeom>
          <a:solidFill>
            <a:srgbClr val="FFFFFF"/>
          </a:solidFill>
          <a:ln w="10160">
            <a:solidFill>
              <a:srgbClr val="D0DCE4"/>
            </a:solidFill>
            <a:prstDash val="solid"/>
          </a:ln>
        </p:spPr>
      </p:sp>
      <p:sp>
        <p:nvSpPr>
          <p:cNvPr id="8" name="Shape 6"/>
          <p:cNvSpPr/>
          <p:nvPr/>
        </p:nvSpPr>
        <p:spPr>
          <a:xfrm>
            <a:off x="320040" y="1444752"/>
            <a:ext cx="2011680" cy="960120"/>
          </a:xfrm>
          <a:prstGeom prst="roundRect">
            <a:avLst>
              <a:gd name="adj" fmla="val 6667"/>
            </a:avLst>
          </a:prstGeom>
          <a:solidFill>
            <a:srgbClr val="006D77"/>
          </a:solidFill>
          <a:ln/>
        </p:spPr>
      </p:sp>
      <p:sp>
        <p:nvSpPr>
          <p:cNvPr id="9" name="Text 7"/>
          <p:cNvSpPr/>
          <p:nvPr/>
        </p:nvSpPr>
        <p:spPr>
          <a:xfrm>
            <a:off x="320040" y="1490472"/>
            <a:ext cx="2011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Avg Length of Stay</a:t>
            </a:r>
            <a:endParaRPr lang="en-US" sz="1100" dirty="0"/>
          </a:p>
        </p:txBody>
      </p:sp>
      <p:sp>
        <p:nvSpPr>
          <p:cNvPr id="10" name="Text 8"/>
          <p:cNvSpPr/>
          <p:nvPr/>
        </p:nvSpPr>
        <p:spPr>
          <a:xfrm>
            <a:off x="320040" y="1975104"/>
            <a:ext cx="2011680" cy="347472"/>
          </a:xfrm>
          <a:prstGeom prst="rect">
            <a:avLst/>
          </a:prstGeom>
          <a:noFill/>
          <a:ln/>
        </p:spPr>
        <p:txBody>
          <a:bodyPr wrap="square" rtlCol="0" anchor="ctr"/>
          <a:lstStyle/>
          <a:p>
            <a:pPr algn="ctr" indent="0" marL="0">
              <a:buNone/>
            </a:pPr>
            <a:r>
              <a:rPr lang="en-US" sz="850" dirty="0">
                <a:solidFill>
                  <a:srgbClr val="D0F0F0"/>
                </a:solidFill>
                <a:latin typeface="Calibri" pitchFamily="34" charset="0"/>
                <a:ea typeface="Calibri" pitchFamily="34" charset="-122"/>
                <a:cs typeface="Calibri" pitchFamily="34" charset="-120"/>
              </a:rPr>
              <a:t>Format: Decimal, 1 decimal place (e.g. 8.4 days)</a:t>
            </a:r>
            <a:endParaRPr lang="en-US" sz="850" dirty="0"/>
          </a:p>
        </p:txBody>
      </p:sp>
      <p:sp>
        <p:nvSpPr>
          <p:cNvPr id="11" name="Shape 9"/>
          <p:cNvSpPr/>
          <p:nvPr/>
        </p:nvSpPr>
        <p:spPr>
          <a:xfrm>
            <a:off x="2468880" y="1490472"/>
            <a:ext cx="9125712" cy="475488"/>
          </a:xfrm>
          <a:prstGeom prst="roundRect">
            <a:avLst>
              <a:gd name="adj" fmla="val 13462"/>
            </a:avLst>
          </a:prstGeom>
          <a:solidFill>
            <a:srgbClr val="1A2B4A"/>
          </a:solidFill>
          <a:ln w="10160">
            <a:solidFill>
              <a:srgbClr val="1A2B4A"/>
            </a:solidFill>
            <a:prstDash val="solid"/>
          </a:ln>
        </p:spPr>
      </p:sp>
      <p:sp>
        <p:nvSpPr>
          <p:cNvPr id="12" name="Text 10"/>
          <p:cNvSpPr/>
          <p:nvPr/>
        </p:nvSpPr>
        <p:spPr>
          <a:xfrm>
            <a:off x="2606040" y="1581912"/>
            <a:ext cx="8897112" cy="310896"/>
          </a:xfrm>
          <a:prstGeom prst="rect">
            <a:avLst/>
          </a:prstGeom>
          <a:noFill/>
          <a:ln/>
        </p:spPr>
        <p:txBody>
          <a:bodyPr wrap="square" rtlCol="0" anchor="t"/>
          <a:lstStyle/>
          <a:p>
            <a:pPr indent="0" marL="0">
              <a:buNone/>
            </a:pPr>
            <a:r>
              <a:rPr lang="en-US" sz="1100" dirty="0">
                <a:solidFill>
                  <a:srgbClr val="A8D8E0"/>
                </a:solidFill>
                <a:latin typeface="Courier New" pitchFamily="34" charset="0"/>
                <a:ea typeface="Courier New" pitchFamily="34" charset="-122"/>
                <a:cs typeface="Courier New" pitchFamily="34" charset="-120"/>
              </a:rPr>
              <a:t>Avg Length of Stay = AVERAGE(Admissions[Length_of_Stay])</a:t>
            </a:r>
            <a:endParaRPr lang="en-US" sz="1100" dirty="0"/>
          </a:p>
        </p:txBody>
      </p:sp>
      <p:sp>
        <p:nvSpPr>
          <p:cNvPr id="13" name="Text 11"/>
          <p:cNvSpPr/>
          <p:nvPr/>
        </p:nvSpPr>
        <p:spPr>
          <a:xfrm>
            <a:off x="2468880" y="2011680"/>
            <a:ext cx="9125712" cy="329184"/>
          </a:xfrm>
          <a:prstGeom prst="rect">
            <a:avLst/>
          </a:prstGeom>
          <a:noFill/>
          <a:ln/>
        </p:spPr>
        <p:txBody>
          <a:bodyPr wrap="square" rtlCol="0" anchor="ctr"/>
          <a:lstStyle/>
          <a:p>
            <a:pPr indent="0" marL="0">
              <a:buNone/>
            </a:pPr>
            <a:r>
              <a:rPr lang="en-US" sz="1000" i="1" dirty="0">
                <a:solidFill>
                  <a:srgbClr val="3D5A6C"/>
                </a:solidFill>
                <a:latin typeface="Calibri" pitchFamily="34" charset="0"/>
                <a:ea typeface="Calibri" pitchFamily="34" charset="-122"/>
                <a:cs typeface="Calibri" pitchFamily="34" charset="-120"/>
              </a:rPr>
              <a:t>Average days patients stay. Lower is generally better (efficient care). Compare by department.</a:t>
            </a:r>
            <a:endParaRPr lang="en-US" sz="1000" dirty="0"/>
          </a:p>
        </p:txBody>
      </p:sp>
      <p:sp>
        <p:nvSpPr>
          <p:cNvPr id="14" name="Shape 12"/>
          <p:cNvSpPr/>
          <p:nvPr/>
        </p:nvSpPr>
        <p:spPr>
          <a:xfrm>
            <a:off x="320040" y="2468880"/>
            <a:ext cx="11475720" cy="960120"/>
          </a:xfrm>
          <a:prstGeom prst="roundRect">
            <a:avLst>
              <a:gd name="adj" fmla="val 6667"/>
            </a:avLst>
          </a:prstGeom>
          <a:solidFill>
            <a:srgbClr val="FFFFFF"/>
          </a:solidFill>
          <a:ln w="10160">
            <a:solidFill>
              <a:srgbClr val="D0DCE4"/>
            </a:solidFill>
            <a:prstDash val="solid"/>
          </a:ln>
        </p:spPr>
      </p:sp>
      <p:sp>
        <p:nvSpPr>
          <p:cNvPr id="15" name="Shape 13"/>
          <p:cNvSpPr/>
          <p:nvPr/>
        </p:nvSpPr>
        <p:spPr>
          <a:xfrm>
            <a:off x="320040" y="2468880"/>
            <a:ext cx="2011680" cy="960120"/>
          </a:xfrm>
          <a:prstGeom prst="roundRect">
            <a:avLst>
              <a:gd name="adj" fmla="val 6667"/>
            </a:avLst>
          </a:prstGeom>
          <a:solidFill>
            <a:srgbClr val="008891"/>
          </a:solidFill>
          <a:ln/>
        </p:spPr>
      </p:sp>
      <p:sp>
        <p:nvSpPr>
          <p:cNvPr id="16" name="Text 14"/>
          <p:cNvSpPr/>
          <p:nvPr/>
        </p:nvSpPr>
        <p:spPr>
          <a:xfrm>
            <a:off x="320040" y="2514600"/>
            <a:ext cx="2011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Avg Satisfaction Score</a:t>
            </a:r>
            <a:endParaRPr lang="en-US" sz="1100" dirty="0"/>
          </a:p>
        </p:txBody>
      </p:sp>
      <p:sp>
        <p:nvSpPr>
          <p:cNvPr id="17" name="Text 15"/>
          <p:cNvSpPr/>
          <p:nvPr/>
        </p:nvSpPr>
        <p:spPr>
          <a:xfrm>
            <a:off x="320040" y="2999232"/>
            <a:ext cx="2011680" cy="347472"/>
          </a:xfrm>
          <a:prstGeom prst="rect">
            <a:avLst/>
          </a:prstGeom>
          <a:noFill/>
          <a:ln/>
        </p:spPr>
        <p:txBody>
          <a:bodyPr wrap="square" rtlCol="0" anchor="ctr"/>
          <a:lstStyle/>
          <a:p>
            <a:pPr algn="ctr" indent="0" marL="0">
              <a:buNone/>
            </a:pPr>
            <a:r>
              <a:rPr lang="en-US" sz="850" dirty="0">
                <a:solidFill>
                  <a:srgbClr val="D0F0F0"/>
                </a:solidFill>
                <a:latin typeface="Calibri" pitchFamily="34" charset="0"/>
                <a:ea typeface="Calibri" pitchFamily="34" charset="-122"/>
                <a:cs typeface="Calibri" pitchFamily="34" charset="-120"/>
              </a:rPr>
              <a:t>Format: Decimal, 2 decimal places (e.g. 3.85)</a:t>
            </a:r>
            <a:endParaRPr lang="en-US" sz="850" dirty="0"/>
          </a:p>
        </p:txBody>
      </p:sp>
      <p:sp>
        <p:nvSpPr>
          <p:cNvPr id="18" name="Shape 16"/>
          <p:cNvSpPr/>
          <p:nvPr/>
        </p:nvSpPr>
        <p:spPr>
          <a:xfrm>
            <a:off x="2468880" y="2514600"/>
            <a:ext cx="9125712" cy="475488"/>
          </a:xfrm>
          <a:prstGeom prst="roundRect">
            <a:avLst>
              <a:gd name="adj" fmla="val 13462"/>
            </a:avLst>
          </a:prstGeom>
          <a:solidFill>
            <a:srgbClr val="1A2B4A"/>
          </a:solidFill>
          <a:ln w="10160">
            <a:solidFill>
              <a:srgbClr val="1A2B4A"/>
            </a:solidFill>
            <a:prstDash val="solid"/>
          </a:ln>
        </p:spPr>
      </p:sp>
      <p:sp>
        <p:nvSpPr>
          <p:cNvPr id="19" name="Text 17"/>
          <p:cNvSpPr/>
          <p:nvPr/>
        </p:nvSpPr>
        <p:spPr>
          <a:xfrm>
            <a:off x="2606040" y="2606040"/>
            <a:ext cx="8897112" cy="310896"/>
          </a:xfrm>
          <a:prstGeom prst="rect">
            <a:avLst/>
          </a:prstGeom>
          <a:noFill/>
          <a:ln/>
        </p:spPr>
        <p:txBody>
          <a:bodyPr wrap="square" rtlCol="0" anchor="t"/>
          <a:lstStyle/>
          <a:p>
            <a:pPr indent="0" marL="0">
              <a:buNone/>
            </a:pPr>
            <a:r>
              <a:rPr lang="en-US" sz="1100" dirty="0">
                <a:solidFill>
                  <a:srgbClr val="A8D8E0"/>
                </a:solidFill>
                <a:latin typeface="Courier New" pitchFamily="34" charset="0"/>
                <a:ea typeface="Courier New" pitchFamily="34" charset="-122"/>
                <a:cs typeface="Courier New" pitchFamily="34" charset="-120"/>
              </a:rPr>
              <a:t>Avg Satisfaction = AVERAGE(Admissions[Satisfaction_Score])</a:t>
            </a:r>
            <a:endParaRPr lang="en-US" sz="1100" dirty="0"/>
          </a:p>
        </p:txBody>
      </p:sp>
      <p:sp>
        <p:nvSpPr>
          <p:cNvPr id="20" name="Text 18"/>
          <p:cNvSpPr/>
          <p:nvPr/>
        </p:nvSpPr>
        <p:spPr>
          <a:xfrm>
            <a:off x="2468880" y="3035808"/>
            <a:ext cx="9125712" cy="329184"/>
          </a:xfrm>
          <a:prstGeom prst="rect">
            <a:avLst/>
          </a:prstGeom>
          <a:noFill/>
          <a:ln/>
        </p:spPr>
        <p:txBody>
          <a:bodyPr wrap="square" rtlCol="0" anchor="ctr"/>
          <a:lstStyle/>
          <a:p>
            <a:pPr indent="0" marL="0">
              <a:buNone/>
            </a:pPr>
            <a:r>
              <a:rPr lang="en-US" sz="1000" i="1" dirty="0">
                <a:solidFill>
                  <a:srgbClr val="3D5A6C"/>
                </a:solidFill>
                <a:latin typeface="Calibri" pitchFamily="34" charset="0"/>
                <a:ea typeface="Calibri" pitchFamily="34" charset="-122"/>
                <a:cs typeface="Calibri" pitchFamily="34" charset="-120"/>
              </a:rPr>
              <a:t>Average patient rating. Scale is 2.5 to 5.0. Higher is better. Slice by doctor or department.</a:t>
            </a:r>
            <a:endParaRPr lang="en-US" sz="1000" dirty="0"/>
          </a:p>
        </p:txBody>
      </p:sp>
      <p:sp>
        <p:nvSpPr>
          <p:cNvPr id="21" name="Shape 19"/>
          <p:cNvSpPr/>
          <p:nvPr/>
        </p:nvSpPr>
        <p:spPr>
          <a:xfrm>
            <a:off x="320040" y="3493008"/>
            <a:ext cx="11475720" cy="960120"/>
          </a:xfrm>
          <a:prstGeom prst="roundRect">
            <a:avLst>
              <a:gd name="adj" fmla="val 6667"/>
            </a:avLst>
          </a:prstGeom>
          <a:solidFill>
            <a:srgbClr val="FFFFFF"/>
          </a:solidFill>
          <a:ln w="10160">
            <a:solidFill>
              <a:srgbClr val="D0DCE4"/>
            </a:solidFill>
            <a:prstDash val="solid"/>
          </a:ln>
        </p:spPr>
      </p:sp>
      <p:sp>
        <p:nvSpPr>
          <p:cNvPr id="22" name="Shape 20"/>
          <p:cNvSpPr/>
          <p:nvPr/>
        </p:nvSpPr>
        <p:spPr>
          <a:xfrm>
            <a:off x="320040" y="3493008"/>
            <a:ext cx="2011680" cy="960120"/>
          </a:xfrm>
          <a:prstGeom prst="roundRect">
            <a:avLst>
              <a:gd name="adj" fmla="val 6667"/>
            </a:avLst>
          </a:prstGeom>
          <a:solidFill>
            <a:srgbClr val="E29F18"/>
          </a:solidFill>
          <a:ln/>
        </p:spPr>
      </p:sp>
      <p:sp>
        <p:nvSpPr>
          <p:cNvPr id="23" name="Text 21"/>
          <p:cNvSpPr/>
          <p:nvPr/>
        </p:nvSpPr>
        <p:spPr>
          <a:xfrm>
            <a:off x="320040" y="3538728"/>
            <a:ext cx="2011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Avg Bill per Admission</a:t>
            </a:r>
            <a:endParaRPr lang="en-US" sz="1100" dirty="0"/>
          </a:p>
        </p:txBody>
      </p:sp>
      <p:sp>
        <p:nvSpPr>
          <p:cNvPr id="24" name="Text 22"/>
          <p:cNvSpPr/>
          <p:nvPr/>
        </p:nvSpPr>
        <p:spPr>
          <a:xfrm>
            <a:off x="320040" y="4023360"/>
            <a:ext cx="2011680" cy="347472"/>
          </a:xfrm>
          <a:prstGeom prst="rect">
            <a:avLst/>
          </a:prstGeom>
          <a:noFill/>
          <a:ln/>
        </p:spPr>
        <p:txBody>
          <a:bodyPr wrap="square" rtlCol="0" anchor="ctr"/>
          <a:lstStyle/>
          <a:p>
            <a:pPr algn="ctr" indent="0" marL="0">
              <a:buNone/>
            </a:pPr>
            <a:r>
              <a:rPr lang="en-US" sz="850" dirty="0">
                <a:solidFill>
                  <a:srgbClr val="D0F0F0"/>
                </a:solidFill>
                <a:latin typeface="Calibri" pitchFamily="34" charset="0"/>
                <a:ea typeface="Calibri" pitchFamily="34" charset="-122"/>
                <a:cs typeface="Calibri" pitchFamily="34" charset="-120"/>
              </a:rPr>
              <a:t>Format: Currency, 0 decimal places</a:t>
            </a:r>
            <a:endParaRPr lang="en-US" sz="850" dirty="0"/>
          </a:p>
        </p:txBody>
      </p:sp>
      <p:sp>
        <p:nvSpPr>
          <p:cNvPr id="25" name="Shape 23"/>
          <p:cNvSpPr/>
          <p:nvPr/>
        </p:nvSpPr>
        <p:spPr>
          <a:xfrm>
            <a:off x="2468880" y="3538728"/>
            <a:ext cx="9125712" cy="475488"/>
          </a:xfrm>
          <a:prstGeom prst="roundRect">
            <a:avLst>
              <a:gd name="adj" fmla="val 13462"/>
            </a:avLst>
          </a:prstGeom>
          <a:solidFill>
            <a:srgbClr val="1A2B4A"/>
          </a:solidFill>
          <a:ln w="10160">
            <a:solidFill>
              <a:srgbClr val="1A2B4A"/>
            </a:solidFill>
            <a:prstDash val="solid"/>
          </a:ln>
        </p:spPr>
      </p:sp>
      <p:sp>
        <p:nvSpPr>
          <p:cNvPr id="26" name="Text 24"/>
          <p:cNvSpPr/>
          <p:nvPr/>
        </p:nvSpPr>
        <p:spPr>
          <a:xfrm>
            <a:off x="2606040" y="3630168"/>
            <a:ext cx="8897112" cy="310896"/>
          </a:xfrm>
          <a:prstGeom prst="rect">
            <a:avLst/>
          </a:prstGeom>
          <a:noFill/>
          <a:ln/>
        </p:spPr>
        <p:txBody>
          <a:bodyPr wrap="square" rtlCol="0" anchor="t"/>
          <a:lstStyle/>
          <a:p>
            <a:pPr indent="0" marL="0">
              <a:buNone/>
            </a:pPr>
            <a:r>
              <a:rPr lang="en-US" sz="1100" dirty="0">
                <a:solidFill>
                  <a:srgbClr val="A8D8E0"/>
                </a:solidFill>
                <a:latin typeface="Courier New" pitchFamily="34" charset="0"/>
                <a:ea typeface="Courier New" pitchFamily="34" charset="-122"/>
                <a:cs typeface="Courier New" pitchFamily="34" charset="-120"/>
              </a:rPr>
              <a:t>Avg Bill = DIVIDE(SUM(Admissions[Total_Bill_PKR]), COUNTROWS(Admissions), 0)</a:t>
            </a:r>
            <a:endParaRPr lang="en-US" sz="1100" dirty="0"/>
          </a:p>
        </p:txBody>
      </p:sp>
      <p:sp>
        <p:nvSpPr>
          <p:cNvPr id="27" name="Text 25"/>
          <p:cNvSpPr/>
          <p:nvPr/>
        </p:nvSpPr>
        <p:spPr>
          <a:xfrm>
            <a:off x="2468880" y="4059936"/>
            <a:ext cx="9125712" cy="329184"/>
          </a:xfrm>
          <a:prstGeom prst="rect">
            <a:avLst/>
          </a:prstGeom>
          <a:noFill/>
          <a:ln/>
        </p:spPr>
        <p:txBody>
          <a:bodyPr wrap="square" rtlCol="0" anchor="ctr"/>
          <a:lstStyle/>
          <a:p>
            <a:pPr indent="0" marL="0">
              <a:buNone/>
            </a:pPr>
            <a:r>
              <a:rPr lang="en-US" sz="1000" i="1" dirty="0">
                <a:solidFill>
                  <a:srgbClr val="3D5A6C"/>
                </a:solidFill>
                <a:latin typeface="Calibri" pitchFamily="34" charset="0"/>
                <a:ea typeface="Calibri" pitchFamily="34" charset="-122"/>
                <a:cs typeface="Calibri" pitchFamily="34" charset="-120"/>
              </a:rPr>
              <a:t>DIVIDE is safer than division with /. The third argument (0) is the result if denominator is zero — prevents errors.</a:t>
            </a:r>
            <a:endParaRPr lang="en-US" sz="1000" dirty="0"/>
          </a:p>
        </p:txBody>
      </p:sp>
      <p:sp>
        <p:nvSpPr>
          <p:cNvPr id="28" name="Shape 26"/>
          <p:cNvSpPr/>
          <p:nvPr/>
        </p:nvSpPr>
        <p:spPr>
          <a:xfrm>
            <a:off x="320040" y="4517136"/>
            <a:ext cx="11475720" cy="960120"/>
          </a:xfrm>
          <a:prstGeom prst="roundRect">
            <a:avLst>
              <a:gd name="adj" fmla="val 6667"/>
            </a:avLst>
          </a:prstGeom>
          <a:solidFill>
            <a:srgbClr val="FFFFFF"/>
          </a:solidFill>
          <a:ln w="10160">
            <a:solidFill>
              <a:srgbClr val="D0DCE4"/>
            </a:solidFill>
            <a:prstDash val="solid"/>
          </a:ln>
        </p:spPr>
      </p:sp>
      <p:sp>
        <p:nvSpPr>
          <p:cNvPr id="29" name="Shape 27"/>
          <p:cNvSpPr/>
          <p:nvPr/>
        </p:nvSpPr>
        <p:spPr>
          <a:xfrm>
            <a:off x="320040" y="4517136"/>
            <a:ext cx="2011680" cy="960120"/>
          </a:xfrm>
          <a:prstGeom prst="roundRect">
            <a:avLst>
              <a:gd name="adj" fmla="val 6667"/>
            </a:avLst>
          </a:prstGeom>
          <a:solidFill>
            <a:srgbClr val="E67E22"/>
          </a:solidFill>
          <a:ln/>
        </p:spPr>
      </p:sp>
      <p:sp>
        <p:nvSpPr>
          <p:cNvPr id="30" name="Text 28"/>
          <p:cNvSpPr/>
          <p:nvPr/>
        </p:nvSpPr>
        <p:spPr>
          <a:xfrm>
            <a:off x="320040" y="4562856"/>
            <a:ext cx="2011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Insurance Coverage Rate</a:t>
            </a:r>
            <a:endParaRPr lang="en-US" sz="1100" dirty="0"/>
          </a:p>
        </p:txBody>
      </p:sp>
      <p:sp>
        <p:nvSpPr>
          <p:cNvPr id="31" name="Text 29"/>
          <p:cNvSpPr/>
          <p:nvPr/>
        </p:nvSpPr>
        <p:spPr>
          <a:xfrm>
            <a:off x="320040" y="5047488"/>
            <a:ext cx="2011680" cy="347472"/>
          </a:xfrm>
          <a:prstGeom prst="rect">
            <a:avLst/>
          </a:prstGeom>
          <a:noFill/>
          <a:ln/>
        </p:spPr>
        <p:txBody>
          <a:bodyPr wrap="square" rtlCol="0" anchor="ctr"/>
          <a:lstStyle/>
          <a:p>
            <a:pPr algn="ctr" indent="0" marL="0">
              <a:buNone/>
            </a:pPr>
            <a:r>
              <a:rPr lang="en-US" sz="850" dirty="0">
                <a:solidFill>
                  <a:srgbClr val="D0F0F0"/>
                </a:solidFill>
                <a:latin typeface="Calibri" pitchFamily="34" charset="0"/>
                <a:ea typeface="Calibri" pitchFamily="34" charset="-122"/>
                <a:cs typeface="Calibri" pitchFamily="34" charset="-120"/>
              </a:rPr>
              <a:t>Format: Percentage, 1 decimal place (e.g. 62.4%)</a:t>
            </a:r>
            <a:endParaRPr lang="en-US" sz="850" dirty="0"/>
          </a:p>
        </p:txBody>
      </p:sp>
      <p:sp>
        <p:nvSpPr>
          <p:cNvPr id="32" name="Shape 30"/>
          <p:cNvSpPr/>
          <p:nvPr/>
        </p:nvSpPr>
        <p:spPr>
          <a:xfrm>
            <a:off x="2468880" y="4562856"/>
            <a:ext cx="9125712" cy="475488"/>
          </a:xfrm>
          <a:prstGeom prst="roundRect">
            <a:avLst>
              <a:gd name="adj" fmla="val 13462"/>
            </a:avLst>
          </a:prstGeom>
          <a:solidFill>
            <a:srgbClr val="1A2B4A"/>
          </a:solidFill>
          <a:ln w="10160">
            <a:solidFill>
              <a:srgbClr val="1A2B4A"/>
            </a:solidFill>
            <a:prstDash val="solid"/>
          </a:ln>
        </p:spPr>
      </p:sp>
      <p:sp>
        <p:nvSpPr>
          <p:cNvPr id="33" name="Text 31"/>
          <p:cNvSpPr/>
          <p:nvPr/>
        </p:nvSpPr>
        <p:spPr>
          <a:xfrm>
            <a:off x="2606040" y="4654296"/>
            <a:ext cx="8897112" cy="310896"/>
          </a:xfrm>
          <a:prstGeom prst="rect">
            <a:avLst/>
          </a:prstGeom>
          <a:noFill/>
          <a:ln/>
        </p:spPr>
        <p:txBody>
          <a:bodyPr wrap="square" rtlCol="0" anchor="t"/>
          <a:lstStyle/>
          <a:p>
            <a:pPr indent="0" marL="0">
              <a:buNone/>
            </a:pPr>
            <a:r>
              <a:rPr lang="en-US" sz="1100" dirty="0">
                <a:solidFill>
                  <a:srgbClr val="A8D8E0"/>
                </a:solidFill>
                <a:latin typeface="Courier New" pitchFamily="34" charset="0"/>
                <a:ea typeface="Courier New" pitchFamily="34" charset="-122"/>
                <a:cs typeface="Courier New" pitchFamily="34" charset="-120"/>
              </a:rPr>
              <a:t>Insurance Rate % = DIVIDE(</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SUM(Admissions[Insurance_Covered_PKR]),</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SUM(Admissions[Total_Bill_PKR]),</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0)</a:t>
            </a:r>
            <a:endParaRPr lang="en-US" sz="1100" dirty="0"/>
          </a:p>
        </p:txBody>
      </p:sp>
      <p:sp>
        <p:nvSpPr>
          <p:cNvPr id="34" name="Text 32"/>
          <p:cNvSpPr/>
          <p:nvPr/>
        </p:nvSpPr>
        <p:spPr>
          <a:xfrm>
            <a:off x="2468880" y="5084064"/>
            <a:ext cx="9125712" cy="329184"/>
          </a:xfrm>
          <a:prstGeom prst="rect">
            <a:avLst/>
          </a:prstGeom>
          <a:noFill/>
          <a:ln/>
        </p:spPr>
        <p:txBody>
          <a:bodyPr wrap="square" rtlCol="0" anchor="ctr"/>
          <a:lstStyle/>
          <a:p>
            <a:pPr indent="0" marL="0">
              <a:buNone/>
            </a:pPr>
            <a:r>
              <a:rPr lang="en-US" sz="1000" i="1" dirty="0">
                <a:solidFill>
                  <a:srgbClr val="3D5A6C"/>
                </a:solidFill>
                <a:latin typeface="Calibri" pitchFamily="34" charset="0"/>
                <a:ea typeface="Calibri" pitchFamily="34" charset="-122"/>
                <a:cs typeface="Calibri" pitchFamily="34" charset="-120"/>
              </a:rPr>
              <a:t>What % of total bills is covered by insurance. 0.65 = 65% covered. This answers Q3 from your business questions.</a:t>
            </a:r>
            <a:endParaRPr lang="en-US" sz="1000" dirty="0"/>
          </a:p>
        </p:txBody>
      </p:sp>
      <p:sp>
        <p:nvSpPr>
          <p:cNvPr id="35" name="Shape 33"/>
          <p:cNvSpPr/>
          <p:nvPr/>
        </p:nvSpPr>
        <p:spPr>
          <a:xfrm>
            <a:off x="320040" y="5541264"/>
            <a:ext cx="11475720" cy="960120"/>
          </a:xfrm>
          <a:prstGeom prst="roundRect">
            <a:avLst>
              <a:gd name="adj" fmla="val 6667"/>
            </a:avLst>
          </a:prstGeom>
          <a:solidFill>
            <a:srgbClr val="FFFFFF"/>
          </a:solidFill>
          <a:ln w="10160">
            <a:solidFill>
              <a:srgbClr val="D0DCE4"/>
            </a:solidFill>
            <a:prstDash val="solid"/>
          </a:ln>
        </p:spPr>
      </p:sp>
      <p:sp>
        <p:nvSpPr>
          <p:cNvPr id="36" name="Shape 34"/>
          <p:cNvSpPr/>
          <p:nvPr/>
        </p:nvSpPr>
        <p:spPr>
          <a:xfrm>
            <a:off x="320040" y="5541264"/>
            <a:ext cx="2011680" cy="960120"/>
          </a:xfrm>
          <a:prstGeom prst="roundRect">
            <a:avLst>
              <a:gd name="adj" fmla="val 6667"/>
            </a:avLst>
          </a:prstGeom>
          <a:solidFill>
            <a:srgbClr val="1E8449"/>
          </a:solidFill>
          <a:ln/>
        </p:spPr>
      </p:sp>
      <p:sp>
        <p:nvSpPr>
          <p:cNvPr id="37" name="Text 35"/>
          <p:cNvSpPr/>
          <p:nvPr/>
        </p:nvSpPr>
        <p:spPr>
          <a:xfrm>
            <a:off x="320040" y="5586984"/>
            <a:ext cx="2011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Recovery Rate</a:t>
            </a:r>
            <a:endParaRPr lang="en-US" sz="1100" dirty="0"/>
          </a:p>
        </p:txBody>
      </p:sp>
      <p:sp>
        <p:nvSpPr>
          <p:cNvPr id="38" name="Text 36"/>
          <p:cNvSpPr/>
          <p:nvPr/>
        </p:nvSpPr>
        <p:spPr>
          <a:xfrm>
            <a:off x="320040" y="6071616"/>
            <a:ext cx="2011680" cy="347472"/>
          </a:xfrm>
          <a:prstGeom prst="rect">
            <a:avLst/>
          </a:prstGeom>
          <a:noFill/>
          <a:ln/>
        </p:spPr>
        <p:txBody>
          <a:bodyPr wrap="square" rtlCol="0" anchor="ctr"/>
          <a:lstStyle/>
          <a:p>
            <a:pPr algn="ctr" indent="0" marL="0">
              <a:buNone/>
            </a:pPr>
            <a:r>
              <a:rPr lang="en-US" sz="850" dirty="0">
                <a:solidFill>
                  <a:srgbClr val="D0F0F0"/>
                </a:solidFill>
                <a:latin typeface="Calibri" pitchFamily="34" charset="0"/>
                <a:ea typeface="Calibri" pitchFamily="34" charset="-122"/>
                <a:cs typeface="Calibri" pitchFamily="34" charset="-120"/>
              </a:rPr>
              <a:t>Format: Percentage, 1 decimal place</a:t>
            </a:r>
            <a:endParaRPr lang="en-US" sz="850" dirty="0"/>
          </a:p>
        </p:txBody>
      </p:sp>
      <p:sp>
        <p:nvSpPr>
          <p:cNvPr id="39" name="Shape 37"/>
          <p:cNvSpPr/>
          <p:nvPr/>
        </p:nvSpPr>
        <p:spPr>
          <a:xfrm>
            <a:off x="2468880" y="5586984"/>
            <a:ext cx="9125712" cy="475488"/>
          </a:xfrm>
          <a:prstGeom prst="roundRect">
            <a:avLst>
              <a:gd name="adj" fmla="val 13462"/>
            </a:avLst>
          </a:prstGeom>
          <a:solidFill>
            <a:srgbClr val="1A2B4A"/>
          </a:solidFill>
          <a:ln w="10160">
            <a:solidFill>
              <a:srgbClr val="1A2B4A"/>
            </a:solidFill>
            <a:prstDash val="solid"/>
          </a:ln>
        </p:spPr>
      </p:sp>
      <p:sp>
        <p:nvSpPr>
          <p:cNvPr id="40" name="Text 38"/>
          <p:cNvSpPr/>
          <p:nvPr/>
        </p:nvSpPr>
        <p:spPr>
          <a:xfrm>
            <a:off x="2606040" y="5678424"/>
            <a:ext cx="8897112" cy="310896"/>
          </a:xfrm>
          <a:prstGeom prst="rect">
            <a:avLst/>
          </a:prstGeom>
          <a:noFill/>
          <a:ln/>
        </p:spPr>
        <p:txBody>
          <a:bodyPr wrap="square" rtlCol="0" anchor="t"/>
          <a:lstStyle/>
          <a:p>
            <a:pPr indent="0" marL="0">
              <a:buNone/>
            </a:pPr>
            <a:r>
              <a:rPr lang="en-US" sz="1100" dirty="0">
                <a:solidFill>
                  <a:srgbClr val="A8D8E0"/>
                </a:solidFill>
                <a:latin typeface="Courier New" pitchFamily="34" charset="0"/>
                <a:ea typeface="Courier New" pitchFamily="34" charset="-122"/>
                <a:cs typeface="Courier New" pitchFamily="34" charset="-120"/>
              </a:rPr>
              <a:t>Recovery Rate % = DIVIDE(</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COUNTROWS(FILTER(Admissions,</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Admissions[Status]="Recovered")),</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COUNTROWS(Admissions), 0)</a:t>
            </a:r>
            <a:endParaRPr lang="en-US" sz="1100" dirty="0"/>
          </a:p>
        </p:txBody>
      </p:sp>
      <p:sp>
        <p:nvSpPr>
          <p:cNvPr id="41" name="Text 39"/>
          <p:cNvSpPr/>
          <p:nvPr/>
        </p:nvSpPr>
        <p:spPr>
          <a:xfrm>
            <a:off x="2468880" y="6108192"/>
            <a:ext cx="9125712" cy="329184"/>
          </a:xfrm>
          <a:prstGeom prst="rect">
            <a:avLst/>
          </a:prstGeom>
          <a:noFill/>
          <a:ln/>
        </p:spPr>
        <p:txBody>
          <a:bodyPr wrap="square" rtlCol="0" anchor="ctr"/>
          <a:lstStyle/>
          <a:p>
            <a:pPr indent="0" marL="0">
              <a:buNone/>
            </a:pPr>
            <a:r>
              <a:rPr lang="en-US" sz="1000" i="1" dirty="0">
                <a:solidFill>
                  <a:srgbClr val="3D5A6C"/>
                </a:solidFill>
                <a:latin typeface="Calibri" pitchFamily="34" charset="0"/>
                <a:ea typeface="Calibri" pitchFamily="34" charset="-122"/>
                <a:cs typeface="Calibri" pitchFamily="34" charset="-120"/>
              </a:rPr>
              <a:t>FILTER returns only rows where Status = Recovered. DIVIDE divides that count by total rows. Shows what % of patients recovered.</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AFA"/>
          </a:solidFill>
          <a:ln/>
        </p:spPr>
      </p:sp>
      <p:sp>
        <p:nvSpPr>
          <p:cNvPr id="3" name="Shape 1"/>
          <p:cNvSpPr/>
          <p:nvPr/>
        </p:nvSpPr>
        <p:spPr>
          <a:xfrm>
            <a:off x="0" y="0"/>
            <a:ext cx="82296" cy="6858000"/>
          </a:xfrm>
          <a:prstGeom prst="rect">
            <a:avLst/>
          </a:prstGeom>
          <a:solidFill>
            <a:srgbClr val="006D77"/>
          </a:solidFill>
          <a:ln/>
        </p:spPr>
      </p:sp>
      <p:sp>
        <p:nvSpPr>
          <p:cNvPr id="4" name="Shape 2"/>
          <p:cNvSpPr/>
          <p:nvPr/>
        </p:nvSpPr>
        <p:spPr>
          <a:xfrm>
            <a:off x="0" y="0"/>
            <a:ext cx="12161520" cy="1371600"/>
          </a:xfrm>
          <a:prstGeom prst="rect">
            <a:avLst/>
          </a:prstGeom>
          <a:solidFill>
            <a:srgbClr val="006D77"/>
          </a:solidFill>
          <a:ln/>
        </p:spPr>
      </p:sp>
      <p:sp>
        <p:nvSpPr>
          <p:cNvPr id="5" name="Text 3"/>
          <p:cNvSpPr/>
          <p:nvPr/>
        </p:nvSpPr>
        <p:spPr>
          <a:xfrm>
            <a:off x="320040" y="164592"/>
            <a:ext cx="1152144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STEP 8 — DAX Measures (Part 3): Time Intelligence</a:t>
            </a:r>
            <a:endParaRPr lang="en-US" sz="2400" dirty="0"/>
          </a:p>
        </p:txBody>
      </p:sp>
      <p:sp>
        <p:nvSpPr>
          <p:cNvPr id="6" name="Text 4"/>
          <p:cNvSpPr/>
          <p:nvPr/>
        </p:nvSpPr>
        <p:spPr>
          <a:xfrm>
            <a:off x="320040" y="822960"/>
            <a:ext cx="11521440" cy="411480"/>
          </a:xfrm>
          <a:prstGeom prst="rect">
            <a:avLst/>
          </a:prstGeom>
          <a:noFill/>
          <a:ln/>
        </p:spPr>
        <p:txBody>
          <a:bodyPr wrap="square" rtlCol="0" anchor="ctr"/>
          <a:lstStyle/>
          <a:p>
            <a:pPr indent="0" marL="0">
              <a:buNone/>
            </a:pPr>
            <a:r>
              <a:rPr lang="en-US" sz="1200" i="1" dirty="0">
                <a:solidFill>
                  <a:srgbClr val="83C5BE"/>
                </a:solidFill>
                <a:latin typeface="Calibri" pitchFamily="34" charset="0"/>
                <a:ea typeface="Calibri" pitchFamily="34" charset="-122"/>
                <a:cs typeface="Calibri" pitchFamily="34" charset="-120"/>
              </a:rPr>
              <a:t>These require the DimDate table to be marked as a Date Table — done in Step 7.</a:t>
            </a:r>
            <a:endParaRPr lang="en-US" sz="1200" dirty="0"/>
          </a:p>
        </p:txBody>
      </p:sp>
      <p:sp>
        <p:nvSpPr>
          <p:cNvPr id="7" name="Shape 5"/>
          <p:cNvSpPr/>
          <p:nvPr/>
        </p:nvSpPr>
        <p:spPr>
          <a:xfrm>
            <a:off x="320040" y="1417320"/>
            <a:ext cx="11475720" cy="658368"/>
          </a:xfrm>
          <a:prstGeom prst="roundRect">
            <a:avLst>
              <a:gd name="adj" fmla="val 12500"/>
            </a:avLst>
          </a:prstGeom>
          <a:solidFill>
            <a:srgbClr val="EDF6F9"/>
          </a:solidFill>
          <a:ln w="10160">
            <a:solidFill>
              <a:srgbClr val="006D77"/>
            </a:solidFill>
            <a:prstDash val="solid"/>
          </a:ln>
        </p:spPr>
      </p:sp>
      <p:sp>
        <p:nvSpPr>
          <p:cNvPr id="8" name="Text 6"/>
          <p:cNvSpPr/>
          <p:nvPr/>
        </p:nvSpPr>
        <p:spPr>
          <a:xfrm>
            <a:off x="475488" y="1481328"/>
            <a:ext cx="11064240" cy="502920"/>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  Important: These measures only work if DimDate is marked as a Date Table AND the relationship between DimDate[Date] and Admissions[Admission_Date] exists. If measures return blank, check both.</a:t>
            </a:r>
            <a:endParaRPr lang="en-US" sz="1100" dirty="0"/>
          </a:p>
        </p:txBody>
      </p:sp>
      <p:sp>
        <p:nvSpPr>
          <p:cNvPr id="9" name="Shape 7"/>
          <p:cNvSpPr/>
          <p:nvPr/>
        </p:nvSpPr>
        <p:spPr>
          <a:xfrm>
            <a:off x="320040" y="2176272"/>
            <a:ext cx="11475720" cy="987552"/>
          </a:xfrm>
          <a:prstGeom prst="roundRect">
            <a:avLst>
              <a:gd name="adj" fmla="val 6481"/>
            </a:avLst>
          </a:prstGeom>
          <a:solidFill>
            <a:srgbClr val="FFFFFF"/>
          </a:solidFill>
          <a:ln w="10160">
            <a:solidFill>
              <a:srgbClr val="D0DCE4"/>
            </a:solidFill>
            <a:prstDash val="solid"/>
          </a:ln>
        </p:spPr>
      </p:sp>
      <p:sp>
        <p:nvSpPr>
          <p:cNvPr id="10" name="Shape 8"/>
          <p:cNvSpPr/>
          <p:nvPr/>
        </p:nvSpPr>
        <p:spPr>
          <a:xfrm>
            <a:off x="320040" y="2176272"/>
            <a:ext cx="2011680" cy="987552"/>
          </a:xfrm>
          <a:prstGeom prst="roundRect">
            <a:avLst>
              <a:gd name="adj" fmla="val 6481"/>
            </a:avLst>
          </a:prstGeom>
          <a:solidFill>
            <a:srgbClr val="006D77"/>
          </a:solidFill>
          <a:ln/>
        </p:spPr>
      </p:sp>
      <p:sp>
        <p:nvSpPr>
          <p:cNvPr id="11" name="Text 9"/>
          <p:cNvSpPr/>
          <p:nvPr/>
        </p:nvSpPr>
        <p:spPr>
          <a:xfrm>
            <a:off x="320040" y="2404872"/>
            <a:ext cx="201168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YTD Revenue</a:t>
            </a:r>
            <a:endParaRPr lang="en-US" sz="1200" dirty="0"/>
          </a:p>
        </p:txBody>
      </p:sp>
      <p:sp>
        <p:nvSpPr>
          <p:cNvPr id="12" name="Shape 10"/>
          <p:cNvSpPr/>
          <p:nvPr/>
        </p:nvSpPr>
        <p:spPr>
          <a:xfrm>
            <a:off x="2468880" y="2231136"/>
            <a:ext cx="9125712" cy="502920"/>
          </a:xfrm>
          <a:prstGeom prst="roundRect">
            <a:avLst>
              <a:gd name="adj" fmla="val 12727"/>
            </a:avLst>
          </a:prstGeom>
          <a:solidFill>
            <a:srgbClr val="1A2B4A"/>
          </a:solidFill>
          <a:ln w="10160">
            <a:solidFill>
              <a:srgbClr val="1A2B4A"/>
            </a:solidFill>
            <a:prstDash val="solid"/>
          </a:ln>
        </p:spPr>
      </p:sp>
      <p:sp>
        <p:nvSpPr>
          <p:cNvPr id="13" name="Text 11"/>
          <p:cNvSpPr/>
          <p:nvPr/>
        </p:nvSpPr>
        <p:spPr>
          <a:xfrm>
            <a:off x="2606040" y="2322576"/>
            <a:ext cx="8897112" cy="338328"/>
          </a:xfrm>
          <a:prstGeom prst="rect">
            <a:avLst/>
          </a:prstGeom>
          <a:noFill/>
          <a:ln/>
        </p:spPr>
        <p:txBody>
          <a:bodyPr wrap="square" rtlCol="0" anchor="t"/>
          <a:lstStyle/>
          <a:p>
            <a:pPr indent="0" marL="0">
              <a:buNone/>
            </a:pPr>
            <a:r>
              <a:rPr lang="en-US" sz="1100" dirty="0">
                <a:solidFill>
                  <a:srgbClr val="A8D8E0"/>
                </a:solidFill>
                <a:latin typeface="Courier New" pitchFamily="34" charset="0"/>
                <a:ea typeface="Courier New" pitchFamily="34" charset="-122"/>
                <a:cs typeface="Courier New" pitchFamily="34" charset="-120"/>
              </a:rPr>
              <a:t>YTD Revenue =</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TOTALYTD(SUM(Admissions[Total_Bill_PKR]), DimDate[Date])</a:t>
            </a:r>
            <a:endParaRPr lang="en-US" sz="1100" dirty="0"/>
          </a:p>
        </p:txBody>
      </p:sp>
      <p:sp>
        <p:nvSpPr>
          <p:cNvPr id="14" name="Text 12"/>
          <p:cNvSpPr/>
          <p:nvPr/>
        </p:nvSpPr>
        <p:spPr>
          <a:xfrm>
            <a:off x="2468880" y="2779776"/>
            <a:ext cx="9125712" cy="329184"/>
          </a:xfrm>
          <a:prstGeom prst="rect">
            <a:avLst/>
          </a:prstGeom>
          <a:noFill/>
          <a:ln/>
        </p:spPr>
        <p:txBody>
          <a:bodyPr wrap="square" rtlCol="0" anchor="ctr"/>
          <a:lstStyle/>
          <a:p>
            <a:pPr indent="0" marL="0">
              <a:buNone/>
            </a:pPr>
            <a:r>
              <a:rPr lang="en-US" sz="1000" i="1" dirty="0">
                <a:solidFill>
                  <a:srgbClr val="3D5A6C"/>
                </a:solidFill>
                <a:latin typeface="Calibri" pitchFamily="34" charset="0"/>
                <a:ea typeface="Calibri" pitchFamily="34" charset="-122"/>
                <a:cs typeface="Calibri" pitchFamily="34" charset="-120"/>
              </a:rPr>
              <a:t>TOTALYTD accumulates the sum from January 1st of the current year to the current date in context. Shows running total for the year.</a:t>
            </a:r>
            <a:endParaRPr lang="en-US" sz="1000" dirty="0"/>
          </a:p>
        </p:txBody>
      </p:sp>
      <p:sp>
        <p:nvSpPr>
          <p:cNvPr id="15" name="Shape 13"/>
          <p:cNvSpPr/>
          <p:nvPr/>
        </p:nvSpPr>
        <p:spPr>
          <a:xfrm>
            <a:off x="320040" y="3227832"/>
            <a:ext cx="11475720" cy="987552"/>
          </a:xfrm>
          <a:prstGeom prst="roundRect">
            <a:avLst>
              <a:gd name="adj" fmla="val 6481"/>
            </a:avLst>
          </a:prstGeom>
          <a:solidFill>
            <a:srgbClr val="FFFFFF"/>
          </a:solidFill>
          <a:ln w="10160">
            <a:solidFill>
              <a:srgbClr val="D0DCE4"/>
            </a:solidFill>
            <a:prstDash val="solid"/>
          </a:ln>
        </p:spPr>
      </p:sp>
      <p:sp>
        <p:nvSpPr>
          <p:cNvPr id="16" name="Shape 14"/>
          <p:cNvSpPr/>
          <p:nvPr/>
        </p:nvSpPr>
        <p:spPr>
          <a:xfrm>
            <a:off x="320040" y="3227832"/>
            <a:ext cx="2011680" cy="987552"/>
          </a:xfrm>
          <a:prstGeom prst="roundRect">
            <a:avLst>
              <a:gd name="adj" fmla="val 6481"/>
            </a:avLst>
          </a:prstGeom>
          <a:solidFill>
            <a:srgbClr val="008891"/>
          </a:solidFill>
          <a:ln/>
        </p:spPr>
      </p:sp>
      <p:sp>
        <p:nvSpPr>
          <p:cNvPr id="17" name="Text 15"/>
          <p:cNvSpPr/>
          <p:nvPr/>
        </p:nvSpPr>
        <p:spPr>
          <a:xfrm>
            <a:off x="320040" y="3456432"/>
            <a:ext cx="201168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Monthly Admissions</a:t>
            </a:r>
            <a:endParaRPr lang="en-US" sz="1200" dirty="0"/>
          </a:p>
        </p:txBody>
      </p:sp>
      <p:sp>
        <p:nvSpPr>
          <p:cNvPr id="18" name="Shape 16"/>
          <p:cNvSpPr/>
          <p:nvPr/>
        </p:nvSpPr>
        <p:spPr>
          <a:xfrm>
            <a:off x="2468880" y="3282696"/>
            <a:ext cx="9125712" cy="502920"/>
          </a:xfrm>
          <a:prstGeom prst="roundRect">
            <a:avLst>
              <a:gd name="adj" fmla="val 12727"/>
            </a:avLst>
          </a:prstGeom>
          <a:solidFill>
            <a:srgbClr val="1A2B4A"/>
          </a:solidFill>
          <a:ln w="10160">
            <a:solidFill>
              <a:srgbClr val="1A2B4A"/>
            </a:solidFill>
            <a:prstDash val="solid"/>
          </a:ln>
        </p:spPr>
      </p:sp>
      <p:sp>
        <p:nvSpPr>
          <p:cNvPr id="19" name="Text 17"/>
          <p:cNvSpPr/>
          <p:nvPr/>
        </p:nvSpPr>
        <p:spPr>
          <a:xfrm>
            <a:off x="2606040" y="3374136"/>
            <a:ext cx="8897112" cy="338328"/>
          </a:xfrm>
          <a:prstGeom prst="rect">
            <a:avLst/>
          </a:prstGeom>
          <a:noFill/>
          <a:ln/>
        </p:spPr>
        <p:txBody>
          <a:bodyPr wrap="square" rtlCol="0" anchor="t"/>
          <a:lstStyle/>
          <a:p>
            <a:pPr indent="0" marL="0">
              <a:buNone/>
            </a:pPr>
            <a:r>
              <a:rPr lang="en-US" sz="1100" dirty="0">
                <a:solidFill>
                  <a:srgbClr val="A8D8E0"/>
                </a:solidFill>
                <a:latin typeface="Courier New" pitchFamily="34" charset="0"/>
                <a:ea typeface="Courier New" pitchFamily="34" charset="-122"/>
                <a:cs typeface="Courier New" pitchFamily="34" charset="-120"/>
              </a:rPr>
              <a:t>Monthly Admissions =</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CALCULATE(COUNTROWS(Admissions),</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DATESMTD(DimDate[Date]))</a:t>
            </a:r>
            <a:endParaRPr lang="en-US" sz="1100" dirty="0"/>
          </a:p>
        </p:txBody>
      </p:sp>
      <p:sp>
        <p:nvSpPr>
          <p:cNvPr id="20" name="Text 18"/>
          <p:cNvSpPr/>
          <p:nvPr/>
        </p:nvSpPr>
        <p:spPr>
          <a:xfrm>
            <a:off x="2468880" y="3831336"/>
            <a:ext cx="9125712" cy="329184"/>
          </a:xfrm>
          <a:prstGeom prst="rect">
            <a:avLst/>
          </a:prstGeom>
          <a:noFill/>
          <a:ln/>
        </p:spPr>
        <p:txBody>
          <a:bodyPr wrap="square" rtlCol="0" anchor="ctr"/>
          <a:lstStyle/>
          <a:p>
            <a:pPr indent="0" marL="0">
              <a:buNone/>
            </a:pPr>
            <a:r>
              <a:rPr lang="en-US" sz="1000" i="1" dirty="0">
                <a:solidFill>
                  <a:srgbClr val="3D5A6C"/>
                </a:solidFill>
                <a:latin typeface="Calibri" pitchFamily="34" charset="0"/>
                <a:ea typeface="Calibri" pitchFamily="34" charset="-122"/>
                <a:cs typeface="Calibri" pitchFamily="34" charset="-120"/>
              </a:rPr>
              <a:t>DATESMTD = Dates Month To Date. CALCULATE applies that date filter. Shows admissions from the 1st of the current month to today.</a:t>
            </a:r>
            <a:endParaRPr lang="en-US" sz="1000" dirty="0"/>
          </a:p>
        </p:txBody>
      </p:sp>
      <p:sp>
        <p:nvSpPr>
          <p:cNvPr id="21" name="Shape 19"/>
          <p:cNvSpPr/>
          <p:nvPr/>
        </p:nvSpPr>
        <p:spPr>
          <a:xfrm>
            <a:off x="320040" y="4279392"/>
            <a:ext cx="11475720" cy="987552"/>
          </a:xfrm>
          <a:prstGeom prst="roundRect">
            <a:avLst>
              <a:gd name="adj" fmla="val 6481"/>
            </a:avLst>
          </a:prstGeom>
          <a:solidFill>
            <a:srgbClr val="FFFFFF"/>
          </a:solidFill>
          <a:ln w="10160">
            <a:solidFill>
              <a:srgbClr val="D0DCE4"/>
            </a:solidFill>
            <a:prstDash val="solid"/>
          </a:ln>
        </p:spPr>
      </p:sp>
      <p:sp>
        <p:nvSpPr>
          <p:cNvPr id="22" name="Shape 20"/>
          <p:cNvSpPr/>
          <p:nvPr/>
        </p:nvSpPr>
        <p:spPr>
          <a:xfrm>
            <a:off x="320040" y="4279392"/>
            <a:ext cx="2011680" cy="987552"/>
          </a:xfrm>
          <a:prstGeom prst="roundRect">
            <a:avLst>
              <a:gd name="adj" fmla="val 6481"/>
            </a:avLst>
          </a:prstGeom>
          <a:solidFill>
            <a:srgbClr val="E29F18"/>
          </a:solidFill>
          <a:ln/>
        </p:spPr>
      </p:sp>
      <p:sp>
        <p:nvSpPr>
          <p:cNvPr id="23" name="Text 21"/>
          <p:cNvSpPr/>
          <p:nvPr/>
        </p:nvSpPr>
        <p:spPr>
          <a:xfrm>
            <a:off x="320040" y="4507992"/>
            <a:ext cx="201168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Prev Year Revenue</a:t>
            </a:r>
            <a:endParaRPr lang="en-US" sz="1200" dirty="0"/>
          </a:p>
        </p:txBody>
      </p:sp>
      <p:sp>
        <p:nvSpPr>
          <p:cNvPr id="24" name="Shape 22"/>
          <p:cNvSpPr/>
          <p:nvPr/>
        </p:nvSpPr>
        <p:spPr>
          <a:xfrm>
            <a:off x="2468880" y="4334256"/>
            <a:ext cx="9125712" cy="502920"/>
          </a:xfrm>
          <a:prstGeom prst="roundRect">
            <a:avLst>
              <a:gd name="adj" fmla="val 12727"/>
            </a:avLst>
          </a:prstGeom>
          <a:solidFill>
            <a:srgbClr val="1A2B4A"/>
          </a:solidFill>
          <a:ln w="10160">
            <a:solidFill>
              <a:srgbClr val="1A2B4A"/>
            </a:solidFill>
            <a:prstDash val="solid"/>
          </a:ln>
        </p:spPr>
      </p:sp>
      <p:sp>
        <p:nvSpPr>
          <p:cNvPr id="25" name="Text 23"/>
          <p:cNvSpPr/>
          <p:nvPr/>
        </p:nvSpPr>
        <p:spPr>
          <a:xfrm>
            <a:off x="2606040" y="4425696"/>
            <a:ext cx="8897112" cy="338328"/>
          </a:xfrm>
          <a:prstGeom prst="rect">
            <a:avLst/>
          </a:prstGeom>
          <a:noFill/>
          <a:ln/>
        </p:spPr>
        <p:txBody>
          <a:bodyPr wrap="square" rtlCol="0" anchor="t"/>
          <a:lstStyle/>
          <a:p>
            <a:pPr indent="0" marL="0">
              <a:buNone/>
            </a:pPr>
            <a:r>
              <a:rPr lang="en-US" sz="1100" dirty="0">
                <a:solidFill>
                  <a:srgbClr val="A8D8E0"/>
                </a:solidFill>
                <a:latin typeface="Courier New" pitchFamily="34" charset="0"/>
                <a:ea typeface="Courier New" pitchFamily="34" charset="-122"/>
                <a:cs typeface="Courier New" pitchFamily="34" charset="-120"/>
              </a:rPr>
              <a:t>Prev Year Revenue =</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CALCULATE(SUM(Admissions[Total_Bill_PKR]),</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PREVIOUSYEAR(DimDate[Date]))</a:t>
            </a:r>
            <a:endParaRPr lang="en-US" sz="1100" dirty="0"/>
          </a:p>
        </p:txBody>
      </p:sp>
      <p:sp>
        <p:nvSpPr>
          <p:cNvPr id="26" name="Text 24"/>
          <p:cNvSpPr/>
          <p:nvPr/>
        </p:nvSpPr>
        <p:spPr>
          <a:xfrm>
            <a:off x="2468880" y="4882896"/>
            <a:ext cx="9125712" cy="329184"/>
          </a:xfrm>
          <a:prstGeom prst="rect">
            <a:avLst/>
          </a:prstGeom>
          <a:noFill/>
          <a:ln/>
        </p:spPr>
        <p:txBody>
          <a:bodyPr wrap="square" rtlCol="0" anchor="ctr"/>
          <a:lstStyle/>
          <a:p>
            <a:pPr indent="0" marL="0">
              <a:buNone/>
            </a:pPr>
            <a:r>
              <a:rPr lang="en-US" sz="1000" i="1" dirty="0">
                <a:solidFill>
                  <a:srgbClr val="3D5A6C"/>
                </a:solidFill>
                <a:latin typeface="Calibri" pitchFamily="34" charset="0"/>
                <a:ea typeface="Calibri" pitchFamily="34" charset="-122"/>
                <a:cs typeface="Calibri" pitchFamily="34" charset="-120"/>
              </a:rPr>
              <a:t>PREVIOUSYEAR shifts the date filter back 12 months. Gives you the same period last year for comparison.</a:t>
            </a:r>
            <a:endParaRPr lang="en-US" sz="1000" dirty="0"/>
          </a:p>
        </p:txBody>
      </p:sp>
      <p:sp>
        <p:nvSpPr>
          <p:cNvPr id="27" name="Shape 25"/>
          <p:cNvSpPr/>
          <p:nvPr/>
        </p:nvSpPr>
        <p:spPr>
          <a:xfrm>
            <a:off x="320040" y="5330952"/>
            <a:ext cx="11475720" cy="987552"/>
          </a:xfrm>
          <a:prstGeom prst="roundRect">
            <a:avLst>
              <a:gd name="adj" fmla="val 6481"/>
            </a:avLst>
          </a:prstGeom>
          <a:solidFill>
            <a:srgbClr val="FFFFFF"/>
          </a:solidFill>
          <a:ln w="10160">
            <a:solidFill>
              <a:srgbClr val="D0DCE4"/>
            </a:solidFill>
            <a:prstDash val="solid"/>
          </a:ln>
        </p:spPr>
      </p:sp>
      <p:sp>
        <p:nvSpPr>
          <p:cNvPr id="28" name="Shape 26"/>
          <p:cNvSpPr/>
          <p:nvPr/>
        </p:nvSpPr>
        <p:spPr>
          <a:xfrm>
            <a:off x="320040" y="5330952"/>
            <a:ext cx="2011680" cy="987552"/>
          </a:xfrm>
          <a:prstGeom prst="roundRect">
            <a:avLst>
              <a:gd name="adj" fmla="val 6481"/>
            </a:avLst>
          </a:prstGeom>
          <a:solidFill>
            <a:srgbClr val="E67E22"/>
          </a:solidFill>
          <a:ln/>
        </p:spPr>
      </p:sp>
      <p:sp>
        <p:nvSpPr>
          <p:cNvPr id="29" name="Text 27"/>
          <p:cNvSpPr/>
          <p:nvPr/>
        </p:nvSpPr>
        <p:spPr>
          <a:xfrm>
            <a:off x="320040" y="5559552"/>
            <a:ext cx="201168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Revenue Growth %</a:t>
            </a:r>
            <a:endParaRPr lang="en-US" sz="1200" dirty="0"/>
          </a:p>
        </p:txBody>
      </p:sp>
      <p:sp>
        <p:nvSpPr>
          <p:cNvPr id="30" name="Shape 28"/>
          <p:cNvSpPr/>
          <p:nvPr/>
        </p:nvSpPr>
        <p:spPr>
          <a:xfrm>
            <a:off x="2468880" y="5385816"/>
            <a:ext cx="9125712" cy="502920"/>
          </a:xfrm>
          <a:prstGeom prst="roundRect">
            <a:avLst>
              <a:gd name="adj" fmla="val 12727"/>
            </a:avLst>
          </a:prstGeom>
          <a:solidFill>
            <a:srgbClr val="1A2B4A"/>
          </a:solidFill>
          <a:ln w="10160">
            <a:solidFill>
              <a:srgbClr val="1A2B4A"/>
            </a:solidFill>
            <a:prstDash val="solid"/>
          </a:ln>
        </p:spPr>
      </p:sp>
      <p:sp>
        <p:nvSpPr>
          <p:cNvPr id="31" name="Text 29"/>
          <p:cNvSpPr/>
          <p:nvPr/>
        </p:nvSpPr>
        <p:spPr>
          <a:xfrm>
            <a:off x="2606040" y="5477256"/>
            <a:ext cx="8897112" cy="338328"/>
          </a:xfrm>
          <a:prstGeom prst="rect">
            <a:avLst/>
          </a:prstGeom>
          <a:noFill/>
          <a:ln/>
        </p:spPr>
        <p:txBody>
          <a:bodyPr wrap="square" rtlCol="0" anchor="t"/>
          <a:lstStyle/>
          <a:p>
            <a:pPr indent="0" marL="0">
              <a:buNone/>
            </a:pPr>
            <a:r>
              <a:rPr lang="en-US" sz="1100" dirty="0">
                <a:solidFill>
                  <a:srgbClr val="A8D8E0"/>
                </a:solidFill>
                <a:latin typeface="Courier New" pitchFamily="34" charset="0"/>
                <a:ea typeface="Courier New" pitchFamily="34" charset="-122"/>
                <a:cs typeface="Courier New" pitchFamily="34" charset="-120"/>
              </a:rPr>
              <a:t>Revenue Growth % =</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DIVIDE(</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[Total Revenue] - [Prev Year Revenue],</a:t>
            </a:r>
            <a:endParaRPr lang="en-US" sz="1100" dirty="0"/>
          </a:p>
          <a:p>
            <a:pPr indent="0" marL="0">
              <a:buNone/>
            </a:pPr>
            <a:r>
              <a:rPr lang="en-US" sz="1100" dirty="0">
                <a:solidFill>
                  <a:srgbClr val="A8D8E0"/>
                </a:solidFill>
                <a:latin typeface="Courier New" pitchFamily="34" charset="0"/>
                <a:ea typeface="Courier New" pitchFamily="34" charset="-122"/>
                <a:cs typeface="Courier New" pitchFamily="34" charset="-120"/>
              </a:rPr>
              <a:t>    [Prev Year Revenue], 0)</a:t>
            </a:r>
            <a:endParaRPr lang="en-US" sz="1100" dirty="0"/>
          </a:p>
        </p:txBody>
      </p:sp>
      <p:sp>
        <p:nvSpPr>
          <p:cNvPr id="32" name="Text 30"/>
          <p:cNvSpPr/>
          <p:nvPr/>
        </p:nvSpPr>
        <p:spPr>
          <a:xfrm>
            <a:off x="2468880" y="5934456"/>
            <a:ext cx="9125712" cy="329184"/>
          </a:xfrm>
          <a:prstGeom prst="rect">
            <a:avLst/>
          </a:prstGeom>
          <a:noFill/>
          <a:ln/>
        </p:spPr>
        <p:txBody>
          <a:bodyPr wrap="square" rtlCol="0" anchor="ctr"/>
          <a:lstStyle/>
          <a:p>
            <a:pPr indent="0" marL="0">
              <a:buNone/>
            </a:pPr>
            <a:r>
              <a:rPr lang="en-US" sz="1000" i="1" dirty="0">
                <a:solidFill>
                  <a:srgbClr val="3D5A6C"/>
                </a:solidFill>
                <a:latin typeface="Calibri" pitchFamily="34" charset="0"/>
                <a:ea typeface="Calibri" pitchFamily="34" charset="-122"/>
                <a:cs typeface="Calibri" pitchFamily="34" charset="-120"/>
              </a:rPr>
              <a:t>Uses our two measures above. Calculates year-over-year growth. A positive number = grew vs last year. References measures using [brackets] not columns.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06D77"/>
          </a:solidFill>
          <a:ln/>
        </p:spPr>
      </p:sp>
      <p:sp>
        <p:nvSpPr>
          <p:cNvPr id="3" name="Shape 1"/>
          <p:cNvSpPr/>
          <p:nvPr/>
        </p:nvSpPr>
        <p:spPr>
          <a:xfrm>
            <a:off x="0" y="6309360"/>
            <a:ext cx="12161520" cy="548640"/>
          </a:xfrm>
          <a:prstGeom prst="rect">
            <a:avLst/>
          </a:prstGeom>
          <a:solidFill>
            <a:srgbClr val="E29F18"/>
          </a:solidFill>
          <a:ln/>
        </p:spPr>
      </p:sp>
      <p:sp>
        <p:nvSpPr>
          <p:cNvPr id="4" name="Text 2"/>
          <p:cNvSpPr/>
          <p:nvPr/>
        </p:nvSpPr>
        <p:spPr>
          <a:xfrm>
            <a:off x="640080" y="1097280"/>
            <a:ext cx="10058400" cy="457200"/>
          </a:xfrm>
          <a:prstGeom prst="rect">
            <a:avLst/>
          </a:prstGeom>
          <a:noFill/>
          <a:ln/>
        </p:spPr>
        <p:txBody>
          <a:bodyPr wrap="square" rtlCol="0" anchor="ctr"/>
          <a:lstStyle/>
          <a:p>
            <a:pPr indent="0" marL="0">
              <a:buNone/>
            </a:pPr>
            <a:r>
              <a:rPr lang="en-US" sz="1300" b="1" spc="500" kern="0" dirty="0">
                <a:solidFill>
                  <a:srgbClr val="83C5BE"/>
                </a:solidFill>
                <a:latin typeface="Calibri" pitchFamily="34" charset="0"/>
                <a:ea typeface="Calibri" pitchFamily="34" charset="-122"/>
                <a:cs typeface="Calibri" pitchFamily="34" charset="-120"/>
              </a:rPr>
              <a:t>SECTION 04</a:t>
            </a:r>
            <a:endParaRPr lang="en-US" sz="1300" dirty="0"/>
          </a:p>
        </p:txBody>
      </p:sp>
      <p:sp>
        <p:nvSpPr>
          <p:cNvPr id="5" name="Text 3"/>
          <p:cNvSpPr/>
          <p:nvPr/>
        </p:nvSpPr>
        <p:spPr>
          <a:xfrm>
            <a:off x="640080" y="1572768"/>
            <a:ext cx="10058400" cy="1371600"/>
          </a:xfrm>
          <a:prstGeom prst="rect">
            <a:avLst/>
          </a:prstGeom>
          <a:noFill/>
          <a:ln/>
        </p:spPr>
        <p:txBody>
          <a:bodyPr wrap="square" rtlCol="0" anchor="ctr"/>
          <a:lstStyle/>
          <a:p>
            <a:pPr indent="0" marL="0">
              <a:lnSpc>
                <a:spcPct val="110000"/>
              </a:lnSpc>
              <a:buNone/>
            </a:pPr>
            <a:r>
              <a:rPr lang="en-US" sz="4400" b="1" dirty="0">
                <a:solidFill>
                  <a:srgbClr val="FFFFFF"/>
                </a:solidFill>
                <a:latin typeface="Calibri" pitchFamily="34" charset="0"/>
                <a:ea typeface="Calibri" pitchFamily="34" charset="-122"/>
                <a:cs typeface="Calibri" pitchFamily="34" charset="-120"/>
              </a:rPr>
              <a:t>Report Design</a:t>
            </a:r>
            <a:endParaRPr lang="en-US" sz="4400" dirty="0"/>
          </a:p>
          <a:p>
            <a:pPr indent="0" marL="0">
              <a:lnSpc>
                <a:spcPct val="110000"/>
              </a:lnSpc>
              <a:buNone/>
            </a:pPr>
            <a:r>
              <a:rPr lang="en-US" sz="4400" b="1" dirty="0">
                <a:solidFill>
                  <a:srgbClr val="FFFFFF"/>
                </a:solidFill>
                <a:latin typeface="Calibri" pitchFamily="34" charset="0"/>
                <a:ea typeface="Calibri" pitchFamily="34" charset="-122"/>
                <a:cs typeface="Calibri" pitchFamily="34" charset="-120"/>
              </a:rPr>
              <a:t>4-Page Dashboard</a:t>
            </a:r>
            <a:endParaRPr lang="en-US" sz="4400" dirty="0"/>
          </a:p>
        </p:txBody>
      </p:sp>
      <p:sp>
        <p:nvSpPr>
          <p:cNvPr id="6" name="Text 4"/>
          <p:cNvSpPr/>
          <p:nvPr/>
        </p:nvSpPr>
        <p:spPr>
          <a:xfrm>
            <a:off x="640080" y="3063240"/>
            <a:ext cx="9144000" cy="594360"/>
          </a:xfrm>
          <a:prstGeom prst="rect">
            <a:avLst/>
          </a:prstGeom>
          <a:noFill/>
          <a:ln/>
        </p:spPr>
        <p:txBody>
          <a:bodyPr wrap="square" rtlCol="0" anchor="ctr"/>
          <a:lstStyle/>
          <a:p>
            <a:pPr indent="0" marL="0">
              <a:buNone/>
            </a:pPr>
            <a:r>
              <a:rPr lang="en-US" sz="1800" i="1" dirty="0">
                <a:solidFill>
                  <a:srgbClr val="C8E6E8"/>
                </a:solidFill>
                <a:latin typeface="Calibri" pitchFamily="34" charset="0"/>
                <a:ea typeface="Calibri" pitchFamily="34" charset="-122"/>
                <a:cs typeface="Calibri" pitchFamily="34" charset="-120"/>
              </a:rPr>
              <a:t>Build the visuals. Every visual placement, slicer, color, and drill-through is specified.</a:t>
            </a:r>
            <a:endParaRPr lang="en-US" sz="1800" dirty="0"/>
          </a:p>
        </p:txBody>
      </p:sp>
      <p:sp>
        <p:nvSpPr>
          <p:cNvPr id="7" name="Shape 5"/>
          <p:cNvSpPr/>
          <p:nvPr/>
        </p:nvSpPr>
        <p:spPr>
          <a:xfrm>
            <a:off x="640080" y="3840480"/>
            <a:ext cx="2697480" cy="1645920"/>
          </a:xfrm>
          <a:prstGeom prst="roundRect">
            <a:avLst>
              <a:gd name="adj" fmla="val 5556"/>
            </a:avLst>
          </a:prstGeom>
          <a:solidFill>
            <a:srgbClr val="1A2B4A"/>
          </a:solidFill>
          <a:ln w="10160">
            <a:solidFill>
              <a:srgbClr val="2A3B5A"/>
            </a:solidFill>
            <a:prstDash val="solid"/>
          </a:ln>
        </p:spPr>
      </p:sp>
      <p:sp>
        <p:nvSpPr>
          <p:cNvPr id="8" name="Text 6"/>
          <p:cNvSpPr/>
          <p:nvPr/>
        </p:nvSpPr>
        <p:spPr>
          <a:xfrm>
            <a:off x="640080" y="3977640"/>
            <a:ext cx="2697480" cy="59436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9" name="Text 7"/>
          <p:cNvSpPr/>
          <p:nvPr/>
        </p:nvSpPr>
        <p:spPr>
          <a:xfrm>
            <a:off x="640080" y="4590288"/>
            <a:ext cx="269748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Page 1: Overview</a:t>
            </a:r>
            <a:endParaRPr lang="en-US" sz="1200" dirty="0"/>
          </a:p>
        </p:txBody>
      </p:sp>
      <p:sp>
        <p:nvSpPr>
          <p:cNvPr id="10" name="Shape 8"/>
          <p:cNvSpPr/>
          <p:nvPr/>
        </p:nvSpPr>
        <p:spPr>
          <a:xfrm>
            <a:off x="3566160" y="3840480"/>
            <a:ext cx="2697480" cy="1645920"/>
          </a:xfrm>
          <a:prstGeom prst="roundRect">
            <a:avLst>
              <a:gd name="adj" fmla="val 5556"/>
            </a:avLst>
          </a:prstGeom>
          <a:solidFill>
            <a:srgbClr val="1A2B4A"/>
          </a:solidFill>
          <a:ln w="10160">
            <a:solidFill>
              <a:srgbClr val="2A3B5A"/>
            </a:solidFill>
            <a:prstDash val="solid"/>
          </a:ln>
        </p:spPr>
      </p:sp>
      <p:sp>
        <p:nvSpPr>
          <p:cNvPr id="11" name="Text 9"/>
          <p:cNvSpPr/>
          <p:nvPr/>
        </p:nvSpPr>
        <p:spPr>
          <a:xfrm>
            <a:off x="3566160" y="3977640"/>
            <a:ext cx="2697480" cy="59436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12" name="Text 10"/>
          <p:cNvSpPr/>
          <p:nvPr/>
        </p:nvSpPr>
        <p:spPr>
          <a:xfrm>
            <a:off x="3566160" y="4590288"/>
            <a:ext cx="269748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Page 2: Departments</a:t>
            </a:r>
            <a:endParaRPr lang="en-US" sz="1200" dirty="0"/>
          </a:p>
        </p:txBody>
      </p:sp>
      <p:sp>
        <p:nvSpPr>
          <p:cNvPr id="13" name="Shape 11"/>
          <p:cNvSpPr/>
          <p:nvPr/>
        </p:nvSpPr>
        <p:spPr>
          <a:xfrm>
            <a:off x="6492240" y="3840480"/>
            <a:ext cx="2697480" cy="1645920"/>
          </a:xfrm>
          <a:prstGeom prst="roundRect">
            <a:avLst>
              <a:gd name="adj" fmla="val 5556"/>
            </a:avLst>
          </a:prstGeom>
          <a:solidFill>
            <a:srgbClr val="1A2B4A"/>
          </a:solidFill>
          <a:ln w="10160">
            <a:solidFill>
              <a:srgbClr val="2A3B5A"/>
            </a:solidFill>
            <a:prstDash val="solid"/>
          </a:ln>
        </p:spPr>
      </p:sp>
      <p:sp>
        <p:nvSpPr>
          <p:cNvPr id="14" name="Text 12"/>
          <p:cNvSpPr/>
          <p:nvPr/>
        </p:nvSpPr>
        <p:spPr>
          <a:xfrm>
            <a:off x="6492240" y="3977640"/>
            <a:ext cx="2697480" cy="59436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15" name="Text 13"/>
          <p:cNvSpPr/>
          <p:nvPr/>
        </p:nvSpPr>
        <p:spPr>
          <a:xfrm>
            <a:off x="6492240" y="4590288"/>
            <a:ext cx="269748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Page 3: Finance</a:t>
            </a:r>
            <a:endParaRPr lang="en-US" sz="1200" dirty="0"/>
          </a:p>
        </p:txBody>
      </p:sp>
      <p:sp>
        <p:nvSpPr>
          <p:cNvPr id="16" name="Shape 14"/>
          <p:cNvSpPr/>
          <p:nvPr/>
        </p:nvSpPr>
        <p:spPr>
          <a:xfrm>
            <a:off x="9418320" y="3840480"/>
            <a:ext cx="2697480" cy="1645920"/>
          </a:xfrm>
          <a:prstGeom prst="roundRect">
            <a:avLst>
              <a:gd name="adj" fmla="val 5556"/>
            </a:avLst>
          </a:prstGeom>
          <a:solidFill>
            <a:srgbClr val="1A2B4A"/>
          </a:solidFill>
          <a:ln w="10160">
            <a:solidFill>
              <a:srgbClr val="2A3B5A"/>
            </a:solidFill>
            <a:prstDash val="solid"/>
          </a:ln>
        </p:spPr>
      </p:sp>
      <p:sp>
        <p:nvSpPr>
          <p:cNvPr id="17" name="Text 15"/>
          <p:cNvSpPr/>
          <p:nvPr/>
        </p:nvSpPr>
        <p:spPr>
          <a:xfrm>
            <a:off x="9418320" y="3977640"/>
            <a:ext cx="2697480" cy="59436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18" name="Text 16"/>
          <p:cNvSpPr/>
          <p:nvPr/>
        </p:nvSpPr>
        <p:spPr>
          <a:xfrm>
            <a:off x="9418320" y="4590288"/>
            <a:ext cx="269748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Page 4: Quality</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AFA"/>
          </a:solidFill>
          <a:ln/>
        </p:spPr>
      </p:sp>
      <p:sp>
        <p:nvSpPr>
          <p:cNvPr id="3" name="Shape 1"/>
          <p:cNvSpPr/>
          <p:nvPr/>
        </p:nvSpPr>
        <p:spPr>
          <a:xfrm>
            <a:off x="0" y="0"/>
            <a:ext cx="82296" cy="6858000"/>
          </a:xfrm>
          <a:prstGeom prst="rect">
            <a:avLst/>
          </a:prstGeom>
          <a:solidFill>
            <a:srgbClr val="006D77"/>
          </a:solidFill>
          <a:ln/>
        </p:spPr>
      </p:sp>
      <p:sp>
        <p:nvSpPr>
          <p:cNvPr id="4" name="Shape 2"/>
          <p:cNvSpPr/>
          <p:nvPr/>
        </p:nvSpPr>
        <p:spPr>
          <a:xfrm>
            <a:off x="0" y="0"/>
            <a:ext cx="12161520" cy="1371600"/>
          </a:xfrm>
          <a:prstGeom prst="rect">
            <a:avLst/>
          </a:prstGeom>
          <a:solidFill>
            <a:srgbClr val="006D77"/>
          </a:solidFill>
          <a:ln/>
        </p:spPr>
      </p:sp>
      <p:sp>
        <p:nvSpPr>
          <p:cNvPr id="5" name="Text 3"/>
          <p:cNvSpPr/>
          <p:nvPr/>
        </p:nvSpPr>
        <p:spPr>
          <a:xfrm>
            <a:off x="320040" y="164592"/>
            <a:ext cx="1152144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STEP 9 — Report Canvas Setup &amp; Theme</a:t>
            </a:r>
            <a:endParaRPr lang="en-US" sz="2400" dirty="0"/>
          </a:p>
        </p:txBody>
      </p:sp>
      <p:sp>
        <p:nvSpPr>
          <p:cNvPr id="6" name="Text 4"/>
          <p:cNvSpPr/>
          <p:nvPr/>
        </p:nvSpPr>
        <p:spPr>
          <a:xfrm>
            <a:off x="320040" y="822960"/>
            <a:ext cx="11521440" cy="411480"/>
          </a:xfrm>
          <a:prstGeom prst="rect">
            <a:avLst/>
          </a:prstGeom>
          <a:noFill/>
          <a:ln/>
        </p:spPr>
        <p:txBody>
          <a:bodyPr wrap="square" rtlCol="0" anchor="ctr"/>
          <a:lstStyle/>
          <a:p>
            <a:pPr indent="0" marL="0">
              <a:buNone/>
            </a:pPr>
            <a:r>
              <a:rPr lang="en-US" sz="1200" i="1" dirty="0">
                <a:solidFill>
                  <a:srgbClr val="83C5BE"/>
                </a:solidFill>
                <a:latin typeface="Calibri" pitchFamily="34" charset="0"/>
                <a:ea typeface="Calibri" pitchFamily="34" charset="-122"/>
                <a:cs typeface="Calibri" pitchFamily="34" charset="-120"/>
              </a:rPr>
              <a:t>Do this once before building any pages. It applies to the whole report.</a:t>
            </a:r>
            <a:endParaRPr lang="en-US" sz="1200" dirty="0"/>
          </a:p>
        </p:txBody>
      </p:sp>
      <p:sp>
        <p:nvSpPr>
          <p:cNvPr id="7" name="Shape 5"/>
          <p:cNvSpPr/>
          <p:nvPr/>
        </p:nvSpPr>
        <p:spPr>
          <a:xfrm>
            <a:off x="320040" y="1444752"/>
            <a:ext cx="11475720" cy="603504"/>
          </a:xfrm>
          <a:prstGeom prst="roundRect">
            <a:avLst>
              <a:gd name="adj" fmla="val 10606"/>
            </a:avLst>
          </a:prstGeom>
          <a:solidFill>
            <a:srgbClr val="FFFFFF"/>
          </a:solidFill>
          <a:ln w="10160">
            <a:solidFill>
              <a:srgbClr val="D0DCE4"/>
            </a:solidFill>
            <a:prstDash val="solid"/>
          </a:ln>
        </p:spPr>
      </p:sp>
      <p:sp>
        <p:nvSpPr>
          <p:cNvPr id="8" name="Shape 6"/>
          <p:cNvSpPr/>
          <p:nvPr/>
        </p:nvSpPr>
        <p:spPr>
          <a:xfrm>
            <a:off x="320040" y="1444752"/>
            <a:ext cx="137160" cy="603504"/>
          </a:xfrm>
          <a:prstGeom prst="rect">
            <a:avLst/>
          </a:prstGeom>
          <a:solidFill>
            <a:srgbClr val="006D77"/>
          </a:solidFill>
          <a:ln/>
        </p:spPr>
      </p:sp>
      <p:sp>
        <p:nvSpPr>
          <p:cNvPr id="9" name="Shape 7"/>
          <p:cNvSpPr/>
          <p:nvPr/>
        </p:nvSpPr>
        <p:spPr>
          <a:xfrm>
            <a:off x="374904" y="1536192"/>
            <a:ext cx="420624" cy="420624"/>
          </a:xfrm>
          <a:prstGeom prst="ellipse">
            <a:avLst/>
          </a:prstGeom>
          <a:solidFill>
            <a:srgbClr val="006D77"/>
          </a:solidFill>
          <a:ln/>
        </p:spPr>
      </p:sp>
      <p:sp>
        <p:nvSpPr>
          <p:cNvPr id="10" name="Text 8"/>
          <p:cNvSpPr/>
          <p:nvPr/>
        </p:nvSpPr>
        <p:spPr>
          <a:xfrm>
            <a:off x="374904" y="1536192"/>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932688" y="1499616"/>
            <a:ext cx="3657600" cy="274320"/>
          </a:xfrm>
          <a:prstGeom prst="rect">
            <a:avLst/>
          </a:prstGeom>
          <a:noFill/>
          <a:ln/>
        </p:spPr>
        <p:txBody>
          <a:bodyPr wrap="square"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Set canvas to Widescreen 16:9</a:t>
            </a:r>
            <a:endParaRPr lang="en-US" sz="1200" dirty="0"/>
          </a:p>
        </p:txBody>
      </p:sp>
      <p:sp>
        <p:nvSpPr>
          <p:cNvPr id="12" name="Text 10"/>
          <p:cNvSpPr/>
          <p:nvPr/>
        </p:nvSpPr>
        <p:spPr>
          <a:xfrm>
            <a:off x="932688" y="1792224"/>
            <a:ext cx="10515600" cy="228600"/>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File → Page Setup → Page size → 16:9. This matches standard presentation screens.</a:t>
            </a:r>
            <a:endParaRPr lang="en-US" sz="1000" dirty="0"/>
          </a:p>
        </p:txBody>
      </p:sp>
      <p:sp>
        <p:nvSpPr>
          <p:cNvPr id="13" name="Shape 11"/>
          <p:cNvSpPr/>
          <p:nvPr/>
        </p:nvSpPr>
        <p:spPr>
          <a:xfrm>
            <a:off x="320040" y="2112264"/>
            <a:ext cx="11475720" cy="603504"/>
          </a:xfrm>
          <a:prstGeom prst="roundRect">
            <a:avLst>
              <a:gd name="adj" fmla="val 10606"/>
            </a:avLst>
          </a:prstGeom>
          <a:solidFill>
            <a:srgbClr val="FFFFFF"/>
          </a:solidFill>
          <a:ln w="10160">
            <a:solidFill>
              <a:srgbClr val="D0DCE4"/>
            </a:solidFill>
            <a:prstDash val="solid"/>
          </a:ln>
        </p:spPr>
      </p:sp>
      <p:sp>
        <p:nvSpPr>
          <p:cNvPr id="14" name="Shape 12"/>
          <p:cNvSpPr/>
          <p:nvPr/>
        </p:nvSpPr>
        <p:spPr>
          <a:xfrm>
            <a:off x="320040" y="2112264"/>
            <a:ext cx="137160" cy="603504"/>
          </a:xfrm>
          <a:prstGeom prst="rect">
            <a:avLst/>
          </a:prstGeom>
          <a:solidFill>
            <a:srgbClr val="006D77"/>
          </a:solidFill>
          <a:ln/>
        </p:spPr>
      </p:sp>
      <p:sp>
        <p:nvSpPr>
          <p:cNvPr id="15" name="Shape 13"/>
          <p:cNvSpPr/>
          <p:nvPr/>
        </p:nvSpPr>
        <p:spPr>
          <a:xfrm>
            <a:off x="374904" y="2203704"/>
            <a:ext cx="420624" cy="420624"/>
          </a:xfrm>
          <a:prstGeom prst="ellipse">
            <a:avLst/>
          </a:prstGeom>
          <a:solidFill>
            <a:srgbClr val="006D77"/>
          </a:solidFill>
          <a:ln/>
        </p:spPr>
      </p:sp>
      <p:sp>
        <p:nvSpPr>
          <p:cNvPr id="16" name="Text 14"/>
          <p:cNvSpPr/>
          <p:nvPr/>
        </p:nvSpPr>
        <p:spPr>
          <a:xfrm>
            <a:off x="374904" y="2203704"/>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932688" y="2167128"/>
            <a:ext cx="3657600" cy="274320"/>
          </a:xfrm>
          <a:prstGeom prst="rect">
            <a:avLst/>
          </a:prstGeom>
          <a:noFill/>
          <a:ln/>
        </p:spPr>
        <p:txBody>
          <a:bodyPr wrap="square"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Apply a theme</a:t>
            </a:r>
            <a:endParaRPr lang="en-US" sz="1200" dirty="0"/>
          </a:p>
        </p:txBody>
      </p:sp>
      <p:sp>
        <p:nvSpPr>
          <p:cNvPr id="18" name="Text 16"/>
          <p:cNvSpPr/>
          <p:nvPr/>
        </p:nvSpPr>
        <p:spPr>
          <a:xfrm>
            <a:off x="932688" y="2459736"/>
            <a:ext cx="10515600" cy="228600"/>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View ribbon → Themes → "Accessible City Park" or any blue/teal theme. Or click "Customize current theme" to use these exact colors: #006D77 (primary) and #E29F18 (accent).</a:t>
            </a:r>
            <a:endParaRPr lang="en-US" sz="1000" dirty="0"/>
          </a:p>
        </p:txBody>
      </p:sp>
      <p:sp>
        <p:nvSpPr>
          <p:cNvPr id="19" name="Shape 17"/>
          <p:cNvSpPr/>
          <p:nvPr/>
        </p:nvSpPr>
        <p:spPr>
          <a:xfrm>
            <a:off x="320040" y="2779776"/>
            <a:ext cx="11475720" cy="603504"/>
          </a:xfrm>
          <a:prstGeom prst="roundRect">
            <a:avLst>
              <a:gd name="adj" fmla="val 10606"/>
            </a:avLst>
          </a:prstGeom>
          <a:solidFill>
            <a:srgbClr val="FFFFFF"/>
          </a:solidFill>
          <a:ln w="10160">
            <a:solidFill>
              <a:srgbClr val="D0DCE4"/>
            </a:solidFill>
            <a:prstDash val="solid"/>
          </a:ln>
        </p:spPr>
      </p:sp>
      <p:sp>
        <p:nvSpPr>
          <p:cNvPr id="20" name="Shape 18"/>
          <p:cNvSpPr/>
          <p:nvPr/>
        </p:nvSpPr>
        <p:spPr>
          <a:xfrm>
            <a:off x="320040" y="2779776"/>
            <a:ext cx="137160" cy="603504"/>
          </a:xfrm>
          <a:prstGeom prst="rect">
            <a:avLst/>
          </a:prstGeom>
          <a:solidFill>
            <a:srgbClr val="008891"/>
          </a:solidFill>
          <a:ln/>
        </p:spPr>
      </p:sp>
      <p:sp>
        <p:nvSpPr>
          <p:cNvPr id="21" name="Shape 19"/>
          <p:cNvSpPr/>
          <p:nvPr/>
        </p:nvSpPr>
        <p:spPr>
          <a:xfrm>
            <a:off x="374904" y="2871216"/>
            <a:ext cx="420624" cy="420624"/>
          </a:xfrm>
          <a:prstGeom prst="ellipse">
            <a:avLst/>
          </a:prstGeom>
          <a:solidFill>
            <a:srgbClr val="008891"/>
          </a:solidFill>
          <a:ln/>
        </p:spPr>
      </p:sp>
      <p:sp>
        <p:nvSpPr>
          <p:cNvPr id="22" name="Text 20"/>
          <p:cNvSpPr/>
          <p:nvPr/>
        </p:nvSpPr>
        <p:spPr>
          <a:xfrm>
            <a:off x="374904" y="2871216"/>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Text 21"/>
          <p:cNvSpPr/>
          <p:nvPr/>
        </p:nvSpPr>
        <p:spPr>
          <a:xfrm>
            <a:off x="932688" y="2834640"/>
            <a:ext cx="3657600" cy="274320"/>
          </a:xfrm>
          <a:prstGeom prst="rect">
            <a:avLst/>
          </a:prstGeom>
          <a:noFill/>
          <a:ln/>
        </p:spPr>
        <p:txBody>
          <a:bodyPr wrap="square"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Name Page 1</a:t>
            </a:r>
            <a:endParaRPr lang="en-US" sz="1200" dirty="0"/>
          </a:p>
        </p:txBody>
      </p:sp>
      <p:sp>
        <p:nvSpPr>
          <p:cNvPr id="24" name="Text 22"/>
          <p:cNvSpPr/>
          <p:nvPr/>
        </p:nvSpPr>
        <p:spPr>
          <a:xfrm>
            <a:off x="932688" y="3127248"/>
            <a:ext cx="10515600" cy="228600"/>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Right-click the tab "Page 1" at the bottom → Rename → type  Executive Overview.</a:t>
            </a:r>
            <a:endParaRPr lang="en-US" sz="1000" dirty="0"/>
          </a:p>
        </p:txBody>
      </p:sp>
      <p:sp>
        <p:nvSpPr>
          <p:cNvPr id="25" name="Shape 23"/>
          <p:cNvSpPr/>
          <p:nvPr/>
        </p:nvSpPr>
        <p:spPr>
          <a:xfrm>
            <a:off x="320040" y="3447288"/>
            <a:ext cx="11475720" cy="603504"/>
          </a:xfrm>
          <a:prstGeom prst="roundRect">
            <a:avLst>
              <a:gd name="adj" fmla="val 10606"/>
            </a:avLst>
          </a:prstGeom>
          <a:solidFill>
            <a:srgbClr val="FFFFFF"/>
          </a:solidFill>
          <a:ln w="10160">
            <a:solidFill>
              <a:srgbClr val="D0DCE4"/>
            </a:solidFill>
            <a:prstDash val="solid"/>
          </a:ln>
        </p:spPr>
      </p:sp>
      <p:sp>
        <p:nvSpPr>
          <p:cNvPr id="26" name="Shape 24"/>
          <p:cNvSpPr/>
          <p:nvPr/>
        </p:nvSpPr>
        <p:spPr>
          <a:xfrm>
            <a:off x="320040" y="3447288"/>
            <a:ext cx="137160" cy="603504"/>
          </a:xfrm>
          <a:prstGeom prst="rect">
            <a:avLst/>
          </a:prstGeom>
          <a:solidFill>
            <a:srgbClr val="008891"/>
          </a:solidFill>
          <a:ln/>
        </p:spPr>
      </p:sp>
      <p:sp>
        <p:nvSpPr>
          <p:cNvPr id="27" name="Shape 25"/>
          <p:cNvSpPr/>
          <p:nvPr/>
        </p:nvSpPr>
        <p:spPr>
          <a:xfrm>
            <a:off x="374904" y="3538728"/>
            <a:ext cx="420624" cy="420624"/>
          </a:xfrm>
          <a:prstGeom prst="ellipse">
            <a:avLst/>
          </a:prstGeom>
          <a:solidFill>
            <a:srgbClr val="008891"/>
          </a:solidFill>
          <a:ln/>
        </p:spPr>
      </p:sp>
      <p:sp>
        <p:nvSpPr>
          <p:cNvPr id="28" name="Text 26"/>
          <p:cNvSpPr/>
          <p:nvPr/>
        </p:nvSpPr>
        <p:spPr>
          <a:xfrm>
            <a:off x="374904" y="3538728"/>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9" name="Text 27"/>
          <p:cNvSpPr/>
          <p:nvPr/>
        </p:nvSpPr>
        <p:spPr>
          <a:xfrm>
            <a:off x="932688" y="3502152"/>
            <a:ext cx="3657600" cy="274320"/>
          </a:xfrm>
          <a:prstGeom prst="rect">
            <a:avLst/>
          </a:prstGeom>
          <a:noFill/>
          <a:ln/>
        </p:spPr>
        <p:txBody>
          <a:bodyPr wrap="square"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Add 3 more pages</a:t>
            </a:r>
            <a:endParaRPr lang="en-US" sz="1200" dirty="0"/>
          </a:p>
        </p:txBody>
      </p:sp>
      <p:sp>
        <p:nvSpPr>
          <p:cNvPr id="30" name="Text 28"/>
          <p:cNvSpPr/>
          <p:nvPr/>
        </p:nvSpPr>
        <p:spPr>
          <a:xfrm>
            <a:off x="932688" y="3794760"/>
            <a:ext cx="10515600" cy="228600"/>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Click the + button next to the page tab 3 times. Rename them: Department Analysis | Financial Summary | Quality &amp; Satisfaction.</a:t>
            </a:r>
            <a:endParaRPr lang="en-US" sz="1000" dirty="0"/>
          </a:p>
        </p:txBody>
      </p:sp>
      <p:sp>
        <p:nvSpPr>
          <p:cNvPr id="31" name="Shape 29"/>
          <p:cNvSpPr/>
          <p:nvPr/>
        </p:nvSpPr>
        <p:spPr>
          <a:xfrm>
            <a:off x="320040" y="4114800"/>
            <a:ext cx="11475720" cy="603504"/>
          </a:xfrm>
          <a:prstGeom prst="roundRect">
            <a:avLst>
              <a:gd name="adj" fmla="val 10606"/>
            </a:avLst>
          </a:prstGeom>
          <a:solidFill>
            <a:srgbClr val="FFFFFF"/>
          </a:solidFill>
          <a:ln w="10160">
            <a:solidFill>
              <a:srgbClr val="D0DCE4"/>
            </a:solidFill>
            <a:prstDash val="solid"/>
          </a:ln>
        </p:spPr>
      </p:sp>
      <p:sp>
        <p:nvSpPr>
          <p:cNvPr id="32" name="Shape 30"/>
          <p:cNvSpPr/>
          <p:nvPr/>
        </p:nvSpPr>
        <p:spPr>
          <a:xfrm>
            <a:off x="320040" y="4114800"/>
            <a:ext cx="137160" cy="603504"/>
          </a:xfrm>
          <a:prstGeom prst="rect">
            <a:avLst/>
          </a:prstGeom>
          <a:solidFill>
            <a:srgbClr val="E29F18"/>
          </a:solidFill>
          <a:ln/>
        </p:spPr>
      </p:sp>
      <p:sp>
        <p:nvSpPr>
          <p:cNvPr id="33" name="Shape 31"/>
          <p:cNvSpPr/>
          <p:nvPr/>
        </p:nvSpPr>
        <p:spPr>
          <a:xfrm>
            <a:off x="374904" y="4206240"/>
            <a:ext cx="420624" cy="420624"/>
          </a:xfrm>
          <a:prstGeom prst="ellipse">
            <a:avLst/>
          </a:prstGeom>
          <a:solidFill>
            <a:srgbClr val="E29F18"/>
          </a:solidFill>
          <a:ln/>
        </p:spPr>
      </p:sp>
      <p:sp>
        <p:nvSpPr>
          <p:cNvPr id="34" name="Text 32"/>
          <p:cNvSpPr/>
          <p:nvPr/>
        </p:nvSpPr>
        <p:spPr>
          <a:xfrm>
            <a:off x="374904" y="4206240"/>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5" name="Text 33"/>
          <p:cNvSpPr/>
          <p:nvPr/>
        </p:nvSpPr>
        <p:spPr>
          <a:xfrm>
            <a:off x="932688" y="4169664"/>
            <a:ext cx="3657600" cy="274320"/>
          </a:xfrm>
          <a:prstGeom prst="rect">
            <a:avLst/>
          </a:prstGeom>
          <a:noFill/>
          <a:ln/>
        </p:spPr>
        <p:txBody>
          <a:bodyPr wrap="square"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Add a page header background</a:t>
            </a:r>
            <a:endParaRPr lang="en-US" sz="1200" dirty="0"/>
          </a:p>
        </p:txBody>
      </p:sp>
      <p:sp>
        <p:nvSpPr>
          <p:cNvPr id="36" name="Text 34"/>
          <p:cNvSpPr/>
          <p:nvPr/>
        </p:nvSpPr>
        <p:spPr>
          <a:xfrm>
            <a:off x="932688" y="4462272"/>
            <a:ext cx="10515600" cy="228600"/>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On any page: Insert ribbon → "Text Box" → position at top (x:0, y:0). Set height small (about 1 cm). Fill with teal color (#006D77). This creates a header bar.</a:t>
            </a:r>
            <a:endParaRPr lang="en-US" sz="1000" dirty="0"/>
          </a:p>
        </p:txBody>
      </p:sp>
      <p:sp>
        <p:nvSpPr>
          <p:cNvPr id="37" name="Shape 35"/>
          <p:cNvSpPr/>
          <p:nvPr/>
        </p:nvSpPr>
        <p:spPr>
          <a:xfrm>
            <a:off x="320040" y="4782312"/>
            <a:ext cx="11475720" cy="603504"/>
          </a:xfrm>
          <a:prstGeom prst="roundRect">
            <a:avLst>
              <a:gd name="adj" fmla="val 10606"/>
            </a:avLst>
          </a:prstGeom>
          <a:solidFill>
            <a:srgbClr val="FFFFFF"/>
          </a:solidFill>
          <a:ln w="10160">
            <a:solidFill>
              <a:srgbClr val="D0DCE4"/>
            </a:solidFill>
            <a:prstDash val="solid"/>
          </a:ln>
        </p:spPr>
      </p:sp>
      <p:sp>
        <p:nvSpPr>
          <p:cNvPr id="38" name="Shape 36"/>
          <p:cNvSpPr/>
          <p:nvPr/>
        </p:nvSpPr>
        <p:spPr>
          <a:xfrm>
            <a:off x="320040" y="4782312"/>
            <a:ext cx="137160" cy="603504"/>
          </a:xfrm>
          <a:prstGeom prst="rect">
            <a:avLst/>
          </a:prstGeom>
          <a:solidFill>
            <a:srgbClr val="E29F18"/>
          </a:solidFill>
          <a:ln/>
        </p:spPr>
      </p:sp>
      <p:sp>
        <p:nvSpPr>
          <p:cNvPr id="39" name="Shape 37"/>
          <p:cNvSpPr/>
          <p:nvPr/>
        </p:nvSpPr>
        <p:spPr>
          <a:xfrm>
            <a:off x="374904" y="4873752"/>
            <a:ext cx="420624" cy="420624"/>
          </a:xfrm>
          <a:prstGeom prst="ellipse">
            <a:avLst/>
          </a:prstGeom>
          <a:solidFill>
            <a:srgbClr val="E29F18"/>
          </a:solidFill>
          <a:ln/>
        </p:spPr>
      </p:sp>
      <p:sp>
        <p:nvSpPr>
          <p:cNvPr id="40" name="Text 38"/>
          <p:cNvSpPr/>
          <p:nvPr/>
        </p:nvSpPr>
        <p:spPr>
          <a:xfrm>
            <a:off x="374904" y="4873752"/>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1" name="Text 39"/>
          <p:cNvSpPr/>
          <p:nvPr/>
        </p:nvSpPr>
        <p:spPr>
          <a:xfrm>
            <a:off x="932688" y="4837176"/>
            <a:ext cx="3657600" cy="274320"/>
          </a:xfrm>
          <a:prstGeom prst="rect">
            <a:avLst/>
          </a:prstGeom>
          <a:noFill/>
          <a:ln/>
        </p:spPr>
        <p:txBody>
          <a:bodyPr wrap="square"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Add report title text</a:t>
            </a:r>
            <a:endParaRPr lang="en-US" sz="1200" dirty="0"/>
          </a:p>
        </p:txBody>
      </p:sp>
      <p:sp>
        <p:nvSpPr>
          <p:cNvPr id="42" name="Text 40"/>
          <p:cNvSpPr/>
          <p:nvPr/>
        </p:nvSpPr>
        <p:spPr>
          <a:xfrm>
            <a:off x="932688" y="5129784"/>
            <a:ext cx="10515600" cy="228600"/>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Insert → Text Box → type the page title (e.g. "Hospital Patient Dashboard – Executive Overview"). Font: Segoe UI, Size 18, Bold, White color.</a:t>
            </a:r>
            <a:endParaRPr lang="en-US" sz="1000" dirty="0"/>
          </a:p>
        </p:txBody>
      </p:sp>
      <p:sp>
        <p:nvSpPr>
          <p:cNvPr id="43" name="Shape 41"/>
          <p:cNvSpPr/>
          <p:nvPr/>
        </p:nvSpPr>
        <p:spPr>
          <a:xfrm>
            <a:off x="320040" y="5449824"/>
            <a:ext cx="11475720" cy="603504"/>
          </a:xfrm>
          <a:prstGeom prst="roundRect">
            <a:avLst>
              <a:gd name="adj" fmla="val 10606"/>
            </a:avLst>
          </a:prstGeom>
          <a:solidFill>
            <a:srgbClr val="FFFFFF"/>
          </a:solidFill>
          <a:ln w="10160">
            <a:solidFill>
              <a:srgbClr val="D0DCE4"/>
            </a:solidFill>
            <a:prstDash val="solid"/>
          </a:ln>
        </p:spPr>
      </p:sp>
      <p:sp>
        <p:nvSpPr>
          <p:cNvPr id="44" name="Shape 42"/>
          <p:cNvSpPr/>
          <p:nvPr/>
        </p:nvSpPr>
        <p:spPr>
          <a:xfrm>
            <a:off x="320040" y="5449824"/>
            <a:ext cx="137160" cy="603504"/>
          </a:xfrm>
          <a:prstGeom prst="rect">
            <a:avLst/>
          </a:prstGeom>
          <a:solidFill>
            <a:srgbClr val="E29F18"/>
          </a:solidFill>
          <a:ln/>
        </p:spPr>
      </p:sp>
      <p:sp>
        <p:nvSpPr>
          <p:cNvPr id="45" name="Shape 43"/>
          <p:cNvSpPr/>
          <p:nvPr/>
        </p:nvSpPr>
        <p:spPr>
          <a:xfrm>
            <a:off x="374904" y="5541264"/>
            <a:ext cx="420624" cy="420624"/>
          </a:xfrm>
          <a:prstGeom prst="ellipse">
            <a:avLst/>
          </a:prstGeom>
          <a:solidFill>
            <a:srgbClr val="E29F18"/>
          </a:solidFill>
          <a:ln/>
        </p:spPr>
      </p:sp>
      <p:sp>
        <p:nvSpPr>
          <p:cNvPr id="46" name="Text 44"/>
          <p:cNvSpPr/>
          <p:nvPr/>
        </p:nvSpPr>
        <p:spPr>
          <a:xfrm>
            <a:off x="374904" y="5541264"/>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7" name="Text 45"/>
          <p:cNvSpPr/>
          <p:nvPr/>
        </p:nvSpPr>
        <p:spPr>
          <a:xfrm>
            <a:off x="932688" y="5504688"/>
            <a:ext cx="3657600" cy="274320"/>
          </a:xfrm>
          <a:prstGeom prst="rect">
            <a:avLst/>
          </a:prstGeom>
          <a:noFill/>
          <a:ln/>
        </p:spPr>
        <p:txBody>
          <a:bodyPr wrap="square" rtlCol="0" anchor="ctr"/>
          <a:lstStyle/>
          <a:p>
            <a:pPr indent="0" marL="0">
              <a:buNone/>
            </a:pPr>
            <a:r>
              <a:rPr lang="en-US" sz="1200" b="1" dirty="0">
                <a:solidFill>
                  <a:srgbClr val="1A2B4A"/>
                </a:solidFill>
                <a:latin typeface="Calibri" pitchFamily="34" charset="0"/>
                <a:ea typeface="Calibri" pitchFamily="34" charset="-122"/>
                <a:cs typeface="Calibri" pitchFamily="34" charset="-120"/>
              </a:rPr>
              <a:t>Add a logo placeholder</a:t>
            </a:r>
            <a:endParaRPr lang="en-US" sz="1200" dirty="0"/>
          </a:p>
        </p:txBody>
      </p:sp>
      <p:sp>
        <p:nvSpPr>
          <p:cNvPr id="48" name="Text 46"/>
          <p:cNvSpPr/>
          <p:nvPr/>
        </p:nvSpPr>
        <p:spPr>
          <a:xfrm>
            <a:off x="932688" y="5797296"/>
            <a:ext cx="10515600" cy="228600"/>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Insert → Shapes → Rectangle. Place top-right. Fill with light teal. Add a text box over it: "🏥 HealthTrack Analytics". This represents the org logo.</a:t>
            </a:r>
            <a:endParaRPr lang="en-US" sz="1000" dirty="0"/>
          </a:p>
        </p:txBody>
      </p:sp>
      <p:sp>
        <p:nvSpPr>
          <p:cNvPr id="49" name="Shape 47"/>
          <p:cNvSpPr/>
          <p:nvPr/>
        </p:nvSpPr>
        <p:spPr>
          <a:xfrm>
            <a:off x="320040" y="6263640"/>
            <a:ext cx="11475720" cy="438912"/>
          </a:xfrm>
          <a:prstGeom prst="roundRect">
            <a:avLst>
              <a:gd name="adj" fmla="val 14583"/>
            </a:avLst>
          </a:prstGeom>
          <a:solidFill>
            <a:srgbClr val="FFF1C1"/>
          </a:solidFill>
          <a:ln w="10160">
            <a:solidFill>
              <a:srgbClr val="E29F18"/>
            </a:solidFill>
            <a:prstDash val="solid"/>
          </a:ln>
        </p:spPr>
      </p:sp>
      <p:sp>
        <p:nvSpPr>
          <p:cNvPr id="50" name="Text 48"/>
          <p:cNvSpPr/>
          <p:nvPr/>
        </p:nvSpPr>
        <p:spPr>
          <a:xfrm>
            <a:off x="429768" y="6309360"/>
            <a:ext cx="11292840" cy="347472"/>
          </a:xfrm>
          <a:prstGeom prst="rect">
            <a:avLst/>
          </a:prstGeom>
          <a:noFill/>
          <a:ln/>
        </p:spPr>
        <p:txBody>
          <a:bodyPr wrap="square" rtlCol="0" anchor="ctr"/>
          <a:lstStyle/>
          <a:p>
            <a:pPr indent="0" marL="0">
              <a:buNone/>
            </a:pPr>
            <a:r>
              <a:rPr lang="en-US" sz="1100" i="1" dirty="0">
                <a:solidFill>
                  <a:srgbClr val="7D5900"/>
                </a:solidFill>
                <a:latin typeface="Calibri" pitchFamily="34" charset="0"/>
                <a:ea typeface="Calibri" pitchFamily="34" charset="-122"/>
                <a:cs typeface="Calibri" pitchFamily="34" charset="-120"/>
              </a:rPr>
              <a:t>⚡  Copy the header bar and title text box to all 4 pages. Change the page title text on each page. This keeps a consistent professional look across all pages.</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AFA"/>
          </a:solidFill>
          <a:ln/>
        </p:spPr>
      </p:sp>
      <p:sp>
        <p:nvSpPr>
          <p:cNvPr id="3" name="Shape 1"/>
          <p:cNvSpPr/>
          <p:nvPr/>
        </p:nvSpPr>
        <p:spPr>
          <a:xfrm>
            <a:off x="0" y="0"/>
            <a:ext cx="82296" cy="6858000"/>
          </a:xfrm>
          <a:prstGeom prst="rect">
            <a:avLst/>
          </a:prstGeom>
          <a:solidFill>
            <a:srgbClr val="006D77"/>
          </a:solidFill>
          <a:ln/>
        </p:spPr>
      </p:sp>
      <p:sp>
        <p:nvSpPr>
          <p:cNvPr id="4" name="Shape 2"/>
          <p:cNvSpPr/>
          <p:nvPr/>
        </p:nvSpPr>
        <p:spPr>
          <a:xfrm>
            <a:off x="0" y="0"/>
            <a:ext cx="12161520" cy="1371600"/>
          </a:xfrm>
          <a:prstGeom prst="rect">
            <a:avLst/>
          </a:prstGeom>
          <a:solidFill>
            <a:srgbClr val="006D77"/>
          </a:solidFill>
          <a:ln/>
        </p:spPr>
      </p:sp>
      <p:sp>
        <p:nvSpPr>
          <p:cNvPr id="5" name="Text 3"/>
          <p:cNvSpPr/>
          <p:nvPr/>
        </p:nvSpPr>
        <p:spPr>
          <a:xfrm>
            <a:off x="320040" y="164592"/>
            <a:ext cx="1152144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STEP 10 — Page 1: Executive Overview</a:t>
            </a:r>
            <a:endParaRPr lang="en-US" sz="2400" dirty="0"/>
          </a:p>
        </p:txBody>
      </p:sp>
      <p:sp>
        <p:nvSpPr>
          <p:cNvPr id="6" name="Text 4"/>
          <p:cNvSpPr/>
          <p:nvPr/>
        </p:nvSpPr>
        <p:spPr>
          <a:xfrm>
            <a:off x="320040" y="822960"/>
            <a:ext cx="11521440" cy="411480"/>
          </a:xfrm>
          <a:prstGeom prst="rect">
            <a:avLst/>
          </a:prstGeom>
          <a:noFill/>
          <a:ln/>
        </p:spPr>
        <p:txBody>
          <a:bodyPr wrap="square" rtlCol="0" anchor="ctr"/>
          <a:lstStyle/>
          <a:p>
            <a:pPr indent="0" marL="0">
              <a:buNone/>
            </a:pPr>
            <a:r>
              <a:rPr lang="en-US" sz="1200" i="1" dirty="0">
                <a:solidFill>
                  <a:srgbClr val="83C5BE"/>
                </a:solidFill>
                <a:latin typeface="Calibri" pitchFamily="34" charset="0"/>
                <a:ea typeface="Calibri" pitchFamily="34" charset="-122"/>
                <a:cs typeface="Calibri" pitchFamily="34" charset="-120"/>
              </a:rPr>
              <a:t>This page answers Q1. Add these visuals in order. Each instruction tells you what measure and field to use.</a:t>
            </a:r>
            <a:endParaRPr lang="en-US" sz="1200" dirty="0"/>
          </a:p>
        </p:txBody>
      </p:sp>
      <p:sp>
        <p:nvSpPr>
          <p:cNvPr id="7" name="Shape 5"/>
          <p:cNvSpPr/>
          <p:nvPr/>
        </p:nvSpPr>
        <p:spPr>
          <a:xfrm>
            <a:off x="320040" y="1389888"/>
            <a:ext cx="11475720" cy="5166360"/>
          </a:xfrm>
          <a:prstGeom prst="roundRect">
            <a:avLst>
              <a:gd name="adj" fmla="val 1593"/>
            </a:avLst>
          </a:prstGeom>
          <a:solidFill>
            <a:srgbClr val="FFFFFF"/>
          </a:solidFill>
          <a:ln w="10160">
            <a:solidFill>
              <a:srgbClr val="006D77"/>
            </a:solidFill>
            <a:prstDash val="solid"/>
          </a:ln>
        </p:spPr>
      </p:sp>
      <p:sp>
        <p:nvSpPr>
          <p:cNvPr id="8" name="Shape 6"/>
          <p:cNvSpPr/>
          <p:nvPr/>
        </p:nvSpPr>
        <p:spPr>
          <a:xfrm>
            <a:off x="502920" y="1508760"/>
            <a:ext cx="2423160" cy="1143000"/>
          </a:xfrm>
          <a:prstGeom prst="roundRect">
            <a:avLst>
              <a:gd name="adj" fmla="val 8000"/>
            </a:avLst>
          </a:prstGeom>
          <a:solidFill>
            <a:srgbClr val="006D77"/>
          </a:solidFill>
          <a:ln w="10160">
            <a:solidFill>
              <a:srgbClr val="006D77"/>
            </a:solidFill>
            <a:prstDash val="solid"/>
          </a:ln>
        </p:spPr>
      </p:sp>
      <p:sp>
        <p:nvSpPr>
          <p:cNvPr id="9" name="Text 7"/>
          <p:cNvSpPr/>
          <p:nvPr/>
        </p:nvSpPr>
        <p:spPr>
          <a:xfrm>
            <a:off x="502920" y="1581912"/>
            <a:ext cx="2423160" cy="347472"/>
          </a:xfrm>
          <a:prstGeom prst="rect">
            <a:avLst/>
          </a:prstGeom>
          <a:noFill/>
          <a:ln/>
        </p:spPr>
        <p:txBody>
          <a:bodyPr wrap="square" rtlCol="0" anchor="ctr"/>
          <a:lstStyle/>
          <a:p>
            <a:pPr algn="ctr" indent="0" marL="0">
              <a:buNone/>
            </a:pPr>
            <a:r>
              <a:rPr lang="en-US" sz="1000" b="1" spc="200" kern="0" dirty="0">
                <a:solidFill>
                  <a:srgbClr val="D0F0F0"/>
                </a:solidFill>
                <a:latin typeface="Calibri" pitchFamily="34" charset="0"/>
                <a:ea typeface="Calibri" pitchFamily="34" charset="-122"/>
                <a:cs typeface="Calibri" pitchFamily="34" charset="-120"/>
              </a:rPr>
              <a:t>KPI CARD</a:t>
            </a:r>
            <a:endParaRPr lang="en-US" sz="1000" dirty="0"/>
          </a:p>
        </p:txBody>
      </p:sp>
      <p:sp>
        <p:nvSpPr>
          <p:cNvPr id="10" name="Text 8"/>
          <p:cNvSpPr/>
          <p:nvPr/>
        </p:nvSpPr>
        <p:spPr>
          <a:xfrm>
            <a:off x="502920" y="1901952"/>
            <a:ext cx="2423160" cy="32004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Total Admissions</a:t>
            </a:r>
            <a:endParaRPr lang="en-US" sz="1100" dirty="0"/>
          </a:p>
        </p:txBody>
      </p:sp>
      <p:sp>
        <p:nvSpPr>
          <p:cNvPr id="11" name="Text 9"/>
          <p:cNvSpPr/>
          <p:nvPr/>
        </p:nvSpPr>
        <p:spPr>
          <a:xfrm>
            <a:off x="502920" y="2212848"/>
            <a:ext cx="2423160" cy="292608"/>
          </a:xfrm>
          <a:prstGeom prst="rect">
            <a:avLst/>
          </a:prstGeom>
          <a:noFill/>
          <a:ln/>
        </p:spPr>
        <p:txBody>
          <a:bodyPr wrap="square" rtlCol="0" anchor="ctr"/>
          <a:lstStyle/>
          <a:p>
            <a:pPr algn="ctr" indent="0" marL="0">
              <a:buNone/>
            </a:pPr>
            <a:r>
              <a:rPr lang="en-US" sz="900" dirty="0">
                <a:solidFill>
                  <a:srgbClr val="FFEEAA"/>
                </a:solidFill>
                <a:latin typeface="Calibri" pitchFamily="34" charset="0"/>
                <a:ea typeface="Calibri" pitchFamily="34" charset="-122"/>
                <a:cs typeface="Calibri" pitchFamily="34" charset="-120"/>
              </a:rPr>
              <a:t>[Total Admissions]</a:t>
            </a:r>
            <a:endParaRPr lang="en-US" sz="900" dirty="0"/>
          </a:p>
        </p:txBody>
      </p:sp>
      <p:sp>
        <p:nvSpPr>
          <p:cNvPr id="12" name="Shape 10"/>
          <p:cNvSpPr/>
          <p:nvPr/>
        </p:nvSpPr>
        <p:spPr>
          <a:xfrm>
            <a:off x="3154680" y="1508760"/>
            <a:ext cx="2423160" cy="1143000"/>
          </a:xfrm>
          <a:prstGeom prst="roundRect">
            <a:avLst>
              <a:gd name="adj" fmla="val 8000"/>
            </a:avLst>
          </a:prstGeom>
          <a:solidFill>
            <a:srgbClr val="008891"/>
          </a:solidFill>
          <a:ln w="10160">
            <a:solidFill>
              <a:srgbClr val="008891"/>
            </a:solidFill>
            <a:prstDash val="solid"/>
          </a:ln>
        </p:spPr>
      </p:sp>
      <p:sp>
        <p:nvSpPr>
          <p:cNvPr id="13" name="Text 11"/>
          <p:cNvSpPr/>
          <p:nvPr/>
        </p:nvSpPr>
        <p:spPr>
          <a:xfrm>
            <a:off x="3154680" y="1581912"/>
            <a:ext cx="2423160" cy="347472"/>
          </a:xfrm>
          <a:prstGeom prst="rect">
            <a:avLst/>
          </a:prstGeom>
          <a:noFill/>
          <a:ln/>
        </p:spPr>
        <p:txBody>
          <a:bodyPr wrap="square" rtlCol="0" anchor="ctr"/>
          <a:lstStyle/>
          <a:p>
            <a:pPr algn="ctr" indent="0" marL="0">
              <a:buNone/>
            </a:pPr>
            <a:r>
              <a:rPr lang="en-US" sz="1000" b="1" spc="200" kern="0" dirty="0">
                <a:solidFill>
                  <a:srgbClr val="D0F0F0"/>
                </a:solidFill>
                <a:latin typeface="Calibri" pitchFamily="34" charset="0"/>
                <a:ea typeface="Calibri" pitchFamily="34" charset="-122"/>
                <a:cs typeface="Calibri" pitchFamily="34" charset="-120"/>
              </a:rPr>
              <a:t>KPI CARD</a:t>
            </a:r>
            <a:endParaRPr lang="en-US" sz="1000" dirty="0"/>
          </a:p>
        </p:txBody>
      </p:sp>
      <p:sp>
        <p:nvSpPr>
          <p:cNvPr id="14" name="Text 12"/>
          <p:cNvSpPr/>
          <p:nvPr/>
        </p:nvSpPr>
        <p:spPr>
          <a:xfrm>
            <a:off x="3154680" y="1901952"/>
            <a:ext cx="2423160" cy="32004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Total Patients</a:t>
            </a:r>
            <a:endParaRPr lang="en-US" sz="1100" dirty="0"/>
          </a:p>
        </p:txBody>
      </p:sp>
      <p:sp>
        <p:nvSpPr>
          <p:cNvPr id="15" name="Text 13"/>
          <p:cNvSpPr/>
          <p:nvPr/>
        </p:nvSpPr>
        <p:spPr>
          <a:xfrm>
            <a:off x="3154680" y="2212848"/>
            <a:ext cx="2423160" cy="292608"/>
          </a:xfrm>
          <a:prstGeom prst="rect">
            <a:avLst/>
          </a:prstGeom>
          <a:noFill/>
          <a:ln/>
        </p:spPr>
        <p:txBody>
          <a:bodyPr wrap="square" rtlCol="0" anchor="ctr"/>
          <a:lstStyle/>
          <a:p>
            <a:pPr algn="ctr" indent="0" marL="0">
              <a:buNone/>
            </a:pPr>
            <a:r>
              <a:rPr lang="en-US" sz="900" dirty="0">
                <a:solidFill>
                  <a:srgbClr val="FFEEAA"/>
                </a:solidFill>
                <a:latin typeface="Calibri" pitchFamily="34" charset="0"/>
                <a:ea typeface="Calibri" pitchFamily="34" charset="-122"/>
                <a:cs typeface="Calibri" pitchFamily="34" charset="-120"/>
              </a:rPr>
              <a:t>[Total Patients]</a:t>
            </a:r>
            <a:endParaRPr lang="en-US" sz="900" dirty="0"/>
          </a:p>
        </p:txBody>
      </p:sp>
      <p:sp>
        <p:nvSpPr>
          <p:cNvPr id="16" name="Shape 14"/>
          <p:cNvSpPr/>
          <p:nvPr/>
        </p:nvSpPr>
        <p:spPr>
          <a:xfrm>
            <a:off x="5806440" y="1508760"/>
            <a:ext cx="2423160" cy="1143000"/>
          </a:xfrm>
          <a:prstGeom prst="roundRect">
            <a:avLst>
              <a:gd name="adj" fmla="val 8000"/>
            </a:avLst>
          </a:prstGeom>
          <a:solidFill>
            <a:srgbClr val="E29F18"/>
          </a:solidFill>
          <a:ln w="10160">
            <a:solidFill>
              <a:srgbClr val="E29F18"/>
            </a:solidFill>
            <a:prstDash val="solid"/>
          </a:ln>
        </p:spPr>
      </p:sp>
      <p:sp>
        <p:nvSpPr>
          <p:cNvPr id="17" name="Text 15"/>
          <p:cNvSpPr/>
          <p:nvPr/>
        </p:nvSpPr>
        <p:spPr>
          <a:xfrm>
            <a:off x="5806440" y="1581912"/>
            <a:ext cx="2423160" cy="347472"/>
          </a:xfrm>
          <a:prstGeom prst="rect">
            <a:avLst/>
          </a:prstGeom>
          <a:noFill/>
          <a:ln/>
        </p:spPr>
        <p:txBody>
          <a:bodyPr wrap="square" rtlCol="0" anchor="ctr"/>
          <a:lstStyle/>
          <a:p>
            <a:pPr algn="ctr" indent="0" marL="0">
              <a:buNone/>
            </a:pPr>
            <a:r>
              <a:rPr lang="en-US" sz="1000" b="1" spc="200" kern="0" dirty="0">
                <a:solidFill>
                  <a:srgbClr val="D0F0F0"/>
                </a:solidFill>
                <a:latin typeface="Calibri" pitchFamily="34" charset="0"/>
                <a:ea typeface="Calibri" pitchFamily="34" charset="-122"/>
                <a:cs typeface="Calibri" pitchFamily="34" charset="-120"/>
              </a:rPr>
              <a:t>KPI CARD</a:t>
            </a:r>
            <a:endParaRPr lang="en-US" sz="1000" dirty="0"/>
          </a:p>
        </p:txBody>
      </p:sp>
      <p:sp>
        <p:nvSpPr>
          <p:cNvPr id="18" name="Text 16"/>
          <p:cNvSpPr/>
          <p:nvPr/>
        </p:nvSpPr>
        <p:spPr>
          <a:xfrm>
            <a:off x="5806440" y="1901952"/>
            <a:ext cx="2423160" cy="32004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Total Revenue</a:t>
            </a:r>
            <a:endParaRPr lang="en-US" sz="1100" dirty="0"/>
          </a:p>
        </p:txBody>
      </p:sp>
      <p:sp>
        <p:nvSpPr>
          <p:cNvPr id="19" name="Text 17"/>
          <p:cNvSpPr/>
          <p:nvPr/>
        </p:nvSpPr>
        <p:spPr>
          <a:xfrm>
            <a:off x="5806440" y="2212848"/>
            <a:ext cx="2423160" cy="292608"/>
          </a:xfrm>
          <a:prstGeom prst="rect">
            <a:avLst/>
          </a:prstGeom>
          <a:noFill/>
          <a:ln/>
        </p:spPr>
        <p:txBody>
          <a:bodyPr wrap="square" rtlCol="0" anchor="ctr"/>
          <a:lstStyle/>
          <a:p>
            <a:pPr algn="ctr" indent="0" marL="0">
              <a:buNone/>
            </a:pPr>
            <a:r>
              <a:rPr lang="en-US" sz="900" dirty="0">
                <a:solidFill>
                  <a:srgbClr val="FFEEAA"/>
                </a:solidFill>
                <a:latin typeface="Calibri" pitchFamily="34" charset="0"/>
                <a:ea typeface="Calibri" pitchFamily="34" charset="-122"/>
                <a:cs typeface="Calibri" pitchFamily="34" charset="-120"/>
              </a:rPr>
              <a:t>[Total Revenue]</a:t>
            </a:r>
            <a:endParaRPr lang="en-US" sz="900" dirty="0"/>
          </a:p>
        </p:txBody>
      </p:sp>
      <p:sp>
        <p:nvSpPr>
          <p:cNvPr id="20" name="Shape 18"/>
          <p:cNvSpPr/>
          <p:nvPr/>
        </p:nvSpPr>
        <p:spPr>
          <a:xfrm>
            <a:off x="8458200" y="1508760"/>
            <a:ext cx="2423160" cy="1143000"/>
          </a:xfrm>
          <a:prstGeom prst="roundRect">
            <a:avLst>
              <a:gd name="adj" fmla="val 8000"/>
            </a:avLst>
          </a:prstGeom>
          <a:solidFill>
            <a:srgbClr val="E67E22"/>
          </a:solidFill>
          <a:ln w="10160">
            <a:solidFill>
              <a:srgbClr val="E67E22"/>
            </a:solidFill>
            <a:prstDash val="solid"/>
          </a:ln>
        </p:spPr>
      </p:sp>
      <p:sp>
        <p:nvSpPr>
          <p:cNvPr id="21" name="Text 19"/>
          <p:cNvSpPr/>
          <p:nvPr/>
        </p:nvSpPr>
        <p:spPr>
          <a:xfrm>
            <a:off x="8458200" y="1581912"/>
            <a:ext cx="2423160" cy="347472"/>
          </a:xfrm>
          <a:prstGeom prst="rect">
            <a:avLst/>
          </a:prstGeom>
          <a:noFill/>
          <a:ln/>
        </p:spPr>
        <p:txBody>
          <a:bodyPr wrap="square" rtlCol="0" anchor="ctr"/>
          <a:lstStyle/>
          <a:p>
            <a:pPr algn="ctr" indent="0" marL="0">
              <a:buNone/>
            </a:pPr>
            <a:r>
              <a:rPr lang="en-US" sz="1000" b="1" spc="200" kern="0" dirty="0">
                <a:solidFill>
                  <a:srgbClr val="D0F0F0"/>
                </a:solidFill>
                <a:latin typeface="Calibri" pitchFamily="34" charset="0"/>
                <a:ea typeface="Calibri" pitchFamily="34" charset="-122"/>
                <a:cs typeface="Calibri" pitchFamily="34" charset="-120"/>
              </a:rPr>
              <a:t>KPI CARD</a:t>
            </a:r>
            <a:endParaRPr lang="en-US" sz="1000" dirty="0"/>
          </a:p>
        </p:txBody>
      </p:sp>
      <p:sp>
        <p:nvSpPr>
          <p:cNvPr id="22" name="Text 20"/>
          <p:cNvSpPr/>
          <p:nvPr/>
        </p:nvSpPr>
        <p:spPr>
          <a:xfrm>
            <a:off x="8458200" y="1901952"/>
            <a:ext cx="2423160" cy="32004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Avg Satisfaction</a:t>
            </a:r>
            <a:endParaRPr lang="en-US" sz="1100" dirty="0"/>
          </a:p>
        </p:txBody>
      </p:sp>
      <p:sp>
        <p:nvSpPr>
          <p:cNvPr id="23" name="Text 21"/>
          <p:cNvSpPr/>
          <p:nvPr/>
        </p:nvSpPr>
        <p:spPr>
          <a:xfrm>
            <a:off x="8458200" y="2212848"/>
            <a:ext cx="2423160" cy="292608"/>
          </a:xfrm>
          <a:prstGeom prst="rect">
            <a:avLst/>
          </a:prstGeom>
          <a:noFill/>
          <a:ln/>
        </p:spPr>
        <p:txBody>
          <a:bodyPr wrap="square" rtlCol="0" anchor="ctr"/>
          <a:lstStyle/>
          <a:p>
            <a:pPr algn="ctr" indent="0" marL="0">
              <a:buNone/>
            </a:pPr>
            <a:r>
              <a:rPr lang="en-US" sz="900" dirty="0">
                <a:solidFill>
                  <a:srgbClr val="FFEEAA"/>
                </a:solidFill>
                <a:latin typeface="Calibri" pitchFamily="34" charset="0"/>
                <a:ea typeface="Calibri" pitchFamily="34" charset="-122"/>
                <a:cs typeface="Calibri" pitchFamily="34" charset="-120"/>
              </a:rPr>
              <a:t>[Avg Satisfaction]</a:t>
            </a:r>
            <a:endParaRPr lang="en-US" sz="900" dirty="0"/>
          </a:p>
        </p:txBody>
      </p:sp>
      <p:sp>
        <p:nvSpPr>
          <p:cNvPr id="24" name="Shape 22"/>
          <p:cNvSpPr/>
          <p:nvPr/>
        </p:nvSpPr>
        <p:spPr>
          <a:xfrm>
            <a:off x="502920" y="2788920"/>
            <a:ext cx="5349240" cy="1783080"/>
          </a:xfrm>
          <a:prstGeom prst="roundRect">
            <a:avLst>
              <a:gd name="adj" fmla="val 3590"/>
            </a:avLst>
          </a:prstGeom>
          <a:solidFill>
            <a:srgbClr val="F5FAFA"/>
          </a:solidFill>
          <a:ln w="10160">
            <a:solidFill>
              <a:srgbClr val="D0DCE4"/>
            </a:solidFill>
            <a:prstDash val="solid"/>
          </a:ln>
        </p:spPr>
      </p:sp>
      <p:sp>
        <p:nvSpPr>
          <p:cNvPr id="25" name="Text 23"/>
          <p:cNvSpPr/>
          <p:nvPr/>
        </p:nvSpPr>
        <p:spPr>
          <a:xfrm>
            <a:off x="594360" y="2880360"/>
            <a:ext cx="5166360" cy="1508760"/>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LINE CHART</a:t>
            </a:r>
            <a:endParaRPr lang="en-US" sz="1000" dirty="0"/>
          </a:p>
          <a:p>
            <a:pPr indent="0" marL="0">
              <a:buNone/>
            </a:pPr>
            <a:r>
              <a:rPr lang="en-US" sz="1000" dirty="0">
                <a:solidFill>
                  <a:srgbClr val="3D5A6C"/>
                </a:solidFill>
                <a:latin typeface="Calibri" pitchFamily="34" charset="0"/>
                <a:ea typeface="Calibri" pitchFamily="34" charset="-122"/>
                <a:cs typeface="Calibri" pitchFamily="34" charset="-120"/>
              </a:rPr>
              <a:t>Admissions per Month</a:t>
            </a:r>
            <a:endParaRPr lang="en-US" sz="1000" dirty="0"/>
          </a:p>
          <a:p>
            <a:pPr indent="0" marL="0">
              <a:buNone/>
            </a:pPr>
            <a:r>
              <a:rPr lang="en-US" sz="1000" dirty="0">
                <a:solidFill>
                  <a:srgbClr val="3D5A6C"/>
                </a:solidFill>
                <a:latin typeface="Calibri" pitchFamily="34" charset="0"/>
                <a:ea typeface="Calibri" pitchFamily="34" charset="-122"/>
                <a:cs typeface="Calibri" pitchFamily="34" charset="-120"/>
              </a:rPr>
              <a:t>X-Axis: MonthName  Y-Axis: [Total Admissions]</a:t>
            </a:r>
            <a:endParaRPr lang="en-US" sz="1000" dirty="0"/>
          </a:p>
          <a:p>
            <a:pPr indent="0" marL="0">
              <a:buNone/>
            </a:pPr>
            <a:r>
              <a:rPr lang="en-US" sz="1000" dirty="0">
                <a:solidFill>
                  <a:srgbClr val="3D5A6C"/>
                </a:solidFill>
                <a:latin typeface="Calibri" pitchFamily="34" charset="0"/>
                <a:ea typeface="Calibri" pitchFamily="34" charset="-122"/>
                <a:cs typeface="Calibri" pitchFamily="34" charset="-120"/>
              </a:rPr>
              <a:t>Legend: Admission_Year</a:t>
            </a:r>
            <a:endParaRPr lang="en-US" sz="1000" dirty="0"/>
          </a:p>
        </p:txBody>
      </p:sp>
      <p:sp>
        <p:nvSpPr>
          <p:cNvPr id="26" name="Shape 24"/>
          <p:cNvSpPr/>
          <p:nvPr/>
        </p:nvSpPr>
        <p:spPr>
          <a:xfrm>
            <a:off x="6035040" y="2788920"/>
            <a:ext cx="5577840" cy="1783080"/>
          </a:xfrm>
          <a:prstGeom prst="roundRect">
            <a:avLst>
              <a:gd name="adj" fmla="val 3590"/>
            </a:avLst>
          </a:prstGeom>
          <a:solidFill>
            <a:srgbClr val="F5FAFA"/>
          </a:solidFill>
          <a:ln w="10160">
            <a:solidFill>
              <a:srgbClr val="D0DCE4"/>
            </a:solidFill>
            <a:prstDash val="solid"/>
          </a:ln>
        </p:spPr>
      </p:sp>
      <p:sp>
        <p:nvSpPr>
          <p:cNvPr id="27" name="Text 25"/>
          <p:cNvSpPr/>
          <p:nvPr/>
        </p:nvSpPr>
        <p:spPr>
          <a:xfrm>
            <a:off x="6126480" y="2880360"/>
            <a:ext cx="5394960" cy="1508760"/>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DONUT CHART</a:t>
            </a:r>
            <a:endParaRPr lang="en-US" sz="1000" dirty="0"/>
          </a:p>
          <a:p>
            <a:pPr indent="0" marL="0">
              <a:buNone/>
            </a:pPr>
            <a:r>
              <a:rPr lang="en-US" sz="1000" dirty="0">
                <a:solidFill>
                  <a:srgbClr val="3D5A6C"/>
                </a:solidFill>
                <a:latin typeface="Calibri" pitchFamily="34" charset="0"/>
                <a:ea typeface="Calibri" pitchFamily="34" charset="-122"/>
                <a:cs typeface="Calibri" pitchFamily="34" charset="-120"/>
              </a:rPr>
              <a:t>Admissions by Admission Type</a:t>
            </a:r>
            <a:endParaRPr lang="en-US" sz="1000" dirty="0"/>
          </a:p>
          <a:p>
            <a:pPr indent="0" marL="0">
              <a:buNone/>
            </a:pPr>
            <a:r>
              <a:rPr lang="en-US" sz="1000" dirty="0">
                <a:solidFill>
                  <a:srgbClr val="3D5A6C"/>
                </a:solidFill>
                <a:latin typeface="Calibri" pitchFamily="34" charset="0"/>
                <a:ea typeface="Calibri" pitchFamily="34" charset="-122"/>
                <a:cs typeface="Calibri" pitchFamily="34" charset="-120"/>
              </a:rPr>
              <a:t>Values: [Total Admissions]</a:t>
            </a:r>
            <a:endParaRPr lang="en-US" sz="1000" dirty="0"/>
          </a:p>
          <a:p>
            <a:pPr indent="0" marL="0">
              <a:buNone/>
            </a:pPr>
            <a:r>
              <a:rPr lang="en-US" sz="1000" dirty="0">
                <a:solidFill>
                  <a:srgbClr val="3D5A6C"/>
                </a:solidFill>
                <a:latin typeface="Calibri" pitchFamily="34" charset="0"/>
                <a:ea typeface="Calibri" pitchFamily="34" charset="-122"/>
                <a:cs typeface="Calibri" pitchFamily="34" charset="-120"/>
              </a:rPr>
              <a:t>Legend: Admission_Type</a:t>
            </a:r>
            <a:endParaRPr lang="en-US" sz="1000" dirty="0"/>
          </a:p>
        </p:txBody>
      </p:sp>
      <p:sp>
        <p:nvSpPr>
          <p:cNvPr id="28" name="Shape 26"/>
          <p:cNvSpPr/>
          <p:nvPr/>
        </p:nvSpPr>
        <p:spPr>
          <a:xfrm>
            <a:off x="502920" y="4709160"/>
            <a:ext cx="5349240" cy="1664208"/>
          </a:xfrm>
          <a:prstGeom prst="roundRect">
            <a:avLst>
              <a:gd name="adj" fmla="val 3846"/>
            </a:avLst>
          </a:prstGeom>
          <a:solidFill>
            <a:srgbClr val="F5FAFA"/>
          </a:solidFill>
          <a:ln w="10160">
            <a:solidFill>
              <a:srgbClr val="D0DCE4"/>
            </a:solidFill>
            <a:prstDash val="solid"/>
          </a:ln>
        </p:spPr>
      </p:sp>
      <p:sp>
        <p:nvSpPr>
          <p:cNvPr id="29" name="Text 27"/>
          <p:cNvSpPr/>
          <p:nvPr/>
        </p:nvSpPr>
        <p:spPr>
          <a:xfrm>
            <a:off x="594360" y="4800600"/>
            <a:ext cx="5166360" cy="1417320"/>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BAR CHART</a:t>
            </a:r>
            <a:endParaRPr lang="en-US" sz="1000" dirty="0"/>
          </a:p>
          <a:p>
            <a:pPr indent="0" marL="0">
              <a:buNone/>
            </a:pPr>
            <a:r>
              <a:rPr lang="en-US" sz="1000" dirty="0">
                <a:solidFill>
                  <a:srgbClr val="3D5A6C"/>
                </a:solidFill>
                <a:latin typeface="Calibri" pitchFamily="34" charset="0"/>
                <a:ea typeface="Calibri" pitchFamily="34" charset="-122"/>
                <a:cs typeface="Calibri" pitchFamily="34" charset="-120"/>
              </a:rPr>
              <a:t>Top Hospitals by Admissions</a:t>
            </a:r>
            <a:endParaRPr lang="en-US" sz="1000" dirty="0"/>
          </a:p>
          <a:p>
            <a:pPr indent="0" marL="0">
              <a:buNone/>
            </a:pPr>
            <a:r>
              <a:rPr lang="en-US" sz="1000" dirty="0">
                <a:solidFill>
                  <a:srgbClr val="3D5A6C"/>
                </a:solidFill>
                <a:latin typeface="Calibri" pitchFamily="34" charset="0"/>
                <a:ea typeface="Calibri" pitchFamily="34" charset="-122"/>
                <a:cs typeface="Calibri" pitchFamily="34" charset="-120"/>
              </a:rPr>
              <a:t>Y-Axis: Hospital  X-Axis: [Total Admissions]</a:t>
            </a:r>
            <a:endParaRPr lang="en-US" sz="1000" dirty="0"/>
          </a:p>
          <a:p>
            <a:pPr indent="0" marL="0">
              <a:buNone/>
            </a:pPr>
            <a:r>
              <a:rPr lang="en-US" sz="1000" dirty="0">
                <a:solidFill>
                  <a:srgbClr val="3D5A6C"/>
                </a:solidFill>
                <a:latin typeface="Calibri" pitchFamily="34" charset="0"/>
                <a:ea typeface="Calibri" pitchFamily="34" charset="-122"/>
                <a:cs typeface="Calibri" pitchFamily="34" charset="-120"/>
              </a:rPr>
              <a:t>Sort: Descending by value</a:t>
            </a:r>
            <a:endParaRPr lang="en-US" sz="1000" dirty="0"/>
          </a:p>
        </p:txBody>
      </p:sp>
      <p:sp>
        <p:nvSpPr>
          <p:cNvPr id="30" name="Shape 28"/>
          <p:cNvSpPr/>
          <p:nvPr/>
        </p:nvSpPr>
        <p:spPr>
          <a:xfrm>
            <a:off x="6035040" y="4709160"/>
            <a:ext cx="5577840" cy="1664208"/>
          </a:xfrm>
          <a:prstGeom prst="roundRect">
            <a:avLst>
              <a:gd name="adj" fmla="val 3846"/>
            </a:avLst>
          </a:prstGeom>
          <a:solidFill>
            <a:srgbClr val="F5FAFA"/>
          </a:solidFill>
          <a:ln w="10160">
            <a:solidFill>
              <a:srgbClr val="D0DCE4"/>
            </a:solidFill>
            <a:prstDash val="solid"/>
          </a:ln>
        </p:spPr>
      </p:sp>
      <p:sp>
        <p:nvSpPr>
          <p:cNvPr id="31" name="Text 29"/>
          <p:cNvSpPr/>
          <p:nvPr/>
        </p:nvSpPr>
        <p:spPr>
          <a:xfrm>
            <a:off x="6126480" y="4800600"/>
            <a:ext cx="5394960" cy="1417320"/>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SLICERS  (Place at top-right or side)</a:t>
            </a:r>
            <a:endParaRPr lang="en-US" sz="1000" dirty="0"/>
          </a:p>
          <a:p>
            <a:pPr indent="0" marL="0">
              <a:buNone/>
            </a:pPr>
            <a:r>
              <a:rPr lang="en-US" sz="1000" dirty="0">
                <a:solidFill>
                  <a:srgbClr val="3D5A6C"/>
                </a:solidFill>
                <a:latin typeface="Calibri" pitchFamily="34" charset="0"/>
                <a:ea typeface="Calibri" pitchFamily="34" charset="-122"/>
                <a:cs typeface="Calibri" pitchFamily="34" charset="-120"/>
              </a:rPr>
              <a:t>▸ Year: DimDate[Year]</a:t>
            </a:r>
            <a:endParaRPr lang="en-US" sz="1000" dirty="0"/>
          </a:p>
          <a:p>
            <a:pPr indent="0" marL="0">
              <a:buNone/>
            </a:pPr>
            <a:r>
              <a:rPr lang="en-US" sz="1000" dirty="0">
                <a:solidFill>
                  <a:srgbClr val="3D5A6C"/>
                </a:solidFill>
                <a:latin typeface="Calibri" pitchFamily="34" charset="0"/>
                <a:ea typeface="Calibri" pitchFamily="34" charset="-122"/>
                <a:cs typeface="Calibri" pitchFamily="34" charset="-120"/>
              </a:rPr>
              <a:t>▸ Admission Type: Admissions[Admission_Type]</a:t>
            </a:r>
            <a:endParaRPr lang="en-US" sz="1000" dirty="0"/>
          </a:p>
          <a:p>
            <a:pPr indent="0" marL="0">
              <a:buNone/>
            </a:pPr>
            <a:r>
              <a:rPr lang="en-US" sz="1000" dirty="0">
                <a:solidFill>
                  <a:srgbClr val="3D5A6C"/>
                </a:solidFill>
                <a:latin typeface="Calibri" pitchFamily="34" charset="0"/>
                <a:ea typeface="Calibri" pitchFamily="34" charset="-122"/>
                <a:cs typeface="Calibri" pitchFamily="34" charset="-120"/>
              </a:rPr>
              <a:t>▸ Hospital: Admissions[Hospital]</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AFA"/>
          </a:solidFill>
          <a:ln/>
        </p:spPr>
      </p:sp>
      <p:sp>
        <p:nvSpPr>
          <p:cNvPr id="3" name="Shape 1"/>
          <p:cNvSpPr/>
          <p:nvPr/>
        </p:nvSpPr>
        <p:spPr>
          <a:xfrm>
            <a:off x="0" y="0"/>
            <a:ext cx="82296" cy="6858000"/>
          </a:xfrm>
          <a:prstGeom prst="rect">
            <a:avLst/>
          </a:prstGeom>
          <a:solidFill>
            <a:srgbClr val="006D77"/>
          </a:solidFill>
          <a:ln/>
        </p:spPr>
      </p:sp>
      <p:sp>
        <p:nvSpPr>
          <p:cNvPr id="4" name="Shape 2"/>
          <p:cNvSpPr/>
          <p:nvPr/>
        </p:nvSpPr>
        <p:spPr>
          <a:xfrm>
            <a:off x="0" y="0"/>
            <a:ext cx="12161520" cy="1371600"/>
          </a:xfrm>
          <a:prstGeom prst="rect">
            <a:avLst/>
          </a:prstGeom>
          <a:solidFill>
            <a:srgbClr val="006D77"/>
          </a:solidFill>
          <a:ln/>
        </p:spPr>
      </p:sp>
      <p:sp>
        <p:nvSpPr>
          <p:cNvPr id="5" name="Text 3"/>
          <p:cNvSpPr/>
          <p:nvPr/>
        </p:nvSpPr>
        <p:spPr>
          <a:xfrm>
            <a:off x="320040" y="164592"/>
            <a:ext cx="1152144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STEP 10 (Detailed) — Adding Each Visual on Page 1</a:t>
            </a:r>
            <a:endParaRPr lang="en-US" sz="2400" dirty="0"/>
          </a:p>
        </p:txBody>
      </p:sp>
      <p:sp>
        <p:nvSpPr>
          <p:cNvPr id="6" name="Text 4"/>
          <p:cNvSpPr/>
          <p:nvPr/>
        </p:nvSpPr>
        <p:spPr>
          <a:xfrm>
            <a:off x="320040" y="822960"/>
            <a:ext cx="11521440" cy="411480"/>
          </a:xfrm>
          <a:prstGeom prst="rect">
            <a:avLst/>
          </a:prstGeom>
          <a:noFill/>
          <a:ln/>
        </p:spPr>
        <p:txBody>
          <a:bodyPr wrap="square" rtlCol="0" anchor="ctr"/>
          <a:lstStyle/>
          <a:p>
            <a:pPr indent="0" marL="0">
              <a:buNone/>
            </a:pPr>
            <a:r>
              <a:rPr lang="en-US" sz="1200" i="1" dirty="0">
                <a:solidFill>
                  <a:srgbClr val="83C5BE"/>
                </a:solidFill>
                <a:latin typeface="Calibri" pitchFamily="34" charset="0"/>
                <a:ea typeface="Calibri" pitchFamily="34" charset="-122"/>
                <a:cs typeface="Calibri" pitchFamily="34" charset="-120"/>
              </a:rPr>
              <a:t>Exact steps for every visual. Follow in order.</a:t>
            </a:r>
            <a:endParaRPr lang="en-US" sz="1200" dirty="0"/>
          </a:p>
        </p:txBody>
      </p:sp>
      <p:sp>
        <p:nvSpPr>
          <p:cNvPr id="7" name="Shape 5"/>
          <p:cNvSpPr/>
          <p:nvPr/>
        </p:nvSpPr>
        <p:spPr>
          <a:xfrm>
            <a:off x="320040" y="1417320"/>
            <a:ext cx="11475720" cy="987552"/>
          </a:xfrm>
          <a:prstGeom prst="roundRect">
            <a:avLst>
              <a:gd name="adj" fmla="val 6481"/>
            </a:avLst>
          </a:prstGeom>
          <a:solidFill>
            <a:srgbClr val="FFFFFF"/>
          </a:solidFill>
          <a:ln w="10160">
            <a:solidFill>
              <a:srgbClr val="D0DCE4"/>
            </a:solidFill>
            <a:prstDash val="solid"/>
          </a:ln>
        </p:spPr>
      </p:sp>
      <p:sp>
        <p:nvSpPr>
          <p:cNvPr id="8" name="Shape 6"/>
          <p:cNvSpPr/>
          <p:nvPr/>
        </p:nvSpPr>
        <p:spPr>
          <a:xfrm>
            <a:off x="320040" y="1417320"/>
            <a:ext cx="2286000" cy="987552"/>
          </a:xfrm>
          <a:prstGeom prst="roundRect">
            <a:avLst>
              <a:gd name="adj" fmla="val 6481"/>
            </a:avLst>
          </a:prstGeom>
          <a:solidFill>
            <a:srgbClr val="006D77"/>
          </a:solidFill>
          <a:ln/>
        </p:spPr>
      </p:sp>
      <p:sp>
        <p:nvSpPr>
          <p:cNvPr id="9" name="Text 7"/>
          <p:cNvSpPr/>
          <p:nvPr/>
        </p:nvSpPr>
        <p:spPr>
          <a:xfrm>
            <a:off x="320040" y="1645920"/>
            <a:ext cx="22860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KPI Cards (×4)</a:t>
            </a:r>
            <a:endParaRPr lang="en-US" sz="1200" dirty="0"/>
          </a:p>
        </p:txBody>
      </p:sp>
      <p:sp>
        <p:nvSpPr>
          <p:cNvPr id="10" name="Text 8"/>
          <p:cNvSpPr/>
          <p:nvPr/>
        </p:nvSpPr>
        <p:spPr>
          <a:xfrm>
            <a:off x="2743200" y="1463040"/>
            <a:ext cx="8915400" cy="16459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1. In Visualizations panel → click the "Card" icon (small square with number).</a:t>
            </a:r>
            <a:endParaRPr lang="en-US" sz="950" dirty="0"/>
          </a:p>
        </p:txBody>
      </p:sp>
      <p:sp>
        <p:nvSpPr>
          <p:cNvPr id="11" name="Text 9"/>
          <p:cNvSpPr/>
          <p:nvPr/>
        </p:nvSpPr>
        <p:spPr>
          <a:xfrm>
            <a:off x="2743200" y="1636776"/>
            <a:ext cx="8915400" cy="16459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2. Drag [Total Admissions] from Fields panel → drop into "Fields" well of the card.</a:t>
            </a:r>
            <a:endParaRPr lang="en-US" sz="950" dirty="0"/>
          </a:p>
        </p:txBody>
      </p:sp>
      <p:sp>
        <p:nvSpPr>
          <p:cNvPr id="12" name="Text 10"/>
          <p:cNvSpPr/>
          <p:nvPr/>
        </p:nvSpPr>
        <p:spPr>
          <a:xfrm>
            <a:off x="2743200" y="1810512"/>
            <a:ext cx="8915400" cy="16459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3. Resize and move the card to top-left (see layout wireframe on previous slide).</a:t>
            </a:r>
            <a:endParaRPr lang="en-US" sz="950" dirty="0"/>
          </a:p>
        </p:txBody>
      </p:sp>
      <p:sp>
        <p:nvSpPr>
          <p:cNvPr id="13" name="Text 11"/>
          <p:cNvSpPr/>
          <p:nvPr/>
        </p:nvSpPr>
        <p:spPr>
          <a:xfrm>
            <a:off x="2743200" y="1984248"/>
            <a:ext cx="8915400" cy="16459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4. Format: Visual → Callout value → Font size 28, Bold. Category label → font size 12.</a:t>
            </a:r>
            <a:endParaRPr lang="en-US" sz="950" dirty="0"/>
          </a:p>
        </p:txBody>
      </p:sp>
      <p:sp>
        <p:nvSpPr>
          <p:cNvPr id="14" name="Text 12"/>
          <p:cNvSpPr/>
          <p:nvPr/>
        </p:nvSpPr>
        <p:spPr>
          <a:xfrm>
            <a:off x="2743200" y="2157984"/>
            <a:ext cx="8915400" cy="16459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5. Repeat for Total Patients, Total Revenue, Avg Satisfaction — place them in a row.</a:t>
            </a:r>
            <a:endParaRPr lang="en-US" sz="950" dirty="0"/>
          </a:p>
        </p:txBody>
      </p:sp>
      <p:sp>
        <p:nvSpPr>
          <p:cNvPr id="15" name="Shape 13"/>
          <p:cNvSpPr/>
          <p:nvPr/>
        </p:nvSpPr>
        <p:spPr>
          <a:xfrm>
            <a:off x="320040" y="2468880"/>
            <a:ext cx="11475720" cy="987552"/>
          </a:xfrm>
          <a:prstGeom prst="roundRect">
            <a:avLst>
              <a:gd name="adj" fmla="val 6481"/>
            </a:avLst>
          </a:prstGeom>
          <a:solidFill>
            <a:srgbClr val="FFFFFF"/>
          </a:solidFill>
          <a:ln w="10160">
            <a:solidFill>
              <a:srgbClr val="D0DCE4"/>
            </a:solidFill>
            <a:prstDash val="solid"/>
          </a:ln>
        </p:spPr>
      </p:sp>
      <p:sp>
        <p:nvSpPr>
          <p:cNvPr id="16" name="Shape 14"/>
          <p:cNvSpPr/>
          <p:nvPr/>
        </p:nvSpPr>
        <p:spPr>
          <a:xfrm>
            <a:off x="320040" y="2468880"/>
            <a:ext cx="2286000" cy="987552"/>
          </a:xfrm>
          <a:prstGeom prst="roundRect">
            <a:avLst>
              <a:gd name="adj" fmla="val 6481"/>
            </a:avLst>
          </a:prstGeom>
          <a:solidFill>
            <a:srgbClr val="008891"/>
          </a:solidFill>
          <a:ln/>
        </p:spPr>
      </p:sp>
      <p:sp>
        <p:nvSpPr>
          <p:cNvPr id="17" name="Text 15"/>
          <p:cNvSpPr/>
          <p:nvPr/>
        </p:nvSpPr>
        <p:spPr>
          <a:xfrm>
            <a:off x="320040" y="2697480"/>
            <a:ext cx="22860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Line Chart — Admissions per Month</a:t>
            </a:r>
            <a:endParaRPr lang="en-US" sz="1200" dirty="0"/>
          </a:p>
        </p:txBody>
      </p:sp>
      <p:sp>
        <p:nvSpPr>
          <p:cNvPr id="18" name="Text 16"/>
          <p:cNvSpPr/>
          <p:nvPr/>
        </p:nvSpPr>
        <p:spPr>
          <a:xfrm>
            <a:off x="2743200" y="2514600"/>
            <a:ext cx="8915400" cy="16459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1. Click empty canvas area → Visualizations → "Line Chart" icon.</a:t>
            </a:r>
            <a:endParaRPr lang="en-US" sz="950" dirty="0"/>
          </a:p>
        </p:txBody>
      </p:sp>
      <p:sp>
        <p:nvSpPr>
          <p:cNvPr id="19" name="Text 17"/>
          <p:cNvSpPr/>
          <p:nvPr/>
        </p:nvSpPr>
        <p:spPr>
          <a:xfrm>
            <a:off x="2743200" y="2688336"/>
            <a:ext cx="8915400" cy="16459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2. X-Axis: drag DimDate[MonthName] from Fields. Y-Axis: drag [Total Admissions].</a:t>
            </a:r>
            <a:endParaRPr lang="en-US" sz="950" dirty="0"/>
          </a:p>
        </p:txBody>
      </p:sp>
      <p:sp>
        <p:nvSpPr>
          <p:cNvPr id="20" name="Text 18"/>
          <p:cNvSpPr/>
          <p:nvPr/>
        </p:nvSpPr>
        <p:spPr>
          <a:xfrm>
            <a:off x="2743200" y="2862072"/>
            <a:ext cx="8915400" cy="16459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3. Legend: drag DimDate[Year] to Legend well. This splits 2023 vs 2024 as two lines.</a:t>
            </a:r>
            <a:endParaRPr lang="en-US" sz="950" dirty="0"/>
          </a:p>
        </p:txBody>
      </p:sp>
      <p:sp>
        <p:nvSpPr>
          <p:cNvPr id="21" name="Text 19"/>
          <p:cNvSpPr/>
          <p:nvPr/>
        </p:nvSpPr>
        <p:spPr>
          <a:xfrm>
            <a:off x="2743200" y="3035808"/>
            <a:ext cx="8915400" cy="16459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4. Format: turn on "Data labels". Set line colors: 2023 = teal, 2024 = gold.</a:t>
            </a:r>
            <a:endParaRPr lang="en-US" sz="950" dirty="0"/>
          </a:p>
        </p:txBody>
      </p:sp>
      <p:sp>
        <p:nvSpPr>
          <p:cNvPr id="22" name="Text 20"/>
          <p:cNvSpPr/>
          <p:nvPr/>
        </p:nvSpPr>
        <p:spPr>
          <a:xfrm>
            <a:off x="2743200" y="3209544"/>
            <a:ext cx="8915400" cy="16459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5. Sort: click the three dots (...) on the visual → Sort axis → MonthName ascending.</a:t>
            </a:r>
            <a:endParaRPr lang="en-US" sz="950" dirty="0"/>
          </a:p>
        </p:txBody>
      </p:sp>
      <p:sp>
        <p:nvSpPr>
          <p:cNvPr id="23" name="Shape 21"/>
          <p:cNvSpPr/>
          <p:nvPr/>
        </p:nvSpPr>
        <p:spPr>
          <a:xfrm>
            <a:off x="320040" y="3520440"/>
            <a:ext cx="11475720" cy="987552"/>
          </a:xfrm>
          <a:prstGeom prst="roundRect">
            <a:avLst>
              <a:gd name="adj" fmla="val 6481"/>
            </a:avLst>
          </a:prstGeom>
          <a:solidFill>
            <a:srgbClr val="FFFFFF"/>
          </a:solidFill>
          <a:ln w="10160">
            <a:solidFill>
              <a:srgbClr val="D0DCE4"/>
            </a:solidFill>
            <a:prstDash val="solid"/>
          </a:ln>
        </p:spPr>
      </p:sp>
      <p:sp>
        <p:nvSpPr>
          <p:cNvPr id="24" name="Shape 22"/>
          <p:cNvSpPr/>
          <p:nvPr/>
        </p:nvSpPr>
        <p:spPr>
          <a:xfrm>
            <a:off x="320040" y="3520440"/>
            <a:ext cx="2286000" cy="987552"/>
          </a:xfrm>
          <a:prstGeom prst="roundRect">
            <a:avLst>
              <a:gd name="adj" fmla="val 6481"/>
            </a:avLst>
          </a:prstGeom>
          <a:solidFill>
            <a:srgbClr val="E29F18"/>
          </a:solidFill>
          <a:ln/>
        </p:spPr>
      </p:sp>
      <p:sp>
        <p:nvSpPr>
          <p:cNvPr id="25" name="Text 23"/>
          <p:cNvSpPr/>
          <p:nvPr/>
        </p:nvSpPr>
        <p:spPr>
          <a:xfrm>
            <a:off x="320040" y="3749040"/>
            <a:ext cx="22860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Donut Chart — By Admission Type</a:t>
            </a:r>
            <a:endParaRPr lang="en-US" sz="1200" dirty="0"/>
          </a:p>
        </p:txBody>
      </p:sp>
      <p:sp>
        <p:nvSpPr>
          <p:cNvPr id="26" name="Text 24"/>
          <p:cNvSpPr/>
          <p:nvPr/>
        </p:nvSpPr>
        <p:spPr>
          <a:xfrm>
            <a:off x="2743200" y="3566160"/>
            <a:ext cx="8915400" cy="16459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1. Click empty area → Visualizations → "Donut Chart" icon.</a:t>
            </a:r>
            <a:endParaRPr lang="en-US" sz="950" dirty="0"/>
          </a:p>
        </p:txBody>
      </p:sp>
      <p:sp>
        <p:nvSpPr>
          <p:cNvPr id="27" name="Text 25"/>
          <p:cNvSpPr/>
          <p:nvPr/>
        </p:nvSpPr>
        <p:spPr>
          <a:xfrm>
            <a:off x="2743200" y="3739896"/>
            <a:ext cx="8915400" cy="16459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2. Values: [Total Admissions]. Legend: drag Admissions[Admission_Type].</a:t>
            </a:r>
            <a:endParaRPr lang="en-US" sz="950" dirty="0"/>
          </a:p>
        </p:txBody>
      </p:sp>
      <p:sp>
        <p:nvSpPr>
          <p:cNvPr id="28" name="Text 26"/>
          <p:cNvSpPr/>
          <p:nvPr/>
        </p:nvSpPr>
        <p:spPr>
          <a:xfrm>
            <a:off x="2743200" y="3913632"/>
            <a:ext cx="8915400" cy="16459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3. Format: turn on Data Labels → set to "Percentage". Inner radius = 50%.</a:t>
            </a:r>
            <a:endParaRPr lang="en-US" sz="950" dirty="0"/>
          </a:p>
        </p:txBody>
      </p:sp>
      <p:sp>
        <p:nvSpPr>
          <p:cNvPr id="29" name="Text 27"/>
          <p:cNvSpPr/>
          <p:nvPr/>
        </p:nvSpPr>
        <p:spPr>
          <a:xfrm>
            <a:off x="2743200" y="4087368"/>
            <a:ext cx="8915400" cy="16459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4. Set colors: Emergency = red (#C0392B), Elective = teal, Referral = gold.</a:t>
            </a:r>
            <a:endParaRPr lang="en-US" sz="950" dirty="0"/>
          </a:p>
        </p:txBody>
      </p:sp>
      <p:sp>
        <p:nvSpPr>
          <p:cNvPr id="30" name="Shape 28"/>
          <p:cNvSpPr/>
          <p:nvPr/>
        </p:nvSpPr>
        <p:spPr>
          <a:xfrm>
            <a:off x="320040" y="4572000"/>
            <a:ext cx="11475720" cy="987552"/>
          </a:xfrm>
          <a:prstGeom prst="roundRect">
            <a:avLst>
              <a:gd name="adj" fmla="val 6481"/>
            </a:avLst>
          </a:prstGeom>
          <a:solidFill>
            <a:srgbClr val="FFFFFF"/>
          </a:solidFill>
          <a:ln w="10160">
            <a:solidFill>
              <a:srgbClr val="D0DCE4"/>
            </a:solidFill>
            <a:prstDash val="solid"/>
          </a:ln>
        </p:spPr>
      </p:sp>
      <p:sp>
        <p:nvSpPr>
          <p:cNvPr id="31" name="Shape 29"/>
          <p:cNvSpPr/>
          <p:nvPr/>
        </p:nvSpPr>
        <p:spPr>
          <a:xfrm>
            <a:off x="320040" y="4572000"/>
            <a:ext cx="2286000" cy="987552"/>
          </a:xfrm>
          <a:prstGeom prst="roundRect">
            <a:avLst>
              <a:gd name="adj" fmla="val 6481"/>
            </a:avLst>
          </a:prstGeom>
          <a:solidFill>
            <a:srgbClr val="E67E22"/>
          </a:solidFill>
          <a:ln/>
        </p:spPr>
      </p:sp>
      <p:sp>
        <p:nvSpPr>
          <p:cNvPr id="32" name="Text 30"/>
          <p:cNvSpPr/>
          <p:nvPr/>
        </p:nvSpPr>
        <p:spPr>
          <a:xfrm>
            <a:off x="320040" y="4800600"/>
            <a:ext cx="22860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Bar Chart — Hospitals Ranking</a:t>
            </a:r>
            <a:endParaRPr lang="en-US" sz="1200" dirty="0"/>
          </a:p>
        </p:txBody>
      </p:sp>
      <p:sp>
        <p:nvSpPr>
          <p:cNvPr id="33" name="Text 31"/>
          <p:cNvSpPr/>
          <p:nvPr/>
        </p:nvSpPr>
        <p:spPr>
          <a:xfrm>
            <a:off x="2743200" y="4617720"/>
            <a:ext cx="8915400" cy="16459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1. Click empty area → Visualizations → "Clustered Bar Chart".</a:t>
            </a:r>
            <a:endParaRPr lang="en-US" sz="950" dirty="0"/>
          </a:p>
        </p:txBody>
      </p:sp>
      <p:sp>
        <p:nvSpPr>
          <p:cNvPr id="34" name="Text 32"/>
          <p:cNvSpPr/>
          <p:nvPr/>
        </p:nvSpPr>
        <p:spPr>
          <a:xfrm>
            <a:off x="2743200" y="4791456"/>
            <a:ext cx="8915400" cy="16459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2. Y-Axis: Admissions[Hospital]. X-Axis: [Total Admissions].</a:t>
            </a:r>
            <a:endParaRPr lang="en-US" sz="950" dirty="0"/>
          </a:p>
        </p:txBody>
      </p:sp>
      <p:sp>
        <p:nvSpPr>
          <p:cNvPr id="35" name="Text 33"/>
          <p:cNvSpPr/>
          <p:nvPr/>
        </p:nvSpPr>
        <p:spPr>
          <a:xfrm>
            <a:off x="2743200" y="4965192"/>
            <a:ext cx="8915400" cy="16459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3. Format → Data labels → On. Sort: descending by Total Admissions.</a:t>
            </a:r>
            <a:endParaRPr lang="en-US" sz="950" dirty="0"/>
          </a:p>
        </p:txBody>
      </p:sp>
      <p:sp>
        <p:nvSpPr>
          <p:cNvPr id="36" name="Text 34"/>
          <p:cNvSpPr/>
          <p:nvPr/>
        </p:nvSpPr>
        <p:spPr>
          <a:xfrm>
            <a:off x="2743200" y="5138928"/>
            <a:ext cx="8915400" cy="16459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4. Color: all bars = teal. Or use conditional formatting → Data bars.</a:t>
            </a:r>
            <a:endParaRPr lang="en-US" sz="950" dirty="0"/>
          </a:p>
        </p:txBody>
      </p:sp>
      <p:sp>
        <p:nvSpPr>
          <p:cNvPr id="37" name="Shape 35"/>
          <p:cNvSpPr/>
          <p:nvPr/>
        </p:nvSpPr>
        <p:spPr>
          <a:xfrm>
            <a:off x="320040" y="5623560"/>
            <a:ext cx="11475720" cy="987552"/>
          </a:xfrm>
          <a:prstGeom prst="roundRect">
            <a:avLst>
              <a:gd name="adj" fmla="val 6481"/>
            </a:avLst>
          </a:prstGeom>
          <a:solidFill>
            <a:srgbClr val="FFFFFF"/>
          </a:solidFill>
          <a:ln w="10160">
            <a:solidFill>
              <a:srgbClr val="D0DCE4"/>
            </a:solidFill>
            <a:prstDash val="solid"/>
          </a:ln>
        </p:spPr>
      </p:sp>
      <p:sp>
        <p:nvSpPr>
          <p:cNvPr id="38" name="Shape 36"/>
          <p:cNvSpPr/>
          <p:nvPr/>
        </p:nvSpPr>
        <p:spPr>
          <a:xfrm>
            <a:off x="320040" y="5623560"/>
            <a:ext cx="2286000" cy="987552"/>
          </a:xfrm>
          <a:prstGeom prst="roundRect">
            <a:avLst>
              <a:gd name="adj" fmla="val 6481"/>
            </a:avLst>
          </a:prstGeom>
          <a:solidFill>
            <a:srgbClr val="6C3483"/>
          </a:solidFill>
          <a:ln/>
        </p:spPr>
      </p:sp>
      <p:sp>
        <p:nvSpPr>
          <p:cNvPr id="39" name="Text 37"/>
          <p:cNvSpPr/>
          <p:nvPr/>
        </p:nvSpPr>
        <p:spPr>
          <a:xfrm>
            <a:off x="320040" y="5852160"/>
            <a:ext cx="22860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Slicers (×3)</a:t>
            </a:r>
            <a:endParaRPr lang="en-US" sz="1200" dirty="0"/>
          </a:p>
        </p:txBody>
      </p:sp>
      <p:sp>
        <p:nvSpPr>
          <p:cNvPr id="40" name="Text 38"/>
          <p:cNvSpPr/>
          <p:nvPr/>
        </p:nvSpPr>
        <p:spPr>
          <a:xfrm>
            <a:off x="2743200" y="5669280"/>
            <a:ext cx="8915400" cy="16459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1. Click empty area → Visualizations → "Slicer" icon.</a:t>
            </a:r>
            <a:endParaRPr lang="en-US" sz="950" dirty="0"/>
          </a:p>
        </p:txBody>
      </p:sp>
      <p:sp>
        <p:nvSpPr>
          <p:cNvPr id="41" name="Text 39"/>
          <p:cNvSpPr/>
          <p:nvPr/>
        </p:nvSpPr>
        <p:spPr>
          <a:xfrm>
            <a:off x="2743200" y="5843016"/>
            <a:ext cx="8915400" cy="16459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2. Drag DimDate[Year] into the slicer field. Format → Style → "Tile" (shows years as buttons).</a:t>
            </a:r>
            <a:endParaRPr lang="en-US" sz="950" dirty="0"/>
          </a:p>
        </p:txBody>
      </p:sp>
      <p:sp>
        <p:nvSpPr>
          <p:cNvPr id="42" name="Text 40"/>
          <p:cNvSpPr/>
          <p:nvPr/>
        </p:nvSpPr>
        <p:spPr>
          <a:xfrm>
            <a:off x="2743200" y="6016752"/>
            <a:ext cx="8915400" cy="16459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3. Add 2 more slicers: Admissions[Admission_Type] and Admissions[Hospital].</a:t>
            </a:r>
            <a:endParaRPr lang="en-US" sz="950" dirty="0"/>
          </a:p>
        </p:txBody>
      </p:sp>
      <p:sp>
        <p:nvSpPr>
          <p:cNvPr id="43" name="Text 41"/>
          <p:cNvSpPr/>
          <p:nvPr/>
        </p:nvSpPr>
        <p:spPr>
          <a:xfrm>
            <a:off x="2743200" y="6190488"/>
            <a:ext cx="8915400" cy="164592"/>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4. Format all slicers: font size 11, border = light teal, header = teal background.</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AFA"/>
          </a:solidFill>
          <a:ln/>
        </p:spPr>
      </p:sp>
      <p:sp>
        <p:nvSpPr>
          <p:cNvPr id="3" name="Shape 1"/>
          <p:cNvSpPr/>
          <p:nvPr/>
        </p:nvSpPr>
        <p:spPr>
          <a:xfrm>
            <a:off x="0" y="0"/>
            <a:ext cx="82296" cy="6858000"/>
          </a:xfrm>
          <a:prstGeom prst="rect">
            <a:avLst/>
          </a:prstGeom>
          <a:solidFill>
            <a:srgbClr val="006D77"/>
          </a:solidFill>
          <a:ln/>
        </p:spPr>
      </p:sp>
      <p:sp>
        <p:nvSpPr>
          <p:cNvPr id="4" name="Shape 2"/>
          <p:cNvSpPr/>
          <p:nvPr/>
        </p:nvSpPr>
        <p:spPr>
          <a:xfrm>
            <a:off x="0" y="0"/>
            <a:ext cx="12161520" cy="1371600"/>
          </a:xfrm>
          <a:prstGeom prst="rect">
            <a:avLst/>
          </a:prstGeom>
          <a:solidFill>
            <a:srgbClr val="006D77"/>
          </a:solidFill>
          <a:ln/>
        </p:spPr>
      </p:sp>
      <p:sp>
        <p:nvSpPr>
          <p:cNvPr id="5" name="Text 3"/>
          <p:cNvSpPr/>
          <p:nvPr/>
        </p:nvSpPr>
        <p:spPr>
          <a:xfrm>
            <a:off x="320040" y="164592"/>
            <a:ext cx="1152144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STEP 11 — Page 2: Department Analysis</a:t>
            </a:r>
            <a:endParaRPr lang="en-US" sz="2400" dirty="0"/>
          </a:p>
        </p:txBody>
      </p:sp>
      <p:sp>
        <p:nvSpPr>
          <p:cNvPr id="6" name="Text 4"/>
          <p:cNvSpPr/>
          <p:nvPr/>
        </p:nvSpPr>
        <p:spPr>
          <a:xfrm>
            <a:off x="320040" y="822960"/>
            <a:ext cx="11521440" cy="411480"/>
          </a:xfrm>
          <a:prstGeom prst="rect">
            <a:avLst/>
          </a:prstGeom>
          <a:noFill/>
          <a:ln/>
        </p:spPr>
        <p:txBody>
          <a:bodyPr wrap="square" rtlCol="0" anchor="ctr"/>
          <a:lstStyle/>
          <a:p>
            <a:pPr indent="0" marL="0">
              <a:buNone/>
            </a:pPr>
            <a:r>
              <a:rPr lang="en-US" sz="1200" i="1" dirty="0">
                <a:solidFill>
                  <a:srgbClr val="83C5BE"/>
                </a:solidFill>
                <a:latin typeface="Calibri" pitchFamily="34" charset="0"/>
                <a:ea typeface="Calibri" pitchFamily="34" charset="-122"/>
                <a:cs typeface="Calibri" pitchFamily="34" charset="-120"/>
              </a:rPr>
              <a:t>Click the "Department Analysis" page tab. This page answers Q1 and Q2.</a:t>
            </a:r>
            <a:endParaRPr lang="en-US" sz="1200" dirty="0"/>
          </a:p>
        </p:txBody>
      </p:sp>
      <p:sp>
        <p:nvSpPr>
          <p:cNvPr id="7" name="Shape 5"/>
          <p:cNvSpPr/>
          <p:nvPr/>
        </p:nvSpPr>
        <p:spPr>
          <a:xfrm>
            <a:off x="320040" y="1417320"/>
            <a:ext cx="11475720" cy="932688"/>
          </a:xfrm>
          <a:prstGeom prst="roundRect">
            <a:avLst>
              <a:gd name="adj" fmla="val 6863"/>
            </a:avLst>
          </a:prstGeom>
          <a:solidFill>
            <a:srgbClr val="FFFFFF"/>
          </a:solidFill>
          <a:ln w="10160">
            <a:solidFill>
              <a:srgbClr val="D0DCE4"/>
            </a:solidFill>
            <a:prstDash val="solid"/>
          </a:ln>
        </p:spPr>
      </p:sp>
      <p:sp>
        <p:nvSpPr>
          <p:cNvPr id="8" name="Shape 6"/>
          <p:cNvSpPr/>
          <p:nvPr/>
        </p:nvSpPr>
        <p:spPr>
          <a:xfrm>
            <a:off x="320040" y="1417320"/>
            <a:ext cx="3017520" cy="932688"/>
          </a:xfrm>
          <a:prstGeom prst="roundRect">
            <a:avLst>
              <a:gd name="adj" fmla="val 6863"/>
            </a:avLst>
          </a:prstGeom>
          <a:solidFill>
            <a:srgbClr val="006D77"/>
          </a:solidFill>
          <a:ln/>
        </p:spPr>
      </p:sp>
      <p:sp>
        <p:nvSpPr>
          <p:cNvPr id="9" name="Text 7"/>
          <p:cNvSpPr/>
          <p:nvPr/>
        </p:nvSpPr>
        <p:spPr>
          <a:xfrm>
            <a:off x="347472" y="1490472"/>
            <a:ext cx="2962656" cy="65836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Clustered Column Chart — Admissions by Department</a:t>
            </a:r>
            <a:endParaRPr lang="en-US" sz="1100" dirty="0"/>
          </a:p>
        </p:txBody>
      </p:sp>
      <p:sp>
        <p:nvSpPr>
          <p:cNvPr id="10" name="Shape 8"/>
          <p:cNvSpPr/>
          <p:nvPr/>
        </p:nvSpPr>
        <p:spPr>
          <a:xfrm>
            <a:off x="3474720" y="1472184"/>
            <a:ext cx="3639312" cy="365760"/>
          </a:xfrm>
          <a:prstGeom prst="roundRect">
            <a:avLst>
              <a:gd name="adj" fmla="val 12500"/>
            </a:avLst>
          </a:prstGeom>
          <a:solidFill>
            <a:srgbClr val="EDF6F9"/>
          </a:solidFill>
          <a:ln w="10160">
            <a:solidFill>
              <a:srgbClr val="D0DCE4"/>
            </a:solidFill>
            <a:prstDash val="solid"/>
          </a:ln>
        </p:spPr>
      </p:sp>
      <p:sp>
        <p:nvSpPr>
          <p:cNvPr id="11" name="Text 9"/>
          <p:cNvSpPr/>
          <p:nvPr/>
        </p:nvSpPr>
        <p:spPr>
          <a:xfrm>
            <a:off x="3547872" y="1508760"/>
            <a:ext cx="3493008" cy="292608"/>
          </a:xfrm>
          <a:prstGeom prst="rect">
            <a:avLst/>
          </a:prstGeom>
          <a:noFill/>
          <a:ln/>
        </p:spPr>
        <p:txBody>
          <a:bodyPr wrap="square" rtlCol="0" anchor="ctr"/>
          <a:lstStyle/>
          <a:p>
            <a:pPr indent="0" marL="0">
              <a:buNone/>
            </a:pPr>
            <a:r>
              <a:rPr lang="en-US" sz="950" dirty="0">
                <a:solidFill>
                  <a:srgbClr val="006D77"/>
                </a:solidFill>
                <a:latin typeface="Calibri" pitchFamily="34" charset="0"/>
                <a:ea typeface="Calibri" pitchFamily="34" charset="-122"/>
                <a:cs typeface="Calibri" pitchFamily="34" charset="-120"/>
              </a:rPr>
              <a:t>X/Rows: Admissions[Department]</a:t>
            </a:r>
            <a:endParaRPr lang="en-US" sz="950" dirty="0"/>
          </a:p>
        </p:txBody>
      </p:sp>
      <p:sp>
        <p:nvSpPr>
          <p:cNvPr id="12" name="Shape 10"/>
          <p:cNvSpPr/>
          <p:nvPr/>
        </p:nvSpPr>
        <p:spPr>
          <a:xfrm>
            <a:off x="3474720" y="1892808"/>
            <a:ext cx="3639312" cy="365760"/>
          </a:xfrm>
          <a:prstGeom prst="roundRect">
            <a:avLst>
              <a:gd name="adj" fmla="val 12500"/>
            </a:avLst>
          </a:prstGeom>
          <a:solidFill>
            <a:srgbClr val="EDF6F9"/>
          </a:solidFill>
          <a:ln w="10160">
            <a:solidFill>
              <a:srgbClr val="D0DCE4"/>
            </a:solidFill>
            <a:prstDash val="solid"/>
          </a:ln>
        </p:spPr>
      </p:sp>
      <p:sp>
        <p:nvSpPr>
          <p:cNvPr id="13" name="Text 11"/>
          <p:cNvSpPr/>
          <p:nvPr/>
        </p:nvSpPr>
        <p:spPr>
          <a:xfrm>
            <a:off x="3547872" y="1929384"/>
            <a:ext cx="3493008" cy="292608"/>
          </a:xfrm>
          <a:prstGeom prst="rect">
            <a:avLst/>
          </a:prstGeom>
          <a:noFill/>
          <a:ln/>
        </p:spPr>
        <p:txBody>
          <a:bodyPr wrap="square" rtlCol="0" anchor="ctr"/>
          <a:lstStyle/>
          <a:p>
            <a:pPr indent="0" marL="0">
              <a:buNone/>
            </a:pPr>
            <a:r>
              <a:rPr lang="en-US" sz="950" dirty="0">
                <a:solidFill>
                  <a:srgbClr val="006D77"/>
                </a:solidFill>
                <a:latin typeface="Calibri" pitchFamily="34" charset="0"/>
                <a:ea typeface="Calibri" pitchFamily="34" charset="-122"/>
                <a:cs typeface="Calibri" pitchFamily="34" charset="-120"/>
              </a:rPr>
              <a:t>Y/Values: [Total Admissions]</a:t>
            </a:r>
            <a:endParaRPr lang="en-US" sz="950" dirty="0"/>
          </a:p>
        </p:txBody>
      </p:sp>
      <p:sp>
        <p:nvSpPr>
          <p:cNvPr id="14" name="Text 12"/>
          <p:cNvSpPr/>
          <p:nvPr/>
        </p:nvSpPr>
        <p:spPr>
          <a:xfrm>
            <a:off x="7223760" y="1527048"/>
            <a:ext cx="4407408" cy="685800"/>
          </a:xfrm>
          <a:prstGeom prst="rect">
            <a:avLst/>
          </a:prstGeom>
          <a:noFill/>
          <a:ln/>
        </p:spPr>
        <p:txBody>
          <a:bodyPr wrap="square" rtlCol="0" anchor="ctr"/>
          <a:lstStyle/>
          <a:p>
            <a:pPr indent="0" marL="0">
              <a:buNone/>
            </a:pPr>
            <a:r>
              <a:rPr lang="en-US" sz="950" i="1" dirty="0">
                <a:solidFill>
                  <a:srgbClr val="3D5A6C"/>
                </a:solidFill>
                <a:latin typeface="Calibri" pitchFamily="34" charset="0"/>
                <a:ea typeface="Calibri" pitchFamily="34" charset="-122"/>
                <a:cs typeface="Calibri" pitchFamily="34" charset="-120"/>
              </a:rPr>
              <a:t>Sort descending. Add data labels. Color: use "Department" as legend to auto-color each column.</a:t>
            </a:r>
            <a:endParaRPr lang="en-US" sz="950" dirty="0"/>
          </a:p>
        </p:txBody>
      </p:sp>
      <p:sp>
        <p:nvSpPr>
          <p:cNvPr id="15" name="Shape 13"/>
          <p:cNvSpPr/>
          <p:nvPr/>
        </p:nvSpPr>
        <p:spPr>
          <a:xfrm>
            <a:off x="320040" y="2404872"/>
            <a:ext cx="11475720" cy="932688"/>
          </a:xfrm>
          <a:prstGeom prst="roundRect">
            <a:avLst>
              <a:gd name="adj" fmla="val 6863"/>
            </a:avLst>
          </a:prstGeom>
          <a:solidFill>
            <a:srgbClr val="FFFFFF"/>
          </a:solidFill>
          <a:ln w="10160">
            <a:solidFill>
              <a:srgbClr val="D0DCE4"/>
            </a:solidFill>
            <a:prstDash val="solid"/>
          </a:ln>
        </p:spPr>
      </p:sp>
      <p:sp>
        <p:nvSpPr>
          <p:cNvPr id="16" name="Shape 14"/>
          <p:cNvSpPr/>
          <p:nvPr/>
        </p:nvSpPr>
        <p:spPr>
          <a:xfrm>
            <a:off x="320040" y="2404872"/>
            <a:ext cx="3017520" cy="932688"/>
          </a:xfrm>
          <a:prstGeom prst="roundRect">
            <a:avLst>
              <a:gd name="adj" fmla="val 6863"/>
            </a:avLst>
          </a:prstGeom>
          <a:solidFill>
            <a:srgbClr val="008891"/>
          </a:solidFill>
          <a:ln/>
        </p:spPr>
      </p:sp>
      <p:sp>
        <p:nvSpPr>
          <p:cNvPr id="17" name="Text 15"/>
          <p:cNvSpPr/>
          <p:nvPr/>
        </p:nvSpPr>
        <p:spPr>
          <a:xfrm>
            <a:off x="347472" y="2478024"/>
            <a:ext cx="2962656" cy="65836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Bar Chart — Avg Length of Stay by Department</a:t>
            </a:r>
            <a:endParaRPr lang="en-US" sz="1100" dirty="0"/>
          </a:p>
        </p:txBody>
      </p:sp>
      <p:sp>
        <p:nvSpPr>
          <p:cNvPr id="18" name="Shape 16"/>
          <p:cNvSpPr/>
          <p:nvPr/>
        </p:nvSpPr>
        <p:spPr>
          <a:xfrm>
            <a:off x="3474720" y="2459736"/>
            <a:ext cx="3639312" cy="365760"/>
          </a:xfrm>
          <a:prstGeom prst="roundRect">
            <a:avLst>
              <a:gd name="adj" fmla="val 12500"/>
            </a:avLst>
          </a:prstGeom>
          <a:solidFill>
            <a:srgbClr val="EDF6F9"/>
          </a:solidFill>
          <a:ln w="10160">
            <a:solidFill>
              <a:srgbClr val="D0DCE4"/>
            </a:solidFill>
            <a:prstDash val="solid"/>
          </a:ln>
        </p:spPr>
      </p:sp>
      <p:sp>
        <p:nvSpPr>
          <p:cNvPr id="19" name="Text 17"/>
          <p:cNvSpPr/>
          <p:nvPr/>
        </p:nvSpPr>
        <p:spPr>
          <a:xfrm>
            <a:off x="3547872" y="2496312"/>
            <a:ext cx="3493008" cy="292608"/>
          </a:xfrm>
          <a:prstGeom prst="rect">
            <a:avLst/>
          </a:prstGeom>
          <a:noFill/>
          <a:ln/>
        </p:spPr>
        <p:txBody>
          <a:bodyPr wrap="square" rtlCol="0" anchor="ctr"/>
          <a:lstStyle/>
          <a:p>
            <a:pPr indent="0" marL="0">
              <a:buNone/>
            </a:pPr>
            <a:r>
              <a:rPr lang="en-US" sz="950" dirty="0">
                <a:solidFill>
                  <a:srgbClr val="006D77"/>
                </a:solidFill>
                <a:latin typeface="Calibri" pitchFamily="34" charset="0"/>
                <a:ea typeface="Calibri" pitchFamily="34" charset="-122"/>
                <a:cs typeface="Calibri" pitchFamily="34" charset="-120"/>
              </a:rPr>
              <a:t>X/Rows: [Avg Length of Stay]</a:t>
            </a:r>
            <a:endParaRPr lang="en-US" sz="950" dirty="0"/>
          </a:p>
        </p:txBody>
      </p:sp>
      <p:sp>
        <p:nvSpPr>
          <p:cNvPr id="20" name="Shape 18"/>
          <p:cNvSpPr/>
          <p:nvPr/>
        </p:nvSpPr>
        <p:spPr>
          <a:xfrm>
            <a:off x="3474720" y="2880360"/>
            <a:ext cx="3639312" cy="365760"/>
          </a:xfrm>
          <a:prstGeom prst="roundRect">
            <a:avLst>
              <a:gd name="adj" fmla="val 12500"/>
            </a:avLst>
          </a:prstGeom>
          <a:solidFill>
            <a:srgbClr val="EDF6F9"/>
          </a:solidFill>
          <a:ln w="10160">
            <a:solidFill>
              <a:srgbClr val="D0DCE4"/>
            </a:solidFill>
            <a:prstDash val="solid"/>
          </a:ln>
        </p:spPr>
      </p:sp>
      <p:sp>
        <p:nvSpPr>
          <p:cNvPr id="21" name="Text 19"/>
          <p:cNvSpPr/>
          <p:nvPr/>
        </p:nvSpPr>
        <p:spPr>
          <a:xfrm>
            <a:off x="3547872" y="2916936"/>
            <a:ext cx="3493008" cy="292608"/>
          </a:xfrm>
          <a:prstGeom prst="rect">
            <a:avLst/>
          </a:prstGeom>
          <a:noFill/>
          <a:ln/>
        </p:spPr>
        <p:txBody>
          <a:bodyPr wrap="square" rtlCol="0" anchor="ctr"/>
          <a:lstStyle/>
          <a:p>
            <a:pPr indent="0" marL="0">
              <a:buNone/>
            </a:pPr>
            <a:r>
              <a:rPr lang="en-US" sz="950" dirty="0">
                <a:solidFill>
                  <a:srgbClr val="006D77"/>
                </a:solidFill>
                <a:latin typeface="Calibri" pitchFamily="34" charset="0"/>
                <a:ea typeface="Calibri" pitchFamily="34" charset="-122"/>
                <a:cs typeface="Calibri" pitchFamily="34" charset="-120"/>
              </a:rPr>
              <a:t>Y/Values: Admissions[Department]</a:t>
            </a:r>
            <a:endParaRPr lang="en-US" sz="950" dirty="0"/>
          </a:p>
        </p:txBody>
      </p:sp>
      <p:sp>
        <p:nvSpPr>
          <p:cNvPr id="22" name="Text 20"/>
          <p:cNvSpPr/>
          <p:nvPr/>
        </p:nvSpPr>
        <p:spPr>
          <a:xfrm>
            <a:off x="7223760" y="2514600"/>
            <a:ext cx="4407408" cy="685800"/>
          </a:xfrm>
          <a:prstGeom prst="rect">
            <a:avLst/>
          </a:prstGeom>
          <a:noFill/>
          <a:ln/>
        </p:spPr>
        <p:txBody>
          <a:bodyPr wrap="square" rtlCol="0" anchor="ctr"/>
          <a:lstStyle/>
          <a:p>
            <a:pPr indent="0" marL="0">
              <a:buNone/>
            </a:pPr>
            <a:r>
              <a:rPr lang="en-US" sz="950" i="1" dirty="0">
                <a:solidFill>
                  <a:srgbClr val="3D5A6C"/>
                </a:solidFill>
                <a:latin typeface="Calibri" pitchFamily="34" charset="0"/>
                <a:ea typeface="Calibri" pitchFamily="34" charset="-122"/>
                <a:cs typeface="Calibri" pitchFamily="34" charset="-120"/>
              </a:rPr>
              <a:t>Horizontal bar. Sort by Avg Length of Stay descending. This shows which departments keep patients longest.</a:t>
            </a:r>
            <a:endParaRPr lang="en-US" sz="950" dirty="0"/>
          </a:p>
        </p:txBody>
      </p:sp>
      <p:sp>
        <p:nvSpPr>
          <p:cNvPr id="23" name="Shape 21"/>
          <p:cNvSpPr/>
          <p:nvPr/>
        </p:nvSpPr>
        <p:spPr>
          <a:xfrm>
            <a:off x="320040" y="3392424"/>
            <a:ext cx="11475720" cy="932688"/>
          </a:xfrm>
          <a:prstGeom prst="roundRect">
            <a:avLst>
              <a:gd name="adj" fmla="val 6863"/>
            </a:avLst>
          </a:prstGeom>
          <a:solidFill>
            <a:srgbClr val="FFFFFF"/>
          </a:solidFill>
          <a:ln w="10160">
            <a:solidFill>
              <a:srgbClr val="D0DCE4"/>
            </a:solidFill>
            <a:prstDash val="solid"/>
          </a:ln>
        </p:spPr>
      </p:sp>
      <p:sp>
        <p:nvSpPr>
          <p:cNvPr id="24" name="Shape 22"/>
          <p:cNvSpPr/>
          <p:nvPr/>
        </p:nvSpPr>
        <p:spPr>
          <a:xfrm>
            <a:off x="320040" y="3392424"/>
            <a:ext cx="3017520" cy="932688"/>
          </a:xfrm>
          <a:prstGeom prst="roundRect">
            <a:avLst>
              <a:gd name="adj" fmla="val 6863"/>
            </a:avLst>
          </a:prstGeom>
          <a:solidFill>
            <a:srgbClr val="E29F18"/>
          </a:solidFill>
          <a:ln/>
        </p:spPr>
      </p:sp>
      <p:sp>
        <p:nvSpPr>
          <p:cNvPr id="25" name="Text 23"/>
          <p:cNvSpPr/>
          <p:nvPr/>
        </p:nvSpPr>
        <p:spPr>
          <a:xfrm>
            <a:off x="347472" y="3465576"/>
            <a:ext cx="2962656" cy="65836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Clustered Bar — Total Admissions by Doctor</a:t>
            </a:r>
            <a:endParaRPr lang="en-US" sz="1100" dirty="0"/>
          </a:p>
        </p:txBody>
      </p:sp>
      <p:sp>
        <p:nvSpPr>
          <p:cNvPr id="26" name="Shape 24"/>
          <p:cNvSpPr/>
          <p:nvPr/>
        </p:nvSpPr>
        <p:spPr>
          <a:xfrm>
            <a:off x="3474720" y="3447288"/>
            <a:ext cx="3639312" cy="365760"/>
          </a:xfrm>
          <a:prstGeom prst="roundRect">
            <a:avLst>
              <a:gd name="adj" fmla="val 12500"/>
            </a:avLst>
          </a:prstGeom>
          <a:solidFill>
            <a:srgbClr val="EDF6F9"/>
          </a:solidFill>
          <a:ln w="10160">
            <a:solidFill>
              <a:srgbClr val="D0DCE4"/>
            </a:solidFill>
            <a:prstDash val="solid"/>
          </a:ln>
        </p:spPr>
      </p:sp>
      <p:sp>
        <p:nvSpPr>
          <p:cNvPr id="27" name="Text 25"/>
          <p:cNvSpPr/>
          <p:nvPr/>
        </p:nvSpPr>
        <p:spPr>
          <a:xfrm>
            <a:off x="3547872" y="3483864"/>
            <a:ext cx="3493008" cy="292608"/>
          </a:xfrm>
          <a:prstGeom prst="rect">
            <a:avLst/>
          </a:prstGeom>
          <a:noFill/>
          <a:ln/>
        </p:spPr>
        <p:txBody>
          <a:bodyPr wrap="square" rtlCol="0" anchor="ctr"/>
          <a:lstStyle/>
          <a:p>
            <a:pPr indent="0" marL="0">
              <a:buNone/>
            </a:pPr>
            <a:r>
              <a:rPr lang="en-US" sz="950" dirty="0">
                <a:solidFill>
                  <a:srgbClr val="006D77"/>
                </a:solidFill>
                <a:latin typeface="Calibri" pitchFamily="34" charset="0"/>
                <a:ea typeface="Calibri" pitchFamily="34" charset="-122"/>
                <a:cs typeface="Calibri" pitchFamily="34" charset="-120"/>
              </a:rPr>
              <a:t>X/Rows: [Total Admissions]</a:t>
            </a:r>
            <a:endParaRPr lang="en-US" sz="950" dirty="0"/>
          </a:p>
        </p:txBody>
      </p:sp>
      <p:sp>
        <p:nvSpPr>
          <p:cNvPr id="28" name="Shape 26"/>
          <p:cNvSpPr/>
          <p:nvPr/>
        </p:nvSpPr>
        <p:spPr>
          <a:xfrm>
            <a:off x="3474720" y="3867912"/>
            <a:ext cx="3639312" cy="365760"/>
          </a:xfrm>
          <a:prstGeom prst="roundRect">
            <a:avLst>
              <a:gd name="adj" fmla="val 12500"/>
            </a:avLst>
          </a:prstGeom>
          <a:solidFill>
            <a:srgbClr val="EDF6F9"/>
          </a:solidFill>
          <a:ln w="10160">
            <a:solidFill>
              <a:srgbClr val="D0DCE4"/>
            </a:solidFill>
            <a:prstDash val="solid"/>
          </a:ln>
        </p:spPr>
      </p:sp>
      <p:sp>
        <p:nvSpPr>
          <p:cNvPr id="29" name="Text 27"/>
          <p:cNvSpPr/>
          <p:nvPr/>
        </p:nvSpPr>
        <p:spPr>
          <a:xfrm>
            <a:off x="3547872" y="3904488"/>
            <a:ext cx="3493008" cy="292608"/>
          </a:xfrm>
          <a:prstGeom prst="rect">
            <a:avLst/>
          </a:prstGeom>
          <a:noFill/>
          <a:ln/>
        </p:spPr>
        <p:txBody>
          <a:bodyPr wrap="square" rtlCol="0" anchor="ctr"/>
          <a:lstStyle/>
          <a:p>
            <a:pPr indent="0" marL="0">
              <a:buNone/>
            </a:pPr>
            <a:r>
              <a:rPr lang="en-US" sz="950" dirty="0">
                <a:solidFill>
                  <a:srgbClr val="006D77"/>
                </a:solidFill>
                <a:latin typeface="Calibri" pitchFamily="34" charset="0"/>
                <a:ea typeface="Calibri" pitchFamily="34" charset="-122"/>
                <a:cs typeface="Calibri" pitchFamily="34" charset="-120"/>
              </a:rPr>
              <a:t>Y/Values: Admissions[Doctor]</a:t>
            </a:r>
            <a:endParaRPr lang="en-US" sz="950" dirty="0"/>
          </a:p>
        </p:txBody>
      </p:sp>
      <p:sp>
        <p:nvSpPr>
          <p:cNvPr id="30" name="Text 28"/>
          <p:cNvSpPr/>
          <p:nvPr/>
        </p:nvSpPr>
        <p:spPr>
          <a:xfrm>
            <a:off x="7223760" y="3502152"/>
            <a:ext cx="4407408" cy="685800"/>
          </a:xfrm>
          <a:prstGeom prst="rect">
            <a:avLst/>
          </a:prstGeom>
          <a:noFill/>
          <a:ln/>
        </p:spPr>
        <p:txBody>
          <a:bodyPr wrap="square" rtlCol="0" anchor="ctr"/>
          <a:lstStyle/>
          <a:p>
            <a:pPr indent="0" marL="0">
              <a:buNone/>
            </a:pPr>
            <a:r>
              <a:rPr lang="en-US" sz="950" i="1" dirty="0">
                <a:solidFill>
                  <a:srgbClr val="3D5A6C"/>
                </a:solidFill>
                <a:latin typeface="Calibri" pitchFamily="34" charset="0"/>
                <a:ea typeface="Calibri" pitchFamily="34" charset="-122"/>
                <a:cs typeface="Calibri" pitchFamily="34" charset="-120"/>
              </a:rPr>
              <a:t>Top N filter: Visual level filter → Doctor → Filter type "Top N" → Top 10 by Total Admissions. Shows only the busiest doctors.</a:t>
            </a:r>
            <a:endParaRPr lang="en-US" sz="950" dirty="0"/>
          </a:p>
        </p:txBody>
      </p:sp>
      <p:sp>
        <p:nvSpPr>
          <p:cNvPr id="31" name="Shape 29"/>
          <p:cNvSpPr/>
          <p:nvPr/>
        </p:nvSpPr>
        <p:spPr>
          <a:xfrm>
            <a:off x="320040" y="4379976"/>
            <a:ext cx="11475720" cy="932688"/>
          </a:xfrm>
          <a:prstGeom prst="roundRect">
            <a:avLst>
              <a:gd name="adj" fmla="val 6863"/>
            </a:avLst>
          </a:prstGeom>
          <a:solidFill>
            <a:srgbClr val="FFFFFF"/>
          </a:solidFill>
          <a:ln w="10160">
            <a:solidFill>
              <a:srgbClr val="D0DCE4"/>
            </a:solidFill>
            <a:prstDash val="solid"/>
          </a:ln>
        </p:spPr>
      </p:sp>
      <p:sp>
        <p:nvSpPr>
          <p:cNvPr id="32" name="Shape 30"/>
          <p:cNvSpPr/>
          <p:nvPr/>
        </p:nvSpPr>
        <p:spPr>
          <a:xfrm>
            <a:off x="320040" y="4379976"/>
            <a:ext cx="3017520" cy="932688"/>
          </a:xfrm>
          <a:prstGeom prst="roundRect">
            <a:avLst>
              <a:gd name="adj" fmla="val 6863"/>
            </a:avLst>
          </a:prstGeom>
          <a:solidFill>
            <a:srgbClr val="E67E22"/>
          </a:solidFill>
          <a:ln/>
        </p:spPr>
      </p:sp>
      <p:sp>
        <p:nvSpPr>
          <p:cNvPr id="33" name="Text 31"/>
          <p:cNvSpPr/>
          <p:nvPr/>
        </p:nvSpPr>
        <p:spPr>
          <a:xfrm>
            <a:off x="347472" y="4453128"/>
            <a:ext cx="2962656" cy="65836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Matrix Table — Department vs Hospital</a:t>
            </a:r>
            <a:endParaRPr lang="en-US" sz="1100" dirty="0"/>
          </a:p>
        </p:txBody>
      </p:sp>
      <p:sp>
        <p:nvSpPr>
          <p:cNvPr id="34" name="Shape 32"/>
          <p:cNvSpPr/>
          <p:nvPr/>
        </p:nvSpPr>
        <p:spPr>
          <a:xfrm>
            <a:off x="3474720" y="4434840"/>
            <a:ext cx="3639312" cy="365760"/>
          </a:xfrm>
          <a:prstGeom prst="roundRect">
            <a:avLst>
              <a:gd name="adj" fmla="val 12500"/>
            </a:avLst>
          </a:prstGeom>
          <a:solidFill>
            <a:srgbClr val="EDF6F9"/>
          </a:solidFill>
          <a:ln w="10160">
            <a:solidFill>
              <a:srgbClr val="D0DCE4"/>
            </a:solidFill>
            <a:prstDash val="solid"/>
          </a:ln>
        </p:spPr>
      </p:sp>
      <p:sp>
        <p:nvSpPr>
          <p:cNvPr id="35" name="Text 33"/>
          <p:cNvSpPr/>
          <p:nvPr/>
        </p:nvSpPr>
        <p:spPr>
          <a:xfrm>
            <a:off x="3547872" y="4471416"/>
            <a:ext cx="3493008" cy="292608"/>
          </a:xfrm>
          <a:prstGeom prst="rect">
            <a:avLst/>
          </a:prstGeom>
          <a:noFill/>
          <a:ln/>
        </p:spPr>
        <p:txBody>
          <a:bodyPr wrap="square" rtlCol="0" anchor="ctr"/>
          <a:lstStyle/>
          <a:p>
            <a:pPr indent="0" marL="0">
              <a:buNone/>
            </a:pPr>
            <a:r>
              <a:rPr lang="en-US" sz="950" dirty="0">
                <a:solidFill>
                  <a:srgbClr val="006D77"/>
                </a:solidFill>
                <a:latin typeface="Calibri" pitchFamily="34" charset="0"/>
                <a:ea typeface="Calibri" pitchFamily="34" charset="-122"/>
                <a:cs typeface="Calibri" pitchFamily="34" charset="-120"/>
              </a:rPr>
              <a:t>X/Rows: Rows: Department   Columns: Hospital</a:t>
            </a:r>
            <a:endParaRPr lang="en-US" sz="950" dirty="0"/>
          </a:p>
        </p:txBody>
      </p:sp>
      <p:sp>
        <p:nvSpPr>
          <p:cNvPr id="36" name="Shape 34"/>
          <p:cNvSpPr/>
          <p:nvPr/>
        </p:nvSpPr>
        <p:spPr>
          <a:xfrm>
            <a:off x="3474720" y="4855464"/>
            <a:ext cx="3639312" cy="365760"/>
          </a:xfrm>
          <a:prstGeom prst="roundRect">
            <a:avLst>
              <a:gd name="adj" fmla="val 12500"/>
            </a:avLst>
          </a:prstGeom>
          <a:solidFill>
            <a:srgbClr val="EDF6F9"/>
          </a:solidFill>
          <a:ln w="10160">
            <a:solidFill>
              <a:srgbClr val="D0DCE4"/>
            </a:solidFill>
            <a:prstDash val="solid"/>
          </a:ln>
        </p:spPr>
      </p:sp>
      <p:sp>
        <p:nvSpPr>
          <p:cNvPr id="37" name="Text 35"/>
          <p:cNvSpPr/>
          <p:nvPr/>
        </p:nvSpPr>
        <p:spPr>
          <a:xfrm>
            <a:off x="3547872" y="4892040"/>
            <a:ext cx="3493008" cy="292608"/>
          </a:xfrm>
          <a:prstGeom prst="rect">
            <a:avLst/>
          </a:prstGeom>
          <a:noFill/>
          <a:ln/>
        </p:spPr>
        <p:txBody>
          <a:bodyPr wrap="square" rtlCol="0" anchor="ctr"/>
          <a:lstStyle/>
          <a:p>
            <a:pPr indent="0" marL="0">
              <a:buNone/>
            </a:pPr>
            <a:r>
              <a:rPr lang="en-US" sz="950" dirty="0">
                <a:solidFill>
                  <a:srgbClr val="006D77"/>
                </a:solidFill>
                <a:latin typeface="Calibri" pitchFamily="34" charset="0"/>
                <a:ea typeface="Calibri" pitchFamily="34" charset="-122"/>
                <a:cs typeface="Calibri" pitchFamily="34" charset="-120"/>
              </a:rPr>
              <a:t>Y/Values: Values: [Total Admissions]</a:t>
            </a:r>
            <a:endParaRPr lang="en-US" sz="950" dirty="0"/>
          </a:p>
        </p:txBody>
      </p:sp>
      <p:sp>
        <p:nvSpPr>
          <p:cNvPr id="38" name="Text 36"/>
          <p:cNvSpPr/>
          <p:nvPr/>
        </p:nvSpPr>
        <p:spPr>
          <a:xfrm>
            <a:off x="7223760" y="4489704"/>
            <a:ext cx="4407408" cy="685800"/>
          </a:xfrm>
          <a:prstGeom prst="rect">
            <a:avLst/>
          </a:prstGeom>
          <a:noFill/>
          <a:ln/>
        </p:spPr>
        <p:txBody>
          <a:bodyPr wrap="square" rtlCol="0" anchor="ctr"/>
          <a:lstStyle/>
          <a:p>
            <a:pPr indent="0" marL="0">
              <a:buNone/>
            </a:pPr>
            <a:r>
              <a:rPr lang="en-US" sz="950" i="1" dirty="0">
                <a:solidFill>
                  <a:srgbClr val="3D5A6C"/>
                </a:solidFill>
                <a:latin typeface="Calibri" pitchFamily="34" charset="0"/>
                <a:ea typeface="Calibri" pitchFamily="34" charset="-122"/>
                <a:cs typeface="Calibri" pitchFamily="34" charset="-120"/>
              </a:rPr>
              <a:t>Visualizations → Matrix. Add conditional formatting: Values → Background color → Data bars. This creates a heat map effect.</a:t>
            </a:r>
            <a:endParaRPr lang="en-US" sz="950" dirty="0"/>
          </a:p>
        </p:txBody>
      </p:sp>
      <p:sp>
        <p:nvSpPr>
          <p:cNvPr id="39" name="Shape 37"/>
          <p:cNvSpPr/>
          <p:nvPr/>
        </p:nvSpPr>
        <p:spPr>
          <a:xfrm>
            <a:off x="320040" y="5367528"/>
            <a:ext cx="11475720" cy="932688"/>
          </a:xfrm>
          <a:prstGeom prst="roundRect">
            <a:avLst>
              <a:gd name="adj" fmla="val 6863"/>
            </a:avLst>
          </a:prstGeom>
          <a:solidFill>
            <a:srgbClr val="FFFFFF"/>
          </a:solidFill>
          <a:ln w="10160">
            <a:solidFill>
              <a:srgbClr val="D0DCE4"/>
            </a:solidFill>
            <a:prstDash val="solid"/>
          </a:ln>
        </p:spPr>
      </p:sp>
      <p:sp>
        <p:nvSpPr>
          <p:cNvPr id="40" name="Shape 38"/>
          <p:cNvSpPr/>
          <p:nvPr/>
        </p:nvSpPr>
        <p:spPr>
          <a:xfrm>
            <a:off x="320040" y="5367528"/>
            <a:ext cx="3017520" cy="932688"/>
          </a:xfrm>
          <a:prstGeom prst="roundRect">
            <a:avLst>
              <a:gd name="adj" fmla="val 6863"/>
            </a:avLst>
          </a:prstGeom>
          <a:solidFill>
            <a:srgbClr val="6C3483"/>
          </a:solidFill>
          <a:ln/>
        </p:spPr>
      </p:sp>
      <p:sp>
        <p:nvSpPr>
          <p:cNvPr id="41" name="Text 39"/>
          <p:cNvSpPr/>
          <p:nvPr/>
        </p:nvSpPr>
        <p:spPr>
          <a:xfrm>
            <a:off x="347472" y="5440680"/>
            <a:ext cx="2962656" cy="65836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Slicer — Department filter</a:t>
            </a:r>
            <a:endParaRPr lang="en-US" sz="1100" dirty="0"/>
          </a:p>
        </p:txBody>
      </p:sp>
      <p:sp>
        <p:nvSpPr>
          <p:cNvPr id="42" name="Shape 40"/>
          <p:cNvSpPr/>
          <p:nvPr/>
        </p:nvSpPr>
        <p:spPr>
          <a:xfrm>
            <a:off x="3474720" y="5422392"/>
            <a:ext cx="3639312" cy="365760"/>
          </a:xfrm>
          <a:prstGeom prst="roundRect">
            <a:avLst>
              <a:gd name="adj" fmla="val 12500"/>
            </a:avLst>
          </a:prstGeom>
          <a:solidFill>
            <a:srgbClr val="EDF6F9"/>
          </a:solidFill>
          <a:ln w="10160">
            <a:solidFill>
              <a:srgbClr val="D0DCE4"/>
            </a:solidFill>
            <a:prstDash val="solid"/>
          </a:ln>
        </p:spPr>
      </p:sp>
      <p:sp>
        <p:nvSpPr>
          <p:cNvPr id="43" name="Text 41"/>
          <p:cNvSpPr/>
          <p:nvPr/>
        </p:nvSpPr>
        <p:spPr>
          <a:xfrm>
            <a:off x="3547872" y="5458968"/>
            <a:ext cx="3493008" cy="292608"/>
          </a:xfrm>
          <a:prstGeom prst="rect">
            <a:avLst/>
          </a:prstGeom>
          <a:noFill/>
          <a:ln/>
        </p:spPr>
        <p:txBody>
          <a:bodyPr wrap="square" rtlCol="0" anchor="ctr"/>
          <a:lstStyle/>
          <a:p>
            <a:pPr indent="0" marL="0">
              <a:buNone/>
            </a:pPr>
            <a:r>
              <a:rPr lang="en-US" sz="950" dirty="0">
                <a:solidFill>
                  <a:srgbClr val="006D77"/>
                </a:solidFill>
                <a:latin typeface="Calibri" pitchFamily="34" charset="0"/>
                <a:ea typeface="Calibri" pitchFamily="34" charset="-122"/>
                <a:cs typeface="Calibri" pitchFamily="34" charset="-120"/>
              </a:rPr>
              <a:t>X/Rows: Field: Admissions[Department]</a:t>
            </a:r>
            <a:endParaRPr lang="en-US" sz="950" dirty="0"/>
          </a:p>
        </p:txBody>
      </p:sp>
      <p:sp>
        <p:nvSpPr>
          <p:cNvPr id="44" name="Shape 42"/>
          <p:cNvSpPr/>
          <p:nvPr/>
        </p:nvSpPr>
        <p:spPr>
          <a:xfrm>
            <a:off x="3474720" y="5843016"/>
            <a:ext cx="3639312" cy="365760"/>
          </a:xfrm>
          <a:prstGeom prst="roundRect">
            <a:avLst>
              <a:gd name="adj" fmla="val 12500"/>
            </a:avLst>
          </a:prstGeom>
          <a:solidFill>
            <a:srgbClr val="EDF6F9"/>
          </a:solidFill>
          <a:ln w="10160">
            <a:solidFill>
              <a:srgbClr val="D0DCE4"/>
            </a:solidFill>
            <a:prstDash val="solid"/>
          </a:ln>
        </p:spPr>
      </p:sp>
      <p:sp>
        <p:nvSpPr>
          <p:cNvPr id="45" name="Text 43"/>
          <p:cNvSpPr/>
          <p:nvPr/>
        </p:nvSpPr>
        <p:spPr>
          <a:xfrm>
            <a:off x="3547872" y="5879592"/>
            <a:ext cx="3493008" cy="292608"/>
          </a:xfrm>
          <a:prstGeom prst="rect">
            <a:avLst/>
          </a:prstGeom>
          <a:noFill/>
          <a:ln/>
        </p:spPr>
        <p:txBody>
          <a:bodyPr wrap="square" rtlCol="0" anchor="ctr"/>
          <a:lstStyle/>
          <a:p>
            <a:pPr indent="0" marL="0">
              <a:buNone/>
            </a:pPr>
            <a:r>
              <a:rPr lang="en-US" sz="950" dirty="0">
                <a:solidFill>
                  <a:srgbClr val="006D77"/>
                </a:solidFill>
                <a:latin typeface="Calibri" pitchFamily="34" charset="0"/>
                <a:ea typeface="Calibri" pitchFamily="34" charset="-122"/>
                <a:cs typeface="Calibri" pitchFamily="34" charset="-120"/>
              </a:rPr>
              <a:t>Y/Values: Style: Dropdown</a:t>
            </a:r>
            <a:endParaRPr lang="en-US" sz="950" dirty="0"/>
          </a:p>
        </p:txBody>
      </p:sp>
      <p:sp>
        <p:nvSpPr>
          <p:cNvPr id="46" name="Text 44"/>
          <p:cNvSpPr/>
          <p:nvPr/>
        </p:nvSpPr>
        <p:spPr>
          <a:xfrm>
            <a:off x="7223760" y="5477256"/>
            <a:ext cx="4407408" cy="685800"/>
          </a:xfrm>
          <a:prstGeom prst="rect">
            <a:avLst/>
          </a:prstGeom>
          <a:noFill/>
          <a:ln/>
        </p:spPr>
        <p:txBody>
          <a:bodyPr wrap="square" rtlCol="0" anchor="ctr"/>
          <a:lstStyle/>
          <a:p>
            <a:pPr indent="0" marL="0">
              <a:buNone/>
            </a:pPr>
            <a:r>
              <a:rPr lang="en-US" sz="950" i="1" dirty="0">
                <a:solidFill>
                  <a:srgbClr val="3D5A6C"/>
                </a:solidFill>
                <a:latin typeface="Calibri" pitchFamily="34" charset="0"/>
                <a:ea typeface="Calibri" pitchFamily="34" charset="-122"/>
                <a:cs typeface="Calibri" pitchFamily="34" charset="-120"/>
              </a:rPr>
              <a:t>Place at the top of the page. When CMO clicks a department, all 4 visuals filter to that department only.</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AFA"/>
          </a:solidFill>
          <a:ln/>
        </p:spPr>
      </p:sp>
      <p:sp>
        <p:nvSpPr>
          <p:cNvPr id="3" name="Shape 1"/>
          <p:cNvSpPr/>
          <p:nvPr/>
        </p:nvSpPr>
        <p:spPr>
          <a:xfrm>
            <a:off x="0" y="0"/>
            <a:ext cx="82296" cy="6858000"/>
          </a:xfrm>
          <a:prstGeom prst="rect">
            <a:avLst/>
          </a:prstGeom>
          <a:solidFill>
            <a:srgbClr val="006D77"/>
          </a:solidFill>
          <a:ln/>
        </p:spPr>
      </p:sp>
      <p:sp>
        <p:nvSpPr>
          <p:cNvPr id="4" name="Shape 2"/>
          <p:cNvSpPr/>
          <p:nvPr/>
        </p:nvSpPr>
        <p:spPr>
          <a:xfrm>
            <a:off x="0" y="0"/>
            <a:ext cx="12161520" cy="1371600"/>
          </a:xfrm>
          <a:prstGeom prst="rect">
            <a:avLst/>
          </a:prstGeom>
          <a:solidFill>
            <a:srgbClr val="006D77"/>
          </a:solidFill>
          <a:ln/>
        </p:spPr>
      </p:sp>
      <p:sp>
        <p:nvSpPr>
          <p:cNvPr id="5" name="Text 3"/>
          <p:cNvSpPr/>
          <p:nvPr/>
        </p:nvSpPr>
        <p:spPr>
          <a:xfrm>
            <a:off x="320040" y="164592"/>
            <a:ext cx="1152144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STEP 12 — Page 3: Financial Summary</a:t>
            </a:r>
            <a:endParaRPr lang="en-US" sz="2400" dirty="0"/>
          </a:p>
        </p:txBody>
      </p:sp>
      <p:sp>
        <p:nvSpPr>
          <p:cNvPr id="6" name="Text 4"/>
          <p:cNvSpPr/>
          <p:nvPr/>
        </p:nvSpPr>
        <p:spPr>
          <a:xfrm>
            <a:off x="320040" y="822960"/>
            <a:ext cx="11521440" cy="411480"/>
          </a:xfrm>
          <a:prstGeom prst="rect">
            <a:avLst/>
          </a:prstGeom>
          <a:noFill/>
          <a:ln/>
        </p:spPr>
        <p:txBody>
          <a:bodyPr wrap="square" rtlCol="0" anchor="ctr"/>
          <a:lstStyle/>
          <a:p>
            <a:pPr indent="0" marL="0">
              <a:buNone/>
            </a:pPr>
            <a:r>
              <a:rPr lang="en-US" sz="1200" i="1" dirty="0">
                <a:solidFill>
                  <a:srgbClr val="83C5BE"/>
                </a:solidFill>
                <a:latin typeface="Calibri" pitchFamily="34" charset="0"/>
                <a:ea typeface="Calibri" pitchFamily="34" charset="-122"/>
                <a:cs typeface="Calibri" pitchFamily="34" charset="-120"/>
              </a:rPr>
              <a:t>This page answers Q2 and Q3. Click the "Financial Summary" tab.</a:t>
            </a:r>
            <a:endParaRPr lang="en-US" sz="1200" dirty="0"/>
          </a:p>
        </p:txBody>
      </p:sp>
      <p:sp>
        <p:nvSpPr>
          <p:cNvPr id="7" name="Shape 5"/>
          <p:cNvSpPr/>
          <p:nvPr/>
        </p:nvSpPr>
        <p:spPr>
          <a:xfrm>
            <a:off x="320040" y="1444752"/>
            <a:ext cx="5687568" cy="1719072"/>
          </a:xfrm>
          <a:prstGeom prst="roundRect">
            <a:avLst>
              <a:gd name="adj" fmla="val 4787"/>
            </a:avLst>
          </a:prstGeom>
          <a:solidFill>
            <a:srgbClr val="FFFFFF"/>
          </a:solidFill>
          <a:ln w="10160">
            <a:solidFill>
              <a:srgbClr val="D0DCE4"/>
            </a:solidFill>
            <a:prstDash val="solid"/>
          </a:ln>
        </p:spPr>
      </p:sp>
      <p:sp>
        <p:nvSpPr>
          <p:cNvPr id="8" name="Shape 6"/>
          <p:cNvSpPr/>
          <p:nvPr/>
        </p:nvSpPr>
        <p:spPr>
          <a:xfrm>
            <a:off x="320040" y="1444752"/>
            <a:ext cx="5687568" cy="502920"/>
          </a:xfrm>
          <a:prstGeom prst="roundRect">
            <a:avLst>
              <a:gd name="adj" fmla="val 16364"/>
            </a:avLst>
          </a:prstGeom>
          <a:solidFill>
            <a:srgbClr val="006D77"/>
          </a:solidFill>
          <a:ln/>
        </p:spPr>
      </p:sp>
      <p:sp>
        <p:nvSpPr>
          <p:cNvPr id="9" name="Text 7"/>
          <p:cNvSpPr/>
          <p:nvPr/>
        </p:nvSpPr>
        <p:spPr>
          <a:xfrm>
            <a:off x="411480" y="1499616"/>
            <a:ext cx="548640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100% Stacked Bar</a:t>
            </a:r>
            <a:endParaRPr lang="en-US" sz="1200" dirty="0"/>
          </a:p>
          <a:p>
            <a:pPr indent="0" marL="0">
              <a:buNone/>
            </a:pPr>
            <a:r>
              <a:rPr lang="en-US" sz="1200" b="1" dirty="0">
                <a:solidFill>
                  <a:srgbClr val="FFFFFF"/>
                </a:solidFill>
                <a:latin typeface="Calibri" pitchFamily="34" charset="0"/>
                <a:ea typeface="Calibri" pitchFamily="34" charset="-122"/>
                <a:cs typeface="Calibri" pitchFamily="34" charset="-120"/>
              </a:rPr>
              <a:t>Insurance vs Out-of-Pocket</a:t>
            </a:r>
            <a:endParaRPr lang="en-US" sz="1200" dirty="0"/>
          </a:p>
        </p:txBody>
      </p:sp>
      <p:sp>
        <p:nvSpPr>
          <p:cNvPr id="10" name="Text 8"/>
          <p:cNvSpPr/>
          <p:nvPr/>
        </p:nvSpPr>
        <p:spPr>
          <a:xfrm>
            <a:off x="411480" y="2039112"/>
            <a:ext cx="5486400" cy="658368"/>
          </a:xfrm>
          <a:prstGeom prst="rect">
            <a:avLst/>
          </a:prstGeom>
          <a:noFill/>
          <a:ln/>
        </p:spPr>
        <p:txBody>
          <a:bodyPr wrap="square" rtlCol="0" anchor="ctr"/>
          <a:lstStyle/>
          <a:p>
            <a:pPr indent="0" marL="0">
              <a:buNone/>
            </a:pPr>
            <a:r>
              <a:rPr lang="en-US" sz="950" dirty="0">
                <a:solidFill>
                  <a:srgbClr val="006D77"/>
                </a:solidFill>
                <a:latin typeface="Calibri" pitchFamily="34" charset="0"/>
                <a:ea typeface="Calibri" pitchFamily="34" charset="-122"/>
                <a:cs typeface="Calibri" pitchFamily="34" charset="-120"/>
              </a:rPr>
              <a:t>Y-Axis: Admissions[Department]</a:t>
            </a:r>
            <a:endParaRPr lang="en-US" sz="950" dirty="0"/>
          </a:p>
          <a:p>
            <a:pPr indent="0" marL="0">
              <a:buNone/>
            </a:pPr>
            <a:r>
              <a:rPr lang="en-US" sz="950" dirty="0">
                <a:solidFill>
                  <a:srgbClr val="006D77"/>
                </a:solidFill>
                <a:latin typeface="Calibri" pitchFamily="34" charset="0"/>
                <a:ea typeface="Calibri" pitchFamily="34" charset="-122"/>
                <a:cs typeface="Calibri" pitchFamily="34" charset="-120"/>
              </a:rPr>
              <a:t>Values: [Total Insurance] AND [Total Out of Pocket]</a:t>
            </a:r>
            <a:endParaRPr lang="en-US" sz="950" dirty="0"/>
          </a:p>
          <a:p>
            <a:pPr indent="0" marL="0">
              <a:buNone/>
            </a:pPr>
            <a:r>
              <a:rPr lang="en-US" sz="950" dirty="0">
                <a:solidFill>
                  <a:srgbClr val="006D77"/>
                </a:solidFill>
                <a:latin typeface="Calibri" pitchFamily="34" charset="0"/>
                <a:ea typeface="Calibri" pitchFamily="34" charset="-122"/>
                <a:cs typeface="Calibri" pitchFamily="34" charset="-120"/>
              </a:rPr>
              <a:t>Visual: 100% Stacked Bar Chart</a:t>
            </a:r>
            <a:endParaRPr lang="en-US" sz="950" dirty="0"/>
          </a:p>
        </p:txBody>
      </p:sp>
      <p:sp>
        <p:nvSpPr>
          <p:cNvPr id="11" name="Text 9"/>
          <p:cNvSpPr/>
          <p:nvPr/>
        </p:nvSpPr>
        <p:spPr>
          <a:xfrm>
            <a:off x="411480" y="2743200"/>
            <a:ext cx="5486400" cy="347472"/>
          </a:xfrm>
          <a:prstGeom prst="rect">
            <a:avLst/>
          </a:prstGeom>
          <a:noFill/>
          <a:ln/>
        </p:spPr>
        <p:txBody>
          <a:bodyPr wrap="square" rtlCol="0" anchor="ctr"/>
          <a:lstStyle/>
          <a:p>
            <a:pPr indent="0" marL="0">
              <a:buNone/>
            </a:pPr>
            <a:r>
              <a:rPr lang="en-US" sz="950" i="1" dirty="0">
                <a:solidFill>
                  <a:srgbClr val="3D5A6C"/>
                </a:solidFill>
                <a:latin typeface="Calibri" pitchFamily="34" charset="0"/>
                <a:ea typeface="Calibri" pitchFamily="34" charset="-122"/>
                <a:cs typeface="Calibri" pitchFamily="34" charset="-120"/>
              </a:rPr>
              <a:t>Shows what % of each department's bills are covered by insurance vs self-paid. Answers Q3 perfectly.</a:t>
            </a:r>
            <a:endParaRPr lang="en-US" sz="950" dirty="0"/>
          </a:p>
        </p:txBody>
      </p:sp>
      <p:sp>
        <p:nvSpPr>
          <p:cNvPr id="12" name="Shape 10"/>
          <p:cNvSpPr/>
          <p:nvPr/>
        </p:nvSpPr>
        <p:spPr>
          <a:xfrm>
            <a:off x="6217920" y="1444752"/>
            <a:ext cx="5687568" cy="1719072"/>
          </a:xfrm>
          <a:prstGeom prst="roundRect">
            <a:avLst>
              <a:gd name="adj" fmla="val 4787"/>
            </a:avLst>
          </a:prstGeom>
          <a:solidFill>
            <a:srgbClr val="FFFFFF"/>
          </a:solidFill>
          <a:ln w="10160">
            <a:solidFill>
              <a:srgbClr val="D0DCE4"/>
            </a:solidFill>
            <a:prstDash val="solid"/>
          </a:ln>
        </p:spPr>
      </p:sp>
      <p:sp>
        <p:nvSpPr>
          <p:cNvPr id="13" name="Shape 11"/>
          <p:cNvSpPr/>
          <p:nvPr/>
        </p:nvSpPr>
        <p:spPr>
          <a:xfrm>
            <a:off x="6217920" y="1444752"/>
            <a:ext cx="5687568" cy="502920"/>
          </a:xfrm>
          <a:prstGeom prst="roundRect">
            <a:avLst>
              <a:gd name="adj" fmla="val 16364"/>
            </a:avLst>
          </a:prstGeom>
          <a:solidFill>
            <a:srgbClr val="E29F18"/>
          </a:solidFill>
          <a:ln/>
        </p:spPr>
      </p:sp>
      <p:sp>
        <p:nvSpPr>
          <p:cNvPr id="14" name="Text 12"/>
          <p:cNvSpPr/>
          <p:nvPr/>
        </p:nvSpPr>
        <p:spPr>
          <a:xfrm>
            <a:off x="6309360" y="1499616"/>
            <a:ext cx="548640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Stacked Column</a:t>
            </a:r>
            <a:endParaRPr lang="en-US" sz="1200" dirty="0"/>
          </a:p>
          <a:p>
            <a:pPr indent="0" marL="0">
              <a:buNone/>
            </a:pPr>
            <a:r>
              <a:rPr lang="en-US" sz="1200" b="1" dirty="0">
                <a:solidFill>
                  <a:srgbClr val="FFFFFF"/>
                </a:solidFill>
                <a:latin typeface="Calibri" pitchFamily="34" charset="0"/>
                <a:ea typeface="Calibri" pitchFamily="34" charset="-122"/>
                <a:cs typeface="Calibri" pitchFamily="34" charset="-120"/>
              </a:rPr>
              <a:t>Revenue by Month &amp; Year</a:t>
            </a:r>
            <a:endParaRPr lang="en-US" sz="1200" dirty="0"/>
          </a:p>
        </p:txBody>
      </p:sp>
      <p:sp>
        <p:nvSpPr>
          <p:cNvPr id="15" name="Text 13"/>
          <p:cNvSpPr/>
          <p:nvPr/>
        </p:nvSpPr>
        <p:spPr>
          <a:xfrm>
            <a:off x="6309360" y="2039112"/>
            <a:ext cx="5486400" cy="658368"/>
          </a:xfrm>
          <a:prstGeom prst="rect">
            <a:avLst/>
          </a:prstGeom>
          <a:noFill/>
          <a:ln/>
        </p:spPr>
        <p:txBody>
          <a:bodyPr wrap="square" rtlCol="0" anchor="ctr"/>
          <a:lstStyle/>
          <a:p>
            <a:pPr indent="0" marL="0">
              <a:buNone/>
            </a:pPr>
            <a:r>
              <a:rPr lang="en-US" sz="950" dirty="0">
                <a:solidFill>
                  <a:srgbClr val="006D77"/>
                </a:solidFill>
                <a:latin typeface="Calibri" pitchFamily="34" charset="0"/>
                <a:ea typeface="Calibri" pitchFamily="34" charset="-122"/>
                <a:cs typeface="Calibri" pitchFamily="34" charset="-120"/>
              </a:rPr>
              <a:t>X-Axis: DimDate[MonthName]</a:t>
            </a:r>
            <a:endParaRPr lang="en-US" sz="950" dirty="0"/>
          </a:p>
          <a:p>
            <a:pPr indent="0" marL="0">
              <a:buNone/>
            </a:pPr>
            <a:r>
              <a:rPr lang="en-US" sz="950" dirty="0">
                <a:solidFill>
                  <a:srgbClr val="006D77"/>
                </a:solidFill>
                <a:latin typeface="Calibri" pitchFamily="34" charset="0"/>
                <a:ea typeface="Calibri" pitchFamily="34" charset="-122"/>
                <a:cs typeface="Calibri" pitchFamily="34" charset="-120"/>
              </a:rPr>
              <a:t>Values: [Total Revenue]</a:t>
            </a:r>
            <a:endParaRPr lang="en-US" sz="950" dirty="0"/>
          </a:p>
          <a:p>
            <a:pPr indent="0" marL="0">
              <a:buNone/>
            </a:pPr>
            <a:r>
              <a:rPr lang="en-US" sz="950" dirty="0">
                <a:solidFill>
                  <a:srgbClr val="006D77"/>
                </a:solidFill>
                <a:latin typeface="Calibri" pitchFamily="34" charset="0"/>
                <a:ea typeface="Calibri" pitchFamily="34" charset="-122"/>
                <a:cs typeface="Calibri" pitchFamily="34" charset="-120"/>
              </a:rPr>
              <a:t>Legend: DimDate[Year]</a:t>
            </a:r>
            <a:endParaRPr lang="en-US" sz="950" dirty="0"/>
          </a:p>
          <a:p>
            <a:pPr indent="0" marL="0">
              <a:buNone/>
            </a:pPr>
            <a:r>
              <a:rPr lang="en-US" sz="950" dirty="0">
                <a:solidFill>
                  <a:srgbClr val="006D77"/>
                </a:solidFill>
                <a:latin typeface="Calibri" pitchFamily="34" charset="0"/>
                <a:ea typeface="Calibri" pitchFamily="34" charset="-122"/>
                <a:cs typeface="Calibri" pitchFamily="34" charset="-120"/>
              </a:rPr>
              <a:t>Visual: Stacked Column</a:t>
            </a:r>
            <a:endParaRPr lang="en-US" sz="950" dirty="0"/>
          </a:p>
        </p:txBody>
      </p:sp>
      <p:sp>
        <p:nvSpPr>
          <p:cNvPr id="16" name="Text 14"/>
          <p:cNvSpPr/>
          <p:nvPr/>
        </p:nvSpPr>
        <p:spPr>
          <a:xfrm>
            <a:off x="6309360" y="2743200"/>
            <a:ext cx="5486400" cy="347472"/>
          </a:xfrm>
          <a:prstGeom prst="rect">
            <a:avLst/>
          </a:prstGeom>
          <a:noFill/>
          <a:ln/>
        </p:spPr>
        <p:txBody>
          <a:bodyPr wrap="square" rtlCol="0" anchor="ctr"/>
          <a:lstStyle/>
          <a:p>
            <a:pPr indent="0" marL="0">
              <a:buNone/>
            </a:pPr>
            <a:r>
              <a:rPr lang="en-US" sz="950" i="1" dirty="0">
                <a:solidFill>
                  <a:srgbClr val="3D5A6C"/>
                </a:solidFill>
                <a:latin typeface="Calibri" pitchFamily="34" charset="0"/>
                <a:ea typeface="Calibri" pitchFamily="34" charset="-122"/>
                <a:cs typeface="Calibri" pitchFamily="34" charset="-120"/>
              </a:rPr>
              <a:t>Side-by-side monthly revenue for 2023 vs 2024. Add a constant line (Analytics pane → Average line) to show the revenue average.</a:t>
            </a:r>
            <a:endParaRPr lang="en-US" sz="950" dirty="0"/>
          </a:p>
        </p:txBody>
      </p:sp>
      <p:sp>
        <p:nvSpPr>
          <p:cNvPr id="17" name="Shape 15"/>
          <p:cNvSpPr/>
          <p:nvPr/>
        </p:nvSpPr>
        <p:spPr>
          <a:xfrm>
            <a:off x="320040" y="3319272"/>
            <a:ext cx="5687568" cy="1719072"/>
          </a:xfrm>
          <a:prstGeom prst="roundRect">
            <a:avLst>
              <a:gd name="adj" fmla="val 4787"/>
            </a:avLst>
          </a:prstGeom>
          <a:solidFill>
            <a:srgbClr val="FFFFFF"/>
          </a:solidFill>
          <a:ln w="10160">
            <a:solidFill>
              <a:srgbClr val="D0DCE4"/>
            </a:solidFill>
            <a:prstDash val="solid"/>
          </a:ln>
        </p:spPr>
      </p:sp>
      <p:sp>
        <p:nvSpPr>
          <p:cNvPr id="18" name="Shape 16"/>
          <p:cNvSpPr/>
          <p:nvPr/>
        </p:nvSpPr>
        <p:spPr>
          <a:xfrm>
            <a:off x="320040" y="3319272"/>
            <a:ext cx="5687568" cy="502920"/>
          </a:xfrm>
          <a:prstGeom prst="roundRect">
            <a:avLst>
              <a:gd name="adj" fmla="val 16364"/>
            </a:avLst>
          </a:prstGeom>
          <a:solidFill>
            <a:srgbClr val="E67E22"/>
          </a:solidFill>
          <a:ln/>
        </p:spPr>
      </p:sp>
      <p:sp>
        <p:nvSpPr>
          <p:cNvPr id="19" name="Text 17"/>
          <p:cNvSpPr/>
          <p:nvPr/>
        </p:nvSpPr>
        <p:spPr>
          <a:xfrm>
            <a:off x="411480" y="3374136"/>
            <a:ext cx="548640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Treemap</a:t>
            </a:r>
            <a:endParaRPr lang="en-US" sz="1200" dirty="0"/>
          </a:p>
          <a:p>
            <a:pPr indent="0" marL="0">
              <a:buNone/>
            </a:pPr>
            <a:r>
              <a:rPr lang="en-US" sz="1200" b="1" dirty="0">
                <a:solidFill>
                  <a:srgbClr val="FFFFFF"/>
                </a:solidFill>
                <a:latin typeface="Calibri" pitchFamily="34" charset="0"/>
                <a:ea typeface="Calibri" pitchFamily="34" charset="-122"/>
                <a:cs typeface="Calibri" pitchFamily="34" charset="-120"/>
              </a:rPr>
              <a:t>Revenue by Hospital</a:t>
            </a:r>
            <a:endParaRPr lang="en-US" sz="1200" dirty="0"/>
          </a:p>
        </p:txBody>
      </p:sp>
      <p:sp>
        <p:nvSpPr>
          <p:cNvPr id="20" name="Text 18"/>
          <p:cNvSpPr/>
          <p:nvPr/>
        </p:nvSpPr>
        <p:spPr>
          <a:xfrm>
            <a:off x="411480" y="3913632"/>
            <a:ext cx="5486400" cy="658368"/>
          </a:xfrm>
          <a:prstGeom prst="rect">
            <a:avLst/>
          </a:prstGeom>
          <a:noFill/>
          <a:ln/>
        </p:spPr>
        <p:txBody>
          <a:bodyPr wrap="square" rtlCol="0" anchor="ctr"/>
          <a:lstStyle/>
          <a:p>
            <a:pPr indent="0" marL="0">
              <a:buNone/>
            </a:pPr>
            <a:r>
              <a:rPr lang="en-US" sz="950" dirty="0">
                <a:solidFill>
                  <a:srgbClr val="006D77"/>
                </a:solidFill>
                <a:latin typeface="Calibri" pitchFamily="34" charset="0"/>
                <a:ea typeface="Calibri" pitchFamily="34" charset="-122"/>
                <a:cs typeface="Calibri" pitchFamily="34" charset="-120"/>
              </a:rPr>
              <a:t>Group: Admissions[Hospital]</a:t>
            </a:r>
            <a:endParaRPr lang="en-US" sz="950" dirty="0"/>
          </a:p>
          <a:p>
            <a:pPr indent="0" marL="0">
              <a:buNone/>
            </a:pPr>
            <a:r>
              <a:rPr lang="en-US" sz="950" dirty="0">
                <a:solidFill>
                  <a:srgbClr val="006D77"/>
                </a:solidFill>
                <a:latin typeface="Calibri" pitchFamily="34" charset="0"/>
                <a:ea typeface="Calibri" pitchFamily="34" charset="-122"/>
                <a:cs typeface="Calibri" pitchFamily="34" charset="-120"/>
              </a:rPr>
              <a:t>Values: [Total Revenue]</a:t>
            </a:r>
            <a:endParaRPr lang="en-US" sz="950" dirty="0"/>
          </a:p>
          <a:p>
            <a:pPr indent="0" marL="0">
              <a:buNone/>
            </a:pPr>
            <a:r>
              <a:rPr lang="en-US" sz="950" dirty="0">
                <a:solidFill>
                  <a:srgbClr val="006D77"/>
                </a:solidFill>
                <a:latin typeface="Calibri" pitchFamily="34" charset="0"/>
                <a:ea typeface="Calibri" pitchFamily="34" charset="-122"/>
                <a:cs typeface="Calibri" pitchFamily="34" charset="-120"/>
              </a:rPr>
              <a:t>Visual: Treemap</a:t>
            </a:r>
            <a:endParaRPr lang="en-US" sz="950" dirty="0"/>
          </a:p>
        </p:txBody>
      </p:sp>
      <p:sp>
        <p:nvSpPr>
          <p:cNvPr id="21" name="Text 19"/>
          <p:cNvSpPr/>
          <p:nvPr/>
        </p:nvSpPr>
        <p:spPr>
          <a:xfrm>
            <a:off x="411480" y="4617720"/>
            <a:ext cx="5486400" cy="347472"/>
          </a:xfrm>
          <a:prstGeom prst="rect">
            <a:avLst/>
          </a:prstGeom>
          <a:noFill/>
          <a:ln/>
        </p:spPr>
        <p:txBody>
          <a:bodyPr wrap="square" rtlCol="0" anchor="ctr"/>
          <a:lstStyle/>
          <a:p>
            <a:pPr indent="0" marL="0">
              <a:buNone/>
            </a:pPr>
            <a:r>
              <a:rPr lang="en-US" sz="950" i="1" dirty="0">
                <a:solidFill>
                  <a:srgbClr val="3D5A6C"/>
                </a:solidFill>
                <a:latin typeface="Calibri" pitchFamily="34" charset="0"/>
                <a:ea typeface="Calibri" pitchFamily="34" charset="-122"/>
                <a:cs typeface="Calibri" pitchFamily="34" charset="-120"/>
              </a:rPr>
              <a:t>Treemap shows proportional revenue — bigger box = more revenue. Format: data labels on, show % of total.</a:t>
            </a:r>
            <a:endParaRPr lang="en-US" sz="950" dirty="0"/>
          </a:p>
        </p:txBody>
      </p:sp>
      <p:sp>
        <p:nvSpPr>
          <p:cNvPr id="22" name="Shape 20"/>
          <p:cNvSpPr/>
          <p:nvPr/>
        </p:nvSpPr>
        <p:spPr>
          <a:xfrm>
            <a:off x="6217920" y="3319272"/>
            <a:ext cx="5687568" cy="1719072"/>
          </a:xfrm>
          <a:prstGeom prst="roundRect">
            <a:avLst>
              <a:gd name="adj" fmla="val 4787"/>
            </a:avLst>
          </a:prstGeom>
          <a:solidFill>
            <a:srgbClr val="FFFFFF"/>
          </a:solidFill>
          <a:ln w="10160">
            <a:solidFill>
              <a:srgbClr val="D0DCE4"/>
            </a:solidFill>
            <a:prstDash val="solid"/>
          </a:ln>
        </p:spPr>
      </p:sp>
      <p:sp>
        <p:nvSpPr>
          <p:cNvPr id="23" name="Shape 21"/>
          <p:cNvSpPr/>
          <p:nvPr/>
        </p:nvSpPr>
        <p:spPr>
          <a:xfrm>
            <a:off x="6217920" y="3319272"/>
            <a:ext cx="5687568" cy="502920"/>
          </a:xfrm>
          <a:prstGeom prst="roundRect">
            <a:avLst>
              <a:gd name="adj" fmla="val 16364"/>
            </a:avLst>
          </a:prstGeom>
          <a:solidFill>
            <a:srgbClr val="008891"/>
          </a:solidFill>
          <a:ln/>
        </p:spPr>
      </p:sp>
      <p:sp>
        <p:nvSpPr>
          <p:cNvPr id="24" name="Text 22"/>
          <p:cNvSpPr/>
          <p:nvPr/>
        </p:nvSpPr>
        <p:spPr>
          <a:xfrm>
            <a:off x="6309360" y="3374136"/>
            <a:ext cx="548640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KPI Cards Row (×3)</a:t>
            </a:r>
            <a:endParaRPr lang="en-US" sz="1200" dirty="0"/>
          </a:p>
        </p:txBody>
      </p:sp>
      <p:sp>
        <p:nvSpPr>
          <p:cNvPr id="25" name="Text 23"/>
          <p:cNvSpPr/>
          <p:nvPr/>
        </p:nvSpPr>
        <p:spPr>
          <a:xfrm>
            <a:off x="6309360" y="3913632"/>
            <a:ext cx="5486400" cy="658368"/>
          </a:xfrm>
          <a:prstGeom prst="rect">
            <a:avLst/>
          </a:prstGeom>
          <a:noFill/>
          <a:ln/>
        </p:spPr>
        <p:txBody>
          <a:bodyPr wrap="square" rtlCol="0" anchor="ctr"/>
          <a:lstStyle/>
          <a:p>
            <a:pPr indent="0" marL="0">
              <a:buNone/>
            </a:pPr>
            <a:r>
              <a:rPr lang="en-US" sz="950" dirty="0">
                <a:solidFill>
                  <a:srgbClr val="006D77"/>
                </a:solidFill>
                <a:latin typeface="Calibri" pitchFamily="34" charset="0"/>
                <a:ea typeface="Calibri" pitchFamily="34" charset="-122"/>
                <a:cs typeface="Calibri" pitchFamily="34" charset="-120"/>
              </a:rPr>
              <a:t>Cards: [Total Revenue] | [Total Insurance] | [Total Out of Pocket]</a:t>
            </a:r>
            <a:endParaRPr lang="en-US" sz="950" dirty="0"/>
          </a:p>
          <a:p>
            <a:pPr indent="0" marL="0">
              <a:buNone/>
            </a:pPr>
            <a:r>
              <a:rPr lang="en-US" sz="950" dirty="0">
                <a:solidFill>
                  <a:srgbClr val="006D77"/>
                </a:solidFill>
                <a:latin typeface="Calibri" pitchFamily="34" charset="0"/>
                <a:ea typeface="Calibri" pitchFamily="34" charset="-122"/>
                <a:cs typeface="Calibri" pitchFamily="34" charset="-120"/>
              </a:rPr>
              <a:t>Add [Insurance Rate %] as a 4th card</a:t>
            </a:r>
            <a:endParaRPr lang="en-US" sz="950" dirty="0"/>
          </a:p>
          <a:p>
            <a:pPr indent="0" marL="0">
              <a:buNone/>
            </a:pPr>
            <a:r>
              <a:rPr lang="en-US" sz="950" dirty="0">
                <a:solidFill>
                  <a:srgbClr val="006D77"/>
                </a:solidFill>
                <a:latin typeface="Calibri" pitchFamily="34" charset="0"/>
                <a:ea typeface="Calibri" pitchFamily="34" charset="-122"/>
                <a:cs typeface="Calibri" pitchFamily="34" charset="-120"/>
              </a:rPr>
              <a:t>Visual: Card</a:t>
            </a:r>
            <a:endParaRPr lang="en-US" sz="950" dirty="0"/>
          </a:p>
        </p:txBody>
      </p:sp>
      <p:sp>
        <p:nvSpPr>
          <p:cNvPr id="26" name="Text 24"/>
          <p:cNvSpPr/>
          <p:nvPr/>
        </p:nvSpPr>
        <p:spPr>
          <a:xfrm>
            <a:off x="6309360" y="4617720"/>
            <a:ext cx="5486400" cy="347472"/>
          </a:xfrm>
          <a:prstGeom prst="rect">
            <a:avLst/>
          </a:prstGeom>
          <a:noFill/>
          <a:ln/>
        </p:spPr>
        <p:txBody>
          <a:bodyPr wrap="square" rtlCol="0" anchor="ctr"/>
          <a:lstStyle/>
          <a:p>
            <a:pPr indent="0" marL="0">
              <a:buNone/>
            </a:pPr>
            <a:r>
              <a:rPr lang="en-US" sz="950" i="1" dirty="0">
                <a:solidFill>
                  <a:srgbClr val="3D5A6C"/>
                </a:solidFill>
                <a:latin typeface="Calibri" pitchFamily="34" charset="0"/>
                <a:ea typeface="Calibri" pitchFamily="34" charset="-122"/>
                <a:cs typeface="Calibri" pitchFamily="34" charset="-120"/>
              </a:rPr>
              <a:t>Place these as 4 KPI cards in a row at the top of the page, same as Page 1.</a:t>
            </a:r>
            <a:endParaRPr lang="en-US" sz="950" dirty="0"/>
          </a:p>
        </p:txBody>
      </p:sp>
      <p:sp>
        <p:nvSpPr>
          <p:cNvPr id="27" name="Shape 25"/>
          <p:cNvSpPr/>
          <p:nvPr/>
        </p:nvSpPr>
        <p:spPr>
          <a:xfrm>
            <a:off x="320040" y="5257800"/>
            <a:ext cx="11475720" cy="1298448"/>
          </a:xfrm>
          <a:prstGeom prst="roundRect">
            <a:avLst>
              <a:gd name="adj" fmla="val 6338"/>
            </a:avLst>
          </a:prstGeom>
          <a:solidFill>
            <a:srgbClr val="FFFFFF"/>
          </a:solidFill>
          <a:ln w="10160">
            <a:solidFill>
              <a:srgbClr val="D0DCE4"/>
            </a:solidFill>
            <a:prstDash val="solid"/>
          </a:ln>
        </p:spPr>
      </p:sp>
      <p:sp>
        <p:nvSpPr>
          <p:cNvPr id="28" name="Shape 26"/>
          <p:cNvSpPr/>
          <p:nvPr/>
        </p:nvSpPr>
        <p:spPr>
          <a:xfrm>
            <a:off x="320040" y="5257800"/>
            <a:ext cx="2606040" cy="1298448"/>
          </a:xfrm>
          <a:prstGeom prst="roundRect">
            <a:avLst>
              <a:gd name="adj" fmla="val 6338"/>
            </a:avLst>
          </a:prstGeom>
          <a:solidFill>
            <a:srgbClr val="1E8449"/>
          </a:solidFill>
          <a:ln/>
        </p:spPr>
      </p:sp>
      <p:sp>
        <p:nvSpPr>
          <p:cNvPr id="29" name="Text 27"/>
          <p:cNvSpPr/>
          <p:nvPr/>
        </p:nvSpPr>
        <p:spPr>
          <a:xfrm>
            <a:off x="320040" y="5458968"/>
            <a:ext cx="2606040" cy="8686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Gauge</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Insurance Coverage Rate</a:t>
            </a:r>
            <a:endParaRPr lang="en-US" sz="1200" dirty="0"/>
          </a:p>
        </p:txBody>
      </p:sp>
      <p:sp>
        <p:nvSpPr>
          <p:cNvPr id="30" name="Text 28"/>
          <p:cNvSpPr/>
          <p:nvPr/>
        </p:nvSpPr>
        <p:spPr>
          <a:xfrm>
            <a:off x="3063240" y="5321808"/>
            <a:ext cx="4407408" cy="1097280"/>
          </a:xfrm>
          <a:prstGeom prst="rect">
            <a:avLst/>
          </a:prstGeom>
          <a:noFill/>
          <a:ln/>
        </p:spPr>
        <p:txBody>
          <a:bodyPr wrap="square" rtlCol="0" anchor="ctr"/>
          <a:lstStyle/>
          <a:p>
            <a:pPr indent="0" marL="0">
              <a:buNone/>
            </a:pPr>
            <a:r>
              <a:rPr lang="en-US" sz="1000" dirty="0">
                <a:solidFill>
                  <a:srgbClr val="006D77"/>
                </a:solidFill>
                <a:latin typeface="Calibri" pitchFamily="34" charset="0"/>
                <a:ea typeface="Calibri" pitchFamily="34" charset="-122"/>
                <a:cs typeface="Calibri" pitchFamily="34" charset="-120"/>
              </a:rPr>
              <a:t>Value: [Insurance Rate %]</a:t>
            </a:r>
            <a:endParaRPr lang="en-US" sz="1000" dirty="0"/>
          </a:p>
          <a:p>
            <a:pPr indent="0" marL="0">
              <a:buNone/>
            </a:pPr>
            <a:r>
              <a:rPr lang="en-US" sz="1000" dirty="0">
                <a:solidFill>
                  <a:srgbClr val="006D77"/>
                </a:solidFill>
                <a:latin typeface="Calibri" pitchFamily="34" charset="0"/>
                <a:ea typeface="Calibri" pitchFamily="34" charset="-122"/>
                <a:cs typeface="Calibri" pitchFamily="34" charset="-120"/>
              </a:rPr>
              <a:t>Visual: Gauge</a:t>
            </a:r>
            <a:endParaRPr lang="en-US" sz="1000" dirty="0"/>
          </a:p>
          <a:p>
            <a:pPr indent="0" marL="0">
              <a:buNone/>
            </a:pPr>
            <a:r>
              <a:rPr lang="en-US" sz="1000" dirty="0">
                <a:solidFill>
                  <a:srgbClr val="006D77"/>
                </a:solidFill>
                <a:latin typeface="Calibri" pitchFamily="34" charset="0"/>
                <a:ea typeface="Calibri" pitchFamily="34" charset="-122"/>
                <a:cs typeface="Calibri" pitchFamily="34" charset="-120"/>
              </a:rPr>
              <a:t>Min: 0   Target: 0.7 (70%)   Max: 1.0</a:t>
            </a:r>
            <a:endParaRPr lang="en-US" sz="1000" dirty="0"/>
          </a:p>
        </p:txBody>
      </p:sp>
      <p:sp>
        <p:nvSpPr>
          <p:cNvPr id="31" name="Text 29"/>
          <p:cNvSpPr/>
          <p:nvPr/>
        </p:nvSpPr>
        <p:spPr>
          <a:xfrm>
            <a:off x="7589520" y="5321808"/>
            <a:ext cx="4069080" cy="1097280"/>
          </a:xfrm>
          <a:prstGeom prst="rect">
            <a:avLst/>
          </a:prstGeom>
          <a:noFill/>
          <a:ln/>
        </p:spPr>
        <p:txBody>
          <a:bodyPr wrap="square" rtlCol="0" anchor="ctr"/>
          <a:lstStyle/>
          <a:p>
            <a:pPr indent="0" marL="0">
              <a:buNone/>
            </a:pPr>
            <a:r>
              <a:rPr lang="en-US" sz="1000" i="1" dirty="0">
                <a:solidFill>
                  <a:srgbClr val="3D5A6C"/>
                </a:solidFill>
                <a:latin typeface="Calibri" pitchFamily="34" charset="0"/>
                <a:ea typeface="Calibri" pitchFamily="34" charset="-122"/>
                <a:cs typeface="Calibri" pitchFamily="34" charset="-120"/>
              </a:rPr>
              <a:t>Gauge shows how close the insurance coverage is to the 70% target. Add the target value under Format → Target.</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AFA"/>
          </a:solidFill>
          <a:ln/>
        </p:spPr>
      </p:sp>
      <p:sp>
        <p:nvSpPr>
          <p:cNvPr id="3" name="Shape 1"/>
          <p:cNvSpPr/>
          <p:nvPr/>
        </p:nvSpPr>
        <p:spPr>
          <a:xfrm>
            <a:off x="0" y="0"/>
            <a:ext cx="82296" cy="6858000"/>
          </a:xfrm>
          <a:prstGeom prst="rect">
            <a:avLst/>
          </a:prstGeom>
          <a:solidFill>
            <a:srgbClr val="006D77"/>
          </a:solidFill>
          <a:ln/>
        </p:spPr>
      </p:sp>
      <p:sp>
        <p:nvSpPr>
          <p:cNvPr id="4" name="Shape 2"/>
          <p:cNvSpPr/>
          <p:nvPr/>
        </p:nvSpPr>
        <p:spPr>
          <a:xfrm>
            <a:off x="0" y="0"/>
            <a:ext cx="12161520" cy="1371600"/>
          </a:xfrm>
          <a:prstGeom prst="rect">
            <a:avLst/>
          </a:prstGeom>
          <a:solidFill>
            <a:srgbClr val="006D77"/>
          </a:solidFill>
          <a:ln/>
        </p:spPr>
      </p:sp>
      <p:sp>
        <p:nvSpPr>
          <p:cNvPr id="5" name="Text 3"/>
          <p:cNvSpPr/>
          <p:nvPr/>
        </p:nvSpPr>
        <p:spPr>
          <a:xfrm>
            <a:off x="320040" y="164592"/>
            <a:ext cx="1152144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STEP 13 — Page 4: Quality &amp; Satisfaction</a:t>
            </a:r>
            <a:endParaRPr lang="en-US" sz="2400" dirty="0"/>
          </a:p>
        </p:txBody>
      </p:sp>
      <p:sp>
        <p:nvSpPr>
          <p:cNvPr id="6" name="Text 4"/>
          <p:cNvSpPr/>
          <p:nvPr/>
        </p:nvSpPr>
        <p:spPr>
          <a:xfrm>
            <a:off x="320040" y="822960"/>
            <a:ext cx="11521440" cy="411480"/>
          </a:xfrm>
          <a:prstGeom prst="rect">
            <a:avLst/>
          </a:prstGeom>
          <a:noFill/>
          <a:ln/>
        </p:spPr>
        <p:txBody>
          <a:bodyPr wrap="square" rtlCol="0" anchor="ctr"/>
          <a:lstStyle/>
          <a:p>
            <a:pPr indent="0" marL="0">
              <a:buNone/>
            </a:pPr>
            <a:r>
              <a:rPr lang="en-US" sz="1200" i="1" dirty="0">
                <a:solidFill>
                  <a:srgbClr val="83C5BE"/>
                </a:solidFill>
                <a:latin typeface="Calibri" pitchFamily="34" charset="0"/>
                <a:ea typeface="Calibri" pitchFamily="34" charset="-122"/>
                <a:cs typeface="Calibri" pitchFamily="34" charset="-120"/>
              </a:rPr>
              <a:t>This page answers Q4. Click the "Quality &amp; Satisfaction" tab.</a:t>
            </a:r>
            <a:endParaRPr lang="en-US" sz="1200" dirty="0"/>
          </a:p>
        </p:txBody>
      </p:sp>
      <p:sp>
        <p:nvSpPr>
          <p:cNvPr id="7" name="Shape 5"/>
          <p:cNvSpPr/>
          <p:nvPr/>
        </p:nvSpPr>
        <p:spPr>
          <a:xfrm>
            <a:off x="320040" y="1417320"/>
            <a:ext cx="5349240" cy="2057400"/>
          </a:xfrm>
          <a:prstGeom prst="roundRect">
            <a:avLst>
              <a:gd name="adj" fmla="val 4000"/>
            </a:avLst>
          </a:prstGeom>
          <a:solidFill>
            <a:srgbClr val="FFFFFF"/>
          </a:solidFill>
          <a:ln w="10160">
            <a:solidFill>
              <a:srgbClr val="D0DCE4"/>
            </a:solidFill>
            <a:prstDash val="solid"/>
          </a:ln>
        </p:spPr>
      </p:sp>
      <p:sp>
        <p:nvSpPr>
          <p:cNvPr id="8" name="Shape 6"/>
          <p:cNvSpPr/>
          <p:nvPr/>
        </p:nvSpPr>
        <p:spPr>
          <a:xfrm>
            <a:off x="320040" y="1417320"/>
            <a:ext cx="5349240" cy="475488"/>
          </a:xfrm>
          <a:prstGeom prst="roundRect">
            <a:avLst>
              <a:gd name="adj" fmla="val 17308"/>
            </a:avLst>
          </a:prstGeom>
          <a:solidFill>
            <a:srgbClr val="006D77"/>
          </a:solidFill>
          <a:ln/>
        </p:spPr>
      </p:sp>
      <p:sp>
        <p:nvSpPr>
          <p:cNvPr id="9" name="Text 7"/>
          <p:cNvSpPr/>
          <p:nvPr/>
        </p:nvSpPr>
        <p:spPr>
          <a:xfrm>
            <a:off x="411480" y="1472184"/>
            <a:ext cx="5184648"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Bar Chart</a:t>
            </a:r>
            <a:endParaRPr lang="en-US" sz="1200" dirty="0"/>
          </a:p>
          <a:p>
            <a:pPr indent="0" marL="0">
              <a:buNone/>
            </a:pPr>
            <a:r>
              <a:rPr lang="en-US" sz="1200" b="1" dirty="0">
                <a:solidFill>
                  <a:srgbClr val="FFFFFF"/>
                </a:solidFill>
                <a:latin typeface="Calibri" pitchFamily="34" charset="0"/>
                <a:ea typeface="Calibri" pitchFamily="34" charset="-122"/>
                <a:cs typeface="Calibri" pitchFamily="34" charset="-120"/>
              </a:rPr>
              <a:t>Avg Satisfaction by Doctor</a:t>
            </a:r>
            <a:endParaRPr lang="en-US" sz="1200" dirty="0"/>
          </a:p>
        </p:txBody>
      </p:sp>
      <p:sp>
        <p:nvSpPr>
          <p:cNvPr id="10" name="Text 8"/>
          <p:cNvSpPr/>
          <p:nvPr/>
        </p:nvSpPr>
        <p:spPr>
          <a:xfrm>
            <a:off x="411480" y="2011680"/>
            <a:ext cx="914400" cy="256032"/>
          </a:xfrm>
          <a:prstGeom prst="rect">
            <a:avLst/>
          </a:prstGeom>
          <a:noFill/>
          <a:ln/>
        </p:spPr>
        <p:txBody>
          <a:bodyPr wrap="square" rtlCol="0" anchor="ctr"/>
          <a:lstStyle/>
          <a:p>
            <a:pPr indent="0" marL="0">
              <a:buNone/>
            </a:pPr>
            <a:r>
              <a:rPr lang="en-US" sz="1000" b="1" dirty="0">
                <a:solidFill>
                  <a:srgbClr val="006D77"/>
                </a:solidFill>
                <a:latin typeface="Calibri" pitchFamily="34" charset="0"/>
                <a:ea typeface="Calibri" pitchFamily="34" charset="-122"/>
                <a:cs typeface="Calibri" pitchFamily="34" charset="-120"/>
              </a:rPr>
              <a:t>Setup:</a:t>
            </a:r>
            <a:endParaRPr lang="en-US" sz="1000" dirty="0"/>
          </a:p>
        </p:txBody>
      </p:sp>
      <p:sp>
        <p:nvSpPr>
          <p:cNvPr id="11" name="Text 9"/>
          <p:cNvSpPr/>
          <p:nvPr/>
        </p:nvSpPr>
        <p:spPr>
          <a:xfrm>
            <a:off x="411480" y="2240280"/>
            <a:ext cx="5166360" cy="822960"/>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Y-Axis: Admissions[Doctor]</a:t>
            </a:r>
            <a:endParaRPr lang="en-US" sz="950" dirty="0"/>
          </a:p>
          <a:p>
            <a:pPr indent="0" marL="0">
              <a:buNone/>
            </a:pPr>
            <a:r>
              <a:rPr lang="en-US" sz="950" dirty="0">
                <a:solidFill>
                  <a:srgbClr val="1A2B4A"/>
                </a:solidFill>
                <a:latin typeface="Calibri" pitchFamily="34" charset="0"/>
                <a:ea typeface="Calibri" pitchFamily="34" charset="-122"/>
                <a:cs typeface="Calibri" pitchFamily="34" charset="-120"/>
              </a:rPr>
              <a:t>X-Axis: [Avg Satisfaction]</a:t>
            </a:r>
            <a:endParaRPr lang="en-US" sz="950" dirty="0"/>
          </a:p>
          <a:p>
            <a:pPr indent="0" marL="0">
              <a:buNone/>
            </a:pPr>
            <a:r>
              <a:rPr lang="en-US" sz="950" dirty="0">
                <a:solidFill>
                  <a:srgbClr val="1A2B4A"/>
                </a:solidFill>
                <a:latin typeface="Calibri" pitchFamily="34" charset="0"/>
                <a:ea typeface="Calibri" pitchFamily="34" charset="-122"/>
                <a:cs typeface="Calibri" pitchFamily="34" charset="-120"/>
              </a:rPr>
              <a:t>Sort: Descending</a:t>
            </a:r>
            <a:endParaRPr lang="en-US" sz="950" dirty="0"/>
          </a:p>
        </p:txBody>
      </p:sp>
      <p:sp>
        <p:nvSpPr>
          <p:cNvPr id="12" name="Text 10"/>
          <p:cNvSpPr/>
          <p:nvPr/>
        </p:nvSpPr>
        <p:spPr>
          <a:xfrm>
            <a:off x="411480" y="3108960"/>
            <a:ext cx="5166360" cy="292608"/>
          </a:xfrm>
          <a:prstGeom prst="rect">
            <a:avLst/>
          </a:prstGeom>
          <a:noFill/>
          <a:ln/>
        </p:spPr>
        <p:txBody>
          <a:bodyPr wrap="square" rtlCol="0" anchor="ctr"/>
          <a:lstStyle/>
          <a:p>
            <a:pPr indent="0" marL="0">
              <a:buNone/>
            </a:pPr>
            <a:r>
              <a:rPr lang="en-US" sz="950" i="1" dirty="0">
                <a:solidFill>
                  <a:srgbClr val="3D5A6C"/>
                </a:solidFill>
                <a:latin typeface="Calibri" pitchFamily="34" charset="0"/>
                <a:ea typeface="Calibri" pitchFamily="34" charset="-122"/>
                <a:cs typeface="Calibri" pitchFamily="34" charset="-120"/>
              </a:rPr>
              <a:t>Apply conditional formatting: Format → Data bars. Longer bar = better score. Identifies top performers.</a:t>
            </a:r>
            <a:endParaRPr lang="en-US" sz="950" dirty="0"/>
          </a:p>
        </p:txBody>
      </p:sp>
      <p:sp>
        <p:nvSpPr>
          <p:cNvPr id="13" name="Shape 11"/>
          <p:cNvSpPr/>
          <p:nvPr/>
        </p:nvSpPr>
        <p:spPr>
          <a:xfrm>
            <a:off x="5943600" y="1417320"/>
            <a:ext cx="5486400" cy="2057400"/>
          </a:xfrm>
          <a:prstGeom prst="roundRect">
            <a:avLst>
              <a:gd name="adj" fmla="val 4000"/>
            </a:avLst>
          </a:prstGeom>
          <a:solidFill>
            <a:srgbClr val="FFFFFF"/>
          </a:solidFill>
          <a:ln w="10160">
            <a:solidFill>
              <a:srgbClr val="D0DCE4"/>
            </a:solidFill>
            <a:prstDash val="solid"/>
          </a:ln>
        </p:spPr>
      </p:sp>
      <p:sp>
        <p:nvSpPr>
          <p:cNvPr id="14" name="Shape 12"/>
          <p:cNvSpPr/>
          <p:nvPr/>
        </p:nvSpPr>
        <p:spPr>
          <a:xfrm>
            <a:off x="5943600" y="1417320"/>
            <a:ext cx="5486400" cy="475488"/>
          </a:xfrm>
          <a:prstGeom prst="roundRect">
            <a:avLst>
              <a:gd name="adj" fmla="val 17308"/>
            </a:avLst>
          </a:prstGeom>
          <a:solidFill>
            <a:srgbClr val="008891"/>
          </a:solidFill>
          <a:ln/>
        </p:spPr>
      </p:sp>
      <p:sp>
        <p:nvSpPr>
          <p:cNvPr id="15" name="Text 13"/>
          <p:cNvSpPr/>
          <p:nvPr/>
        </p:nvSpPr>
        <p:spPr>
          <a:xfrm>
            <a:off x="6035040" y="1472184"/>
            <a:ext cx="5321808"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Column Chart</a:t>
            </a:r>
            <a:endParaRPr lang="en-US" sz="1200" dirty="0"/>
          </a:p>
          <a:p>
            <a:pPr indent="0" marL="0">
              <a:buNone/>
            </a:pPr>
            <a:r>
              <a:rPr lang="en-US" sz="1200" b="1" dirty="0">
                <a:solidFill>
                  <a:srgbClr val="FFFFFF"/>
                </a:solidFill>
                <a:latin typeface="Calibri" pitchFamily="34" charset="0"/>
                <a:ea typeface="Calibri" pitchFamily="34" charset="-122"/>
                <a:cs typeface="Calibri" pitchFamily="34" charset="-120"/>
              </a:rPr>
              <a:t>Satisfaction by Department</a:t>
            </a:r>
            <a:endParaRPr lang="en-US" sz="1200" dirty="0"/>
          </a:p>
        </p:txBody>
      </p:sp>
      <p:sp>
        <p:nvSpPr>
          <p:cNvPr id="16" name="Text 14"/>
          <p:cNvSpPr/>
          <p:nvPr/>
        </p:nvSpPr>
        <p:spPr>
          <a:xfrm>
            <a:off x="6035040" y="2011680"/>
            <a:ext cx="914400" cy="256032"/>
          </a:xfrm>
          <a:prstGeom prst="rect">
            <a:avLst/>
          </a:prstGeom>
          <a:noFill/>
          <a:ln/>
        </p:spPr>
        <p:txBody>
          <a:bodyPr wrap="square" rtlCol="0" anchor="ctr"/>
          <a:lstStyle/>
          <a:p>
            <a:pPr indent="0" marL="0">
              <a:buNone/>
            </a:pPr>
            <a:r>
              <a:rPr lang="en-US" sz="1000" b="1" dirty="0">
                <a:solidFill>
                  <a:srgbClr val="008891"/>
                </a:solidFill>
                <a:latin typeface="Calibri" pitchFamily="34" charset="0"/>
                <a:ea typeface="Calibri" pitchFamily="34" charset="-122"/>
                <a:cs typeface="Calibri" pitchFamily="34" charset="-120"/>
              </a:rPr>
              <a:t>Setup:</a:t>
            </a:r>
            <a:endParaRPr lang="en-US" sz="1000" dirty="0"/>
          </a:p>
        </p:txBody>
      </p:sp>
      <p:sp>
        <p:nvSpPr>
          <p:cNvPr id="17" name="Text 15"/>
          <p:cNvSpPr/>
          <p:nvPr/>
        </p:nvSpPr>
        <p:spPr>
          <a:xfrm>
            <a:off x="6035040" y="2240280"/>
            <a:ext cx="5303520" cy="822960"/>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X-Axis: Admissions[Department]</a:t>
            </a:r>
            <a:endParaRPr lang="en-US" sz="950" dirty="0"/>
          </a:p>
          <a:p>
            <a:pPr indent="0" marL="0">
              <a:buNone/>
            </a:pPr>
            <a:r>
              <a:rPr lang="en-US" sz="950" dirty="0">
                <a:solidFill>
                  <a:srgbClr val="1A2B4A"/>
                </a:solidFill>
                <a:latin typeface="Calibri" pitchFamily="34" charset="0"/>
                <a:ea typeface="Calibri" pitchFamily="34" charset="-122"/>
                <a:cs typeface="Calibri" pitchFamily="34" charset="-120"/>
              </a:rPr>
              <a:t>Y-Axis: [Avg Satisfaction]</a:t>
            </a:r>
            <a:endParaRPr lang="en-US" sz="950" dirty="0"/>
          </a:p>
          <a:p>
            <a:pPr indent="0" marL="0">
              <a:buNone/>
            </a:pPr>
            <a:r>
              <a:rPr lang="en-US" sz="950" dirty="0">
                <a:solidFill>
                  <a:srgbClr val="1A2B4A"/>
                </a:solidFill>
                <a:latin typeface="Calibri" pitchFamily="34" charset="0"/>
                <a:ea typeface="Calibri" pitchFamily="34" charset="-122"/>
                <a:cs typeface="Calibri" pitchFamily="34" charset="-120"/>
              </a:rPr>
              <a:t>Constant line at 3.75 (good threshold)</a:t>
            </a:r>
            <a:endParaRPr lang="en-US" sz="950" dirty="0"/>
          </a:p>
        </p:txBody>
      </p:sp>
      <p:sp>
        <p:nvSpPr>
          <p:cNvPr id="18" name="Text 16"/>
          <p:cNvSpPr/>
          <p:nvPr/>
        </p:nvSpPr>
        <p:spPr>
          <a:xfrm>
            <a:off x="6035040" y="3108960"/>
            <a:ext cx="5303520" cy="292608"/>
          </a:xfrm>
          <a:prstGeom prst="rect">
            <a:avLst/>
          </a:prstGeom>
          <a:noFill/>
          <a:ln/>
        </p:spPr>
        <p:txBody>
          <a:bodyPr wrap="square" rtlCol="0" anchor="ctr"/>
          <a:lstStyle/>
          <a:p>
            <a:pPr indent="0" marL="0">
              <a:buNone/>
            </a:pPr>
            <a:r>
              <a:rPr lang="en-US" sz="950" i="1" dirty="0">
                <a:solidFill>
                  <a:srgbClr val="3D5A6C"/>
                </a:solidFill>
                <a:latin typeface="Calibri" pitchFamily="34" charset="0"/>
                <a:ea typeface="Calibri" pitchFamily="34" charset="-122"/>
                <a:cs typeface="Calibri" pitchFamily="34" charset="-120"/>
              </a:rPr>
              <a:t>Analytics pane: add a Constant line at 3.75. Departments below line need attention.</a:t>
            </a:r>
            <a:endParaRPr lang="en-US" sz="950" dirty="0"/>
          </a:p>
        </p:txBody>
      </p:sp>
      <p:sp>
        <p:nvSpPr>
          <p:cNvPr id="19" name="Shape 17"/>
          <p:cNvSpPr/>
          <p:nvPr/>
        </p:nvSpPr>
        <p:spPr>
          <a:xfrm>
            <a:off x="320040" y="3657600"/>
            <a:ext cx="5349240" cy="2057400"/>
          </a:xfrm>
          <a:prstGeom prst="roundRect">
            <a:avLst>
              <a:gd name="adj" fmla="val 4000"/>
            </a:avLst>
          </a:prstGeom>
          <a:solidFill>
            <a:srgbClr val="FFFFFF"/>
          </a:solidFill>
          <a:ln w="10160">
            <a:solidFill>
              <a:srgbClr val="D0DCE4"/>
            </a:solidFill>
            <a:prstDash val="solid"/>
          </a:ln>
        </p:spPr>
      </p:sp>
      <p:sp>
        <p:nvSpPr>
          <p:cNvPr id="20" name="Shape 18"/>
          <p:cNvSpPr/>
          <p:nvPr/>
        </p:nvSpPr>
        <p:spPr>
          <a:xfrm>
            <a:off x="320040" y="3657600"/>
            <a:ext cx="5349240" cy="475488"/>
          </a:xfrm>
          <a:prstGeom prst="roundRect">
            <a:avLst>
              <a:gd name="adj" fmla="val 17308"/>
            </a:avLst>
          </a:prstGeom>
          <a:solidFill>
            <a:srgbClr val="E29F18"/>
          </a:solidFill>
          <a:ln/>
        </p:spPr>
      </p:sp>
      <p:sp>
        <p:nvSpPr>
          <p:cNvPr id="21" name="Text 19"/>
          <p:cNvSpPr/>
          <p:nvPr/>
        </p:nvSpPr>
        <p:spPr>
          <a:xfrm>
            <a:off x="411480" y="3712464"/>
            <a:ext cx="5184648"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Scatter Chart</a:t>
            </a:r>
            <a:endParaRPr lang="en-US" sz="1200" dirty="0"/>
          </a:p>
          <a:p>
            <a:pPr indent="0" marL="0">
              <a:buNone/>
            </a:pPr>
            <a:r>
              <a:rPr lang="en-US" sz="1200" b="1" dirty="0">
                <a:solidFill>
                  <a:srgbClr val="FFFFFF"/>
                </a:solidFill>
                <a:latin typeface="Calibri" pitchFamily="34" charset="0"/>
                <a:ea typeface="Calibri" pitchFamily="34" charset="-122"/>
                <a:cs typeface="Calibri" pitchFamily="34" charset="-120"/>
              </a:rPr>
              <a:t>Bill Amount vs Satisfaction</a:t>
            </a:r>
            <a:endParaRPr lang="en-US" sz="1200" dirty="0"/>
          </a:p>
        </p:txBody>
      </p:sp>
      <p:sp>
        <p:nvSpPr>
          <p:cNvPr id="22" name="Text 20"/>
          <p:cNvSpPr/>
          <p:nvPr/>
        </p:nvSpPr>
        <p:spPr>
          <a:xfrm>
            <a:off x="411480" y="4251960"/>
            <a:ext cx="914400" cy="256032"/>
          </a:xfrm>
          <a:prstGeom prst="rect">
            <a:avLst/>
          </a:prstGeom>
          <a:noFill/>
          <a:ln/>
        </p:spPr>
        <p:txBody>
          <a:bodyPr wrap="square" rtlCol="0" anchor="ctr"/>
          <a:lstStyle/>
          <a:p>
            <a:pPr indent="0" marL="0">
              <a:buNone/>
            </a:pPr>
            <a:r>
              <a:rPr lang="en-US" sz="1000" b="1" dirty="0">
                <a:solidFill>
                  <a:srgbClr val="E29F18"/>
                </a:solidFill>
                <a:latin typeface="Calibri" pitchFamily="34" charset="0"/>
                <a:ea typeface="Calibri" pitchFamily="34" charset="-122"/>
                <a:cs typeface="Calibri" pitchFamily="34" charset="-120"/>
              </a:rPr>
              <a:t>Setup:</a:t>
            </a:r>
            <a:endParaRPr lang="en-US" sz="1000" dirty="0"/>
          </a:p>
        </p:txBody>
      </p:sp>
      <p:sp>
        <p:nvSpPr>
          <p:cNvPr id="23" name="Text 21"/>
          <p:cNvSpPr/>
          <p:nvPr/>
        </p:nvSpPr>
        <p:spPr>
          <a:xfrm>
            <a:off x="411480" y="4480560"/>
            <a:ext cx="5166360" cy="822960"/>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X-Axis: [Avg Bill]</a:t>
            </a:r>
            <a:endParaRPr lang="en-US" sz="950" dirty="0"/>
          </a:p>
          <a:p>
            <a:pPr indent="0" marL="0">
              <a:buNone/>
            </a:pPr>
            <a:r>
              <a:rPr lang="en-US" sz="950" dirty="0">
                <a:solidFill>
                  <a:srgbClr val="1A2B4A"/>
                </a:solidFill>
                <a:latin typeface="Calibri" pitchFamily="34" charset="0"/>
                <a:ea typeface="Calibri" pitchFamily="34" charset="-122"/>
                <a:cs typeface="Calibri" pitchFamily="34" charset="-120"/>
              </a:rPr>
              <a:t>Y-Axis: [Avg Satisfaction]</a:t>
            </a:r>
            <a:endParaRPr lang="en-US" sz="950" dirty="0"/>
          </a:p>
          <a:p>
            <a:pPr indent="0" marL="0">
              <a:buNone/>
            </a:pPr>
            <a:r>
              <a:rPr lang="en-US" sz="950" dirty="0">
                <a:solidFill>
                  <a:srgbClr val="1A2B4A"/>
                </a:solidFill>
                <a:latin typeface="Calibri" pitchFamily="34" charset="0"/>
                <a:ea typeface="Calibri" pitchFamily="34" charset="-122"/>
                <a:cs typeface="Calibri" pitchFamily="34" charset="-120"/>
              </a:rPr>
              <a:t>Details: Admissions[Department]</a:t>
            </a:r>
            <a:endParaRPr lang="en-US" sz="950" dirty="0"/>
          </a:p>
          <a:p>
            <a:pPr indent="0" marL="0">
              <a:buNone/>
            </a:pPr>
            <a:r>
              <a:rPr lang="en-US" sz="950" dirty="0">
                <a:solidFill>
                  <a:srgbClr val="1A2B4A"/>
                </a:solidFill>
                <a:latin typeface="Calibri" pitchFamily="34" charset="0"/>
                <a:ea typeface="Calibri" pitchFamily="34" charset="-122"/>
                <a:cs typeface="Calibri" pitchFamily="34" charset="-120"/>
              </a:rPr>
              <a:t>Size: [Total Admissions]</a:t>
            </a:r>
            <a:endParaRPr lang="en-US" sz="950" dirty="0"/>
          </a:p>
        </p:txBody>
      </p:sp>
      <p:sp>
        <p:nvSpPr>
          <p:cNvPr id="24" name="Text 22"/>
          <p:cNvSpPr/>
          <p:nvPr/>
        </p:nvSpPr>
        <p:spPr>
          <a:xfrm>
            <a:off x="411480" y="5349240"/>
            <a:ext cx="5166360" cy="292608"/>
          </a:xfrm>
          <a:prstGeom prst="rect">
            <a:avLst/>
          </a:prstGeom>
          <a:noFill/>
          <a:ln/>
        </p:spPr>
        <p:txBody>
          <a:bodyPr wrap="square" rtlCol="0" anchor="ctr"/>
          <a:lstStyle/>
          <a:p>
            <a:pPr indent="0" marL="0">
              <a:buNone/>
            </a:pPr>
            <a:r>
              <a:rPr lang="en-US" sz="950" i="1" dirty="0">
                <a:solidFill>
                  <a:srgbClr val="3D5A6C"/>
                </a:solidFill>
                <a:latin typeface="Calibri" pitchFamily="34" charset="0"/>
                <a:ea typeface="Calibri" pitchFamily="34" charset="-122"/>
                <a:cs typeface="Calibri" pitchFamily="34" charset="-120"/>
              </a:rPr>
              <a:t>Each bubble = one department. Size = how many admissions. Shows: do higher bills lead to better satisfaction?</a:t>
            </a:r>
            <a:endParaRPr lang="en-US" sz="950" dirty="0"/>
          </a:p>
        </p:txBody>
      </p:sp>
      <p:sp>
        <p:nvSpPr>
          <p:cNvPr id="25" name="Shape 23"/>
          <p:cNvSpPr/>
          <p:nvPr/>
        </p:nvSpPr>
        <p:spPr>
          <a:xfrm>
            <a:off x="5943600" y="3657600"/>
            <a:ext cx="5486400" cy="2057400"/>
          </a:xfrm>
          <a:prstGeom prst="roundRect">
            <a:avLst>
              <a:gd name="adj" fmla="val 4000"/>
            </a:avLst>
          </a:prstGeom>
          <a:solidFill>
            <a:srgbClr val="FFFFFF"/>
          </a:solidFill>
          <a:ln w="10160">
            <a:solidFill>
              <a:srgbClr val="D0DCE4"/>
            </a:solidFill>
            <a:prstDash val="solid"/>
          </a:ln>
        </p:spPr>
      </p:sp>
      <p:sp>
        <p:nvSpPr>
          <p:cNvPr id="26" name="Shape 24"/>
          <p:cNvSpPr/>
          <p:nvPr/>
        </p:nvSpPr>
        <p:spPr>
          <a:xfrm>
            <a:off x="5943600" y="3657600"/>
            <a:ext cx="5486400" cy="475488"/>
          </a:xfrm>
          <a:prstGeom prst="roundRect">
            <a:avLst>
              <a:gd name="adj" fmla="val 17308"/>
            </a:avLst>
          </a:prstGeom>
          <a:solidFill>
            <a:srgbClr val="E67E22"/>
          </a:solidFill>
          <a:ln/>
        </p:spPr>
      </p:sp>
      <p:sp>
        <p:nvSpPr>
          <p:cNvPr id="27" name="Text 25"/>
          <p:cNvSpPr/>
          <p:nvPr/>
        </p:nvSpPr>
        <p:spPr>
          <a:xfrm>
            <a:off x="6035040" y="3712464"/>
            <a:ext cx="5321808"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Table</a:t>
            </a:r>
            <a:endParaRPr lang="en-US" sz="1200" dirty="0"/>
          </a:p>
          <a:p>
            <a:pPr indent="0" marL="0">
              <a:buNone/>
            </a:pPr>
            <a:r>
              <a:rPr lang="en-US" sz="1200" b="1" dirty="0">
                <a:solidFill>
                  <a:srgbClr val="FFFFFF"/>
                </a:solidFill>
                <a:latin typeface="Calibri" pitchFamily="34" charset="0"/>
                <a:ea typeface="Calibri" pitchFamily="34" charset="-122"/>
                <a:cs typeface="Calibri" pitchFamily="34" charset="-120"/>
              </a:rPr>
              <a:t>Patient Status Breakdown</a:t>
            </a:r>
            <a:endParaRPr lang="en-US" sz="1200" dirty="0"/>
          </a:p>
        </p:txBody>
      </p:sp>
      <p:sp>
        <p:nvSpPr>
          <p:cNvPr id="28" name="Text 26"/>
          <p:cNvSpPr/>
          <p:nvPr/>
        </p:nvSpPr>
        <p:spPr>
          <a:xfrm>
            <a:off x="6035040" y="4251960"/>
            <a:ext cx="914400" cy="256032"/>
          </a:xfrm>
          <a:prstGeom prst="rect">
            <a:avLst/>
          </a:prstGeom>
          <a:noFill/>
          <a:ln/>
        </p:spPr>
        <p:txBody>
          <a:bodyPr wrap="square" rtlCol="0" anchor="ctr"/>
          <a:lstStyle/>
          <a:p>
            <a:pPr indent="0" marL="0">
              <a:buNone/>
            </a:pPr>
            <a:r>
              <a:rPr lang="en-US" sz="1000" b="1" dirty="0">
                <a:solidFill>
                  <a:srgbClr val="E67E22"/>
                </a:solidFill>
                <a:latin typeface="Calibri" pitchFamily="34" charset="0"/>
                <a:ea typeface="Calibri" pitchFamily="34" charset="-122"/>
                <a:cs typeface="Calibri" pitchFamily="34" charset="-120"/>
              </a:rPr>
              <a:t>Setup:</a:t>
            </a:r>
            <a:endParaRPr lang="en-US" sz="1000" dirty="0"/>
          </a:p>
        </p:txBody>
      </p:sp>
      <p:sp>
        <p:nvSpPr>
          <p:cNvPr id="29" name="Text 27"/>
          <p:cNvSpPr/>
          <p:nvPr/>
        </p:nvSpPr>
        <p:spPr>
          <a:xfrm>
            <a:off x="6035040" y="4480560"/>
            <a:ext cx="5303520" cy="822960"/>
          </a:xfrm>
          <a:prstGeom prst="rect">
            <a:avLst/>
          </a:prstGeom>
          <a:noFill/>
          <a:ln/>
        </p:spPr>
        <p:txBody>
          <a:bodyPr wrap="square" rtlCol="0" anchor="ctr"/>
          <a:lstStyle/>
          <a:p>
            <a:pPr indent="0" marL="0">
              <a:buNone/>
            </a:pPr>
            <a:r>
              <a:rPr lang="en-US" sz="950" dirty="0">
                <a:solidFill>
                  <a:srgbClr val="1A2B4A"/>
                </a:solidFill>
                <a:latin typeface="Calibri" pitchFamily="34" charset="0"/>
                <a:ea typeface="Calibri" pitchFamily="34" charset="-122"/>
                <a:cs typeface="Calibri" pitchFamily="34" charset="-120"/>
              </a:rPr>
              <a:t>Rows: Admissions[Status]</a:t>
            </a:r>
            <a:endParaRPr lang="en-US" sz="950" dirty="0"/>
          </a:p>
          <a:p>
            <a:pPr indent="0" marL="0">
              <a:buNone/>
            </a:pPr>
            <a:r>
              <a:rPr lang="en-US" sz="950" dirty="0">
                <a:solidFill>
                  <a:srgbClr val="1A2B4A"/>
                </a:solidFill>
                <a:latin typeface="Calibri" pitchFamily="34" charset="0"/>
                <a:ea typeface="Calibri" pitchFamily="34" charset="-122"/>
                <a:cs typeface="Calibri" pitchFamily="34" charset="-120"/>
              </a:rPr>
              <a:t>Values: [Total Admissions] | [Avg Satisfaction] | [Recovery Rate %]</a:t>
            </a:r>
            <a:endParaRPr lang="en-US" sz="950" dirty="0"/>
          </a:p>
          <a:p>
            <a:pPr indent="0" marL="0">
              <a:buNone/>
            </a:pPr>
            <a:r>
              <a:rPr lang="en-US" sz="950" dirty="0">
                <a:solidFill>
                  <a:srgbClr val="1A2B4A"/>
                </a:solidFill>
                <a:latin typeface="Calibri" pitchFamily="34" charset="0"/>
                <a:ea typeface="Calibri" pitchFamily="34" charset="-122"/>
                <a:cs typeface="Calibri" pitchFamily="34" charset="-120"/>
              </a:rPr>
              <a:t>Enable: Totals row</a:t>
            </a:r>
            <a:endParaRPr lang="en-US" sz="950" dirty="0"/>
          </a:p>
        </p:txBody>
      </p:sp>
      <p:sp>
        <p:nvSpPr>
          <p:cNvPr id="30" name="Text 28"/>
          <p:cNvSpPr/>
          <p:nvPr/>
        </p:nvSpPr>
        <p:spPr>
          <a:xfrm>
            <a:off x="6035040" y="5349240"/>
            <a:ext cx="5303520" cy="292608"/>
          </a:xfrm>
          <a:prstGeom prst="rect">
            <a:avLst/>
          </a:prstGeom>
          <a:noFill/>
          <a:ln/>
        </p:spPr>
        <p:txBody>
          <a:bodyPr wrap="square" rtlCol="0" anchor="ctr"/>
          <a:lstStyle/>
          <a:p>
            <a:pPr indent="0" marL="0">
              <a:buNone/>
            </a:pPr>
            <a:r>
              <a:rPr lang="en-US" sz="950" i="1" dirty="0">
                <a:solidFill>
                  <a:srgbClr val="3D5A6C"/>
                </a:solidFill>
                <a:latin typeface="Calibri" pitchFamily="34" charset="0"/>
                <a:ea typeface="Calibri" pitchFamily="34" charset="-122"/>
                <a:cs typeface="Calibri" pitchFamily="34" charset="-120"/>
              </a:rPr>
              <a:t>Simple table showing recovered vs discharged vs under treatment. Easy for the CMO to read at a glance.</a:t>
            </a:r>
            <a:endParaRPr lang="en-US" sz="950" dirty="0"/>
          </a:p>
        </p:txBody>
      </p:sp>
      <p:sp>
        <p:nvSpPr>
          <p:cNvPr id="31" name="Shape 29"/>
          <p:cNvSpPr/>
          <p:nvPr/>
        </p:nvSpPr>
        <p:spPr>
          <a:xfrm>
            <a:off x="320040" y="5806440"/>
            <a:ext cx="11475720" cy="804672"/>
          </a:xfrm>
          <a:prstGeom prst="roundRect">
            <a:avLst>
              <a:gd name="adj" fmla="val 10227"/>
            </a:avLst>
          </a:prstGeom>
          <a:solidFill>
            <a:srgbClr val="FFF1C1"/>
          </a:solidFill>
          <a:ln w="10160">
            <a:solidFill>
              <a:srgbClr val="E29F18"/>
            </a:solidFill>
            <a:prstDash val="solid"/>
          </a:ln>
        </p:spPr>
      </p:sp>
      <p:sp>
        <p:nvSpPr>
          <p:cNvPr id="32" name="Text 30"/>
          <p:cNvSpPr/>
          <p:nvPr/>
        </p:nvSpPr>
        <p:spPr>
          <a:xfrm>
            <a:off x="475488" y="5870448"/>
            <a:ext cx="10972800" cy="320040"/>
          </a:xfrm>
          <a:prstGeom prst="rect">
            <a:avLst/>
          </a:prstGeom>
          <a:noFill/>
          <a:ln/>
        </p:spPr>
        <p:txBody>
          <a:bodyPr wrap="square" rtlCol="0" anchor="ctr"/>
          <a:lstStyle/>
          <a:p>
            <a:pPr indent="0" marL="0">
              <a:buNone/>
            </a:pPr>
            <a:r>
              <a:rPr lang="en-US" sz="1200" b="1" dirty="0">
                <a:solidFill>
                  <a:srgbClr val="7D5900"/>
                </a:solidFill>
                <a:latin typeface="Calibri" pitchFamily="34" charset="0"/>
                <a:ea typeface="Calibri" pitchFamily="34" charset="-122"/>
                <a:cs typeface="Calibri" pitchFamily="34" charset="-120"/>
              </a:rPr>
              <a:t>⭐  BONUS: Add Drill-Through from Page 1 → Page 4</a:t>
            </a:r>
            <a:endParaRPr lang="en-US" sz="1200" dirty="0"/>
          </a:p>
        </p:txBody>
      </p:sp>
      <p:sp>
        <p:nvSpPr>
          <p:cNvPr id="33" name="Text 31"/>
          <p:cNvSpPr/>
          <p:nvPr/>
        </p:nvSpPr>
        <p:spPr>
          <a:xfrm>
            <a:off x="475488" y="6199632"/>
            <a:ext cx="10972800" cy="347472"/>
          </a:xfrm>
          <a:prstGeom prst="rect">
            <a:avLst/>
          </a:prstGeom>
          <a:noFill/>
          <a:ln/>
        </p:spPr>
        <p:txBody>
          <a:bodyPr wrap="square" rtlCol="0" anchor="ctr"/>
          <a:lstStyle/>
          <a:p>
            <a:pPr indent="0" marL="0">
              <a:buNone/>
            </a:pPr>
            <a:r>
              <a:rPr lang="en-US" sz="1100" dirty="0">
                <a:solidFill>
                  <a:srgbClr val="7D5900"/>
                </a:solidFill>
                <a:latin typeface="Calibri" pitchFamily="34" charset="0"/>
                <a:ea typeface="Calibri" pitchFamily="34" charset="-122"/>
                <a:cs typeface="Calibri" pitchFamily="34" charset="-120"/>
              </a:rPr>
              <a:t>On Page 4: Format panel → Drill through → Drag Admissions[Doctor] to "Add drill-through fields here". Now on Page 1 or 2, right-click any doctor name → "Drill through" → "Quality &amp; Satisfaction". The page opens filtered to that doctor only.</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AFA"/>
          </a:solidFill>
          <a:ln/>
        </p:spPr>
      </p:sp>
      <p:sp>
        <p:nvSpPr>
          <p:cNvPr id="3" name="Shape 1"/>
          <p:cNvSpPr/>
          <p:nvPr/>
        </p:nvSpPr>
        <p:spPr>
          <a:xfrm>
            <a:off x="0" y="0"/>
            <a:ext cx="82296" cy="6858000"/>
          </a:xfrm>
          <a:prstGeom prst="rect">
            <a:avLst/>
          </a:prstGeom>
          <a:solidFill>
            <a:srgbClr val="006D77"/>
          </a:solidFill>
          <a:ln/>
        </p:spPr>
      </p:sp>
      <p:sp>
        <p:nvSpPr>
          <p:cNvPr id="4" name="Shape 2"/>
          <p:cNvSpPr/>
          <p:nvPr/>
        </p:nvSpPr>
        <p:spPr>
          <a:xfrm>
            <a:off x="0" y="0"/>
            <a:ext cx="12161520" cy="1371600"/>
          </a:xfrm>
          <a:prstGeom prst="rect">
            <a:avLst/>
          </a:prstGeom>
          <a:solidFill>
            <a:srgbClr val="006D77"/>
          </a:solidFill>
          <a:ln/>
        </p:spPr>
      </p:sp>
      <p:sp>
        <p:nvSpPr>
          <p:cNvPr id="5" name="Text 3"/>
          <p:cNvSpPr/>
          <p:nvPr/>
        </p:nvSpPr>
        <p:spPr>
          <a:xfrm>
            <a:off x="320040" y="164592"/>
            <a:ext cx="1152144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STEP 14 — Polish &amp; Format Every Visual</a:t>
            </a:r>
            <a:endParaRPr lang="en-US" sz="2400" dirty="0"/>
          </a:p>
        </p:txBody>
      </p:sp>
      <p:sp>
        <p:nvSpPr>
          <p:cNvPr id="6" name="Text 4"/>
          <p:cNvSpPr/>
          <p:nvPr/>
        </p:nvSpPr>
        <p:spPr>
          <a:xfrm>
            <a:off x="320040" y="822960"/>
            <a:ext cx="11521440" cy="411480"/>
          </a:xfrm>
          <a:prstGeom prst="rect">
            <a:avLst/>
          </a:prstGeom>
          <a:noFill/>
          <a:ln/>
        </p:spPr>
        <p:txBody>
          <a:bodyPr wrap="square" rtlCol="0" anchor="ctr"/>
          <a:lstStyle/>
          <a:p>
            <a:pPr indent="0" marL="0">
              <a:buNone/>
            </a:pPr>
            <a:r>
              <a:rPr lang="en-US" sz="1200" i="1" dirty="0">
                <a:solidFill>
                  <a:srgbClr val="83C5BE"/>
                </a:solidFill>
                <a:latin typeface="Calibri" pitchFamily="34" charset="0"/>
                <a:ea typeface="Calibri" pitchFamily="34" charset="-122"/>
                <a:cs typeface="Calibri" pitchFamily="34" charset="-120"/>
              </a:rPr>
              <a:t>These steps take 15 minutes but make the difference between a student project and a professional dashboard.</a:t>
            </a:r>
            <a:endParaRPr lang="en-US" sz="1200" dirty="0"/>
          </a:p>
        </p:txBody>
      </p:sp>
      <p:sp>
        <p:nvSpPr>
          <p:cNvPr id="7" name="Shape 5"/>
          <p:cNvSpPr/>
          <p:nvPr/>
        </p:nvSpPr>
        <p:spPr>
          <a:xfrm>
            <a:off x="320040" y="1444752"/>
            <a:ext cx="5687568" cy="1097280"/>
          </a:xfrm>
          <a:prstGeom prst="roundRect">
            <a:avLst>
              <a:gd name="adj" fmla="val 7500"/>
            </a:avLst>
          </a:prstGeom>
          <a:solidFill>
            <a:srgbClr val="FFFFFF"/>
          </a:solidFill>
          <a:ln w="10160">
            <a:solidFill>
              <a:srgbClr val="D0DCE4"/>
            </a:solidFill>
            <a:prstDash val="solid"/>
          </a:ln>
        </p:spPr>
      </p:sp>
      <p:sp>
        <p:nvSpPr>
          <p:cNvPr id="8" name="Shape 6"/>
          <p:cNvSpPr/>
          <p:nvPr/>
        </p:nvSpPr>
        <p:spPr>
          <a:xfrm>
            <a:off x="320040" y="1444752"/>
            <a:ext cx="749808" cy="1097280"/>
          </a:xfrm>
          <a:prstGeom prst="roundRect">
            <a:avLst>
              <a:gd name="adj" fmla="val 10976"/>
            </a:avLst>
          </a:prstGeom>
          <a:solidFill>
            <a:srgbClr val="006D77"/>
          </a:solidFill>
          <a:ln/>
        </p:spPr>
      </p:sp>
      <p:sp>
        <p:nvSpPr>
          <p:cNvPr id="9" name="Text 7"/>
          <p:cNvSpPr/>
          <p:nvPr/>
        </p:nvSpPr>
        <p:spPr>
          <a:xfrm>
            <a:off x="320040" y="1673352"/>
            <a:ext cx="749808" cy="59436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1188720" y="1517904"/>
            <a:ext cx="470916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Consistent Colors</a:t>
            </a:r>
            <a:endParaRPr lang="en-US" sz="1300" dirty="0"/>
          </a:p>
        </p:txBody>
      </p:sp>
      <p:sp>
        <p:nvSpPr>
          <p:cNvPr id="11" name="Text 9"/>
          <p:cNvSpPr/>
          <p:nvPr/>
        </p:nvSpPr>
        <p:spPr>
          <a:xfrm>
            <a:off x="1188720" y="1865376"/>
            <a:ext cx="4709160" cy="566928"/>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All charts use the same 2-3 colors throughout the report. Teal (#006D77) for primary data, Gold (#E29F18) for comparisons or highlights, Red (#C0392B) for alerts or negatives only.</a:t>
            </a:r>
            <a:endParaRPr lang="en-US" sz="1000" dirty="0"/>
          </a:p>
        </p:txBody>
      </p:sp>
      <p:sp>
        <p:nvSpPr>
          <p:cNvPr id="12" name="Shape 10"/>
          <p:cNvSpPr/>
          <p:nvPr/>
        </p:nvSpPr>
        <p:spPr>
          <a:xfrm>
            <a:off x="6217920" y="1444752"/>
            <a:ext cx="5687568" cy="1097280"/>
          </a:xfrm>
          <a:prstGeom prst="roundRect">
            <a:avLst>
              <a:gd name="adj" fmla="val 7500"/>
            </a:avLst>
          </a:prstGeom>
          <a:solidFill>
            <a:srgbClr val="FFFFFF"/>
          </a:solidFill>
          <a:ln w="10160">
            <a:solidFill>
              <a:srgbClr val="D0DCE4"/>
            </a:solidFill>
            <a:prstDash val="solid"/>
          </a:ln>
        </p:spPr>
      </p:sp>
      <p:sp>
        <p:nvSpPr>
          <p:cNvPr id="13" name="Shape 11"/>
          <p:cNvSpPr/>
          <p:nvPr/>
        </p:nvSpPr>
        <p:spPr>
          <a:xfrm>
            <a:off x="6217920" y="1444752"/>
            <a:ext cx="749808" cy="1097280"/>
          </a:xfrm>
          <a:prstGeom prst="roundRect">
            <a:avLst>
              <a:gd name="adj" fmla="val 10976"/>
            </a:avLst>
          </a:prstGeom>
          <a:solidFill>
            <a:srgbClr val="008891"/>
          </a:solidFill>
          <a:ln/>
        </p:spPr>
      </p:sp>
      <p:sp>
        <p:nvSpPr>
          <p:cNvPr id="14" name="Text 12"/>
          <p:cNvSpPr/>
          <p:nvPr/>
        </p:nvSpPr>
        <p:spPr>
          <a:xfrm>
            <a:off x="6217920" y="1673352"/>
            <a:ext cx="749808" cy="59436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15" name="Text 13"/>
          <p:cNvSpPr/>
          <p:nvPr/>
        </p:nvSpPr>
        <p:spPr>
          <a:xfrm>
            <a:off x="7086600" y="1517904"/>
            <a:ext cx="470916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Titles on Every Visual</a:t>
            </a:r>
            <a:endParaRPr lang="en-US" sz="1300" dirty="0"/>
          </a:p>
        </p:txBody>
      </p:sp>
      <p:sp>
        <p:nvSpPr>
          <p:cNvPr id="16" name="Text 14"/>
          <p:cNvSpPr/>
          <p:nvPr/>
        </p:nvSpPr>
        <p:spPr>
          <a:xfrm>
            <a:off x="7086600" y="1865376"/>
            <a:ext cx="4709160" cy="566928"/>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Click any visual → Format → General → Title → type a clear title. e.g. "Monthly Admissions Trend (2023 vs 2024)" — not just "Admissions". Good titles mean the CMO does not need you to explain the chart.</a:t>
            </a:r>
            <a:endParaRPr lang="en-US" sz="1000" dirty="0"/>
          </a:p>
        </p:txBody>
      </p:sp>
      <p:sp>
        <p:nvSpPr>
          <p:cNvPr id="17" name="Shape 15"/>
          <p:cNvSpPr/>
          <p:nvPr/>
        </p:nvSpPr>
        <p:spPr>
          <a:xfrm>
            <a:off x="320040" y="2615184"/>
            <a:ext cx="5687568" cy="1097280"/>
          </a:xfrm>
          <a:prstGeom prst="roundRect">
            <a:avLst>
              <a:gd name="adj" fmla="val 7500"/>
            </a:avLst>
          </a:prstGeom>
          <a:solidFill>
            <a:srgbClr val="FFFFFF"/>
          </a:solidFill>
          <a:ln w="10160">
            <a:solidFill>
              <a:srgbClr val="D0DCE4"/>
            </a:solidFill>
            <a:prstDash val="solid"/>
          </a:ln>
        </p:spPr>
      </p:sp>
      <p:sp>
        <p:nvSpPr>
          <p:cNvPr id="18" name="Shape 16"/>
          <p:cNvSpPr/>
          <p:nvPr/>
        </p:nvSpPr>
        <p:spPr>
          <a:xfrm>
            <a:off x="320040" y="2615184"/>
            <a:ext cx="749808" cy="1097280"/>
          </a:xfrm>
          <a:prstGeom prst="roundRect">
            <a:avLst>
              <a:gd name="adj" fmla="val 10976"/>
            </a:avLst>
          </a:prstGeom>
          <a:solidFill>
            <a:srgbClr val="E29F18"/>
          </a:solidFill>
          <a:ln/>
        </p:spPr>
      </p:sp>
      <p:sp>
        <p:nvSpPr>
          <p:cNvPr id="19" name="Text 17"/>
          <p:cNvSpPr/>
          <p:nvPr/>
        </p:nvSpPr>
        <p:spPr>
          <a:xfrm>
            <a:off x="320040" y="2843784"/>
            <a:ext cx="749808" cy="59436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20" name="Text 18"/>
          <p:cNvSpPr/>
          <p:nvPr/>
        </p:nvSpPr>
        <p:spPr>
          <a:xfrm>
            <a:off x="1188720" y="2688336"/>
            <a:ext cx="470916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Alignment</a:t>
            </a:r>
            <a:endParaRPr lang="en-US" sz="1300" dirty="0"/>
          </a:p>
        </p:txBody>
      </p:sp>
      <p:sp>
        <p:nvSpPr>
          <p:cNvPr id="21" name="Text 19"/>
          <p:cNvSpPr/>
          <p:nvPr/>
        </p:nvSpPr>
        <p:spPr>
          <a:xfrm>
            <a:off x="1188720" y="3035808"/>
            <a:ext cx="4709160" cy="566928"/>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Select multiple visuals (Ctrl+click each) → Format ribbon → Align → "Align top" and "Distribute horizontally". This makes the layout look clean and intentional.</a:t>
            </a:r>
            <a:endParaRPr lang="en-US" sz="1000" dirty="0"/>
          </a:p>
        </p:txBody>
      </p:sp>
      <p:sp>
        <p:nvSpPr>
          <p:cNvPr id="22" name="Shape 20"/>
          <p:cNvSpPr/>
          <p:nvPr/>
        </p:nvSpPr>
        <p:spPr>
          <a:xfrm>
            <a:off x="6217920" y="2615184"/>
            <a:ext cx="5687568" cy="1097280"/>
          </a:xfrm>
          <a:prstGeom prst="roundRect">
            <a:avLst>
              <a:gd name="adj" fmla="val 7500"/>
            </a:avLst>
          </a:prstGeom>
          <a:solidFill>
            <a:srgbClr val="FFFFFF"/>
          </a:solidFill>
          <a:ln w="10160">
            <a:solidFill>
              <a:srgbClr val="D0DCE4"/>
            </a:solidFill>
            <a:prstDash val="solid"/>
          </a:ln>
        </p:spPr>
      </p:sp>
      <p:sp>
        <p:nvSpPr>
          <p:cNvPr id="23" name="Shape 21"/>
          <p:cNvSpPr/>
          <p:nvPr/>
        </p:nvSpPr>
        <p:spPr>
          <a:xfrm>
            <a:off x="6217920" y="2615184"/>
            <a:ext cx="749808" cy="1097280"/>
          </a:xfrm>
          <a:prstGeom prst="roundRect">
            <a:avLst>
              <a:gd name="adj" fmla="val 10976"/>
            </a:avLst>
          </a:prstGeom>
          <a:solidFill>
            <a:srgbClr val="E67E22"/>
          </a:solidFill>
          <a:ln/>
        </p:spPr>
      </p:sp>
      <p:sp>
        <p:nvSpPr>
          <p:cNvPr id="24" name="Text 22"/>
          <p:cNvSpPr/>
          <p:nvPr/>
        </p:nvSpPr>
        <p:spPr>
          <a:xfrm>
            <a:off x="6217920" y="2843784"/>
            <a:ext cx="749808" cy="59436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25" name="Text 23"/>
          <p:cNvSpPr/>
          <p:nvPr/>
        </p:nvSpPr>
        <p:spPr>
          <a:xfrm>
            <a:off x="7086600" y="2688336"/>
            <a:ext cx="470916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Data Labels</a:t>
            </a:r>
            <a:endParaRPr lang="en-US" sz="1300" dirty="0"/>
          </a:p>
        </p:txBody>
      </p:sp>
      <p:sp>
        <p:nvSpPr>
          <p:cNvPr id="26" name="Text 24"/>
          <p:cNvSpPr/>
          <p:nvPr/>
        </p:nvSpPr>
        <p:spPr>
          <a:xfrm>
            <a:off x="7086600" y="3035808"/>
            <a:ext cx="4709160" cy="566928"/>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Turn on data labels for every bar chart and column chart. Format → Data labels → On. This prevents the user needing to hover over every bar.</a:t>
            </a:r>
            <a:endParaRPr lang="en-US" sz="1000" dirty="0"/>
          </a:p>
        </p:txBody>
      </p:sp>
      <p:sp>
        <p:nvSpPr>
          <p:cNvPr id="27" name="Shape 25"/>
          <p:cNvSpPr/>
          <p:nvPr/>
        </p:nvSpPr>
        <p:spPr>
          <a:xfrm>
            <a:off x="320040" y="3785616"/>
            <a:ext cx="5687568" cy="1097280"/>
          </a:xfrm>
          <a:prstGeom prst="roundRect">
            <a:avLst>
              <a:gd name="adj" fmla="val 7500"/>
            </a:avLst>
          </a:prstGeom>
          <a:solidFill>
            <a:srgbClr val="FFFFFF"/>
          </a:solidFill>
          <a:ln w="10160">
            <a:solidFill>
              <a:srgbClr val="D0DCE4"/>
            </a:solidFill>
            <a:prstDash val="solid"/>
          </a:ln>
        </p:spPr>
      </p:sp>
      <p:sp>
        <p:nvSpPr>
          <p:cNvPr id="28" name="Shape 26"/>
          <p:cNvSpPr/>
          <p:nvPr/>
        </p:nvSpPr>
        <p:spPr>
          <a:xfrm>
            <a:off x="320040" y="3785616"/>
            <a:ext cx="749808" cy="1097280"/>
          </a:xfrm>
          <a:prstGeom prst="roundRect">
            <a:avLst>
              <a:gd name="adj" fmla="val 10976"/>
            </a:avLst>
          </a:prstGeom>
          <a:solidFill>
            <a:srgbClr val="6C3483"/>
          </a:solidFill>
          <a:ln/>
        </p:spPr>
      </p:sp>
      <p:sp>
        <p:nvSpPr>
          <p:cNvPr id="29" name="Text 27"/>
          <p:cNvSpPr/>
          <p:nvPr/>
        </p:nvSpPr>
        <p:spPr>
          <a:xfrm>
            <a:off x="320040" y="4014216"/>
            <a:ext cx="749808" cy="59436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30" name="Text 28"/>
          <p:cNvSpPr/>
          <p:nvPr/>
        </p:nvSpPr>
        <p:spPr>
          <a:xfrm>
            <a:off x="1188720" y="3858768"/>
            <a:ext cx="470916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Remove chart borders</a:t>
            </a:r>
            <a:endParaRPr lang="en-US" sz="1300" dirty="0"/>
          </a:p>
        </p:txBody>
      </p:sp>
      <p:sp>
        <p:nvSpPr>
          <p:cNvPr id="31" name="Text 29"/>
          <p:cNvSpPr/>
          <p:nvPr/>
        </p:nvSpPr>
        <p:spPr>
          <a:xfrm>
            <a:off x="1188720" y="4206240"/>
            <a:ext cx="4709160" cy="566928"/>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Format → Visual border → turn Off. Gridlines → remove unnecessary grid lines. Less clutter = easier to read.</a:t>
            </a:r>
            <a:endParaRPr lang="en-US" sz="1000" dirty="0"/>
          </a:p>
        </p:txBody>
      </p:sp>
      <p:sp>
        <p:nvSpPr>
          <p:cNvPr id="32" name="Shape 30"/>
          <p:cNvSpPr/>
          <p:nvPr/>
        </p:nvSpPr>
        <p:spPr>
          <a:xfrm>
            <a:off x="6217920" y="3785616"/>
            <a:ext cx="5687568" cy="1097280"/>
          </a:xfrm>
          <a:prstGeom prst="roundRect">
            <a:avLst>
              <a:gd name="adj" fmla="val 7500"/>
            </a:avLst>
          </a:prstGeom>
          <a:solidFill>
            <a:srgbClr val="FFFFFF"/>
          </a:solidFill>
          <a:ln w="10160">
            <a:solidFill>
              <a:srgbClr val="D0DCE4"/>
            </a:solidFill>
            <a:prstDash val="solid"/>
          </a:ln>
        </p:spPr>
      </p:sp>
      <p:sp>
        <p:nvSpPr>
          <p:cNvPr id="33" name="Shape 31"/>
          <p:cNvSpPr/>
          <p:nvPr/>
        </p:nvSpPr>
        <p:spPr>
          <a:xfrm>
            <a:off x="6217920" y="3785616"/>
            <a:ext cx="749808" cy="1097280"/>
          </a:xfrm>
          <a:prstGeom prst="roundRect">
            <a:avLst>
              <a:gd name="adj" fmla="val 10976"/>
            </a:avLst>
          </a:prstGeom>
          <a:solidFill>
            <a:srgbClr val="1E8449"/>
          </a:solidFill>
          <a:ln/>
        </p:spPr>
      </p:sp>
      <p:sp>
        <p:nvSpPr>
          <p:cNvPr id="34" name="Text 32"/>
          <p:cNvSpPr/>
          <p:nvPr/>
        </p:nvSpPr>
        <p:spPr>
          <a:xfrm>
            <a:off x="6217920" y="4014216"/>
            <a:ext cx="749808" cy="59436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35" name="Text 33"/>
          <p:cNvSpPr/>
          <p:nvPr/>
        </p:nvSpPr>
        <p:spPr>
          <a:xfrm>
            <a:off x="7086600" y="3858768"/>
            <a:ext cx="470916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Mobile Layout</a:t>
            </a:r>
            <a:endParaRPr lang="en-US" sz="1300" dirty="0"/>
          </a:p>
        </p:txBody>
      </p:sp>
      <p:sp>
        <p:nvSpPr>
          <p:cNvPr id="36" name="Text 34"/>
          <p:cNvSpPr/>
          <p:nvPr/>
        </p:nvSpPr>
        <p:spPr>
          <a:xfrm>
            <a:off x="7086600" y="4206240"/>
            <a:ext cx="4709160" cy="566928"/>
          </a:xfrm>
          <a:prstGeom prst="rect">
            <a:avLst/>
          </a:prstGeom>
          <a:noFill/>
          <a:ln/>
        </p:spPr>
        <p:txBody>
          <a:bodyPr wrap="square" rtlCol="0" anchor="ctr"/>
          <a:lstStyle/>
          <a:p>
            <a:pPr indent="0" marL="0">
              <a:buNone/>
            </a:pPr>
            <a:r>
              <a:rPr lang="en-US" sz="1000" dirty="0">
                <a:solidFill>
                  <a:srgbClr val="3D5A6C"/>
                </a:solidFill>
                <a:latin typeface="Calibri" pitchFamily="34" charset="0"/>
                <a:ea typeface="Calibri" pitchFamily="34" charset="-122"/>
                <a:cs typeface="Calibri" pitchFamily="34" charset="-120"/>
              </a:rPr>
              <a:t>View → Mobile Layout. Drag your most important KPI cards to the top of the phone canvas. Your CMO might check the dashboard on their phone.</a:t>
            </a:r>
            <a:endParaRPr lang="en-US" sz="1000" dirty="0"/>
          </a:p>
        </p:txBody>
      </p:sp>
      <p:sp>
        <p:nvSpPr>
          <p:cNvPr id="37" name="Shape 35"/>
          <p:cNvSpPr/>
          <p:nvPr/>
        </p:nvSpPr>
        <p:spPr>
          <a:xfrm>
            <a:off x="320040" y="6126480"/>
            <a:ext cx="11475720" cy="594360"/>
          </a:xfrm>
          <a:prstGeom prst="roundRect">
            <a:avLst>
              <a:gd name="adj" fmla="val 12308"/>
            </a:avLst>
          </a:prstGeom>
          <a:solidFill>
            <a:srgbClr val="EDF6F9"/>
          </a:solidFill>
          <a:ln w="10160">
            <a:solidFill>
              <a:srgbClr val="006D77"/>
            </a:solidFill>
            <a:prstDash val="solid"/>
          </a:ln>
        </p:spPr>
      </p:sp>
      <p:sp>
        <p:nvSpPr>
          <p:cNvPr id="38" name="Text 36"/>
          <p:cNvSpPr/>
          <p:nvPr/>
        </p:nvSpPr>
        <p:spPr>
          <a:xfrm>
            <a:off x="475488" y="6181344"/>
            <a:ext cx="11109960" cy="475488"/>
          </a:xfrm>
          <a:prstGeom prst="rect">
            <a:avLst/>
          </a:prstGeom>
          <a:noFill/>
          <a:ln/>
        </p:spPr>
        <p:txBody>
          <a:bodyPr wrap="square" rtlCol="0" anchor="ctr"/>
          <a:lstStyle/>
          <a:p>
            <a:pPr indent="0" marL="0">
              <a:buNone/>
            </a:pPr>
            <a:r>
              <a:rPr lang="en-US" sz="1100" dirty="0">
                <a:solidFill>
                  <a:srgbClr val="1A2B4A"/>
                </a:solidFill>
                <a:latin typeface="Calibri" pitchFamily="34" charset="0"/>
                <a:ea typeface="Calibri" pitchFamily="34" charset="-122"/>
                <a:cs typeface="Calibri" pitchFamily="34" charset="-120"/>
              </a:rPr>
              <a:t>💾  Save the file:  Ctrl+S. Save as "HC_Patient_Dashboard.pbix" in a memorable location. You will need this file to publish to Power BI Service.</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AFA"/>
          </a:solidFill>
          <a:ln/>
        </p:spPr>
      </p:sp>
      <p:sp>
        <p:nvSpPr>
          <p:cNvPr id="3" name="Shape 1"/>
          <p:cNvSpPr/>
          <p:nvPr/>
        </p:nvSpPr>
        <p:spPr>
          <a:xfrm>
            <a:off x="0" y="0"/>
            <a:ext cx="82296" cy="6858000"/>
          </a:xfrm>
          <a:prstGeom prst="rect">
            <a:avLst/>
          </a:prstGeom>
          <a:solidFill>
            <a:srgbClr val="006D77"/>
          </a:solidFill>
          <a:ln/>
        </p:spPr>
      </p:sp>
      <p:sp>
        <p:nvSpPr>
          <p:cNvPr id="4" name="Shape 2"/>
          <p:cNvSpPr/>
          <p:nvPr/>
        </p:nvSpPr>
        <p:spPr>
          <a:xfrm>
            <a:off x="0" y="0"/>
            <a:ext cx="12161520" cy="1371600"/>
          </a:xfrm>
          <a:prstGeom prst="rect">
            <a:avLst/>
          </a:prstGeom>
          <a:solidFill>
            <a:srgbClr val="006D77"/>
          </a:solidFill>
          <a:ln/>
        </p:spPr>
      </p:sp>
      <p:sp>
        <p:nvSpPr>
          <p:cNvPr id="5" name="Text 3"/>
          <p:cNvSpPr/>
          <p:nvPr/>
        </p:nvSpPr>
        <p:spPr>
          <a:xfrm>
            <a:off x="320040" y="164592"/>
            <a:ext cx="1152144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STEP 15 — Publish to Power BI Service &amp; Final Verification</a:t>
            </a:r>
            <a:endParaRPr lang="en-US" sz="2400" dirty="0"/>
          </a:p>
        </p:txBody>
      </p:sp>
      <p:sp>
        <p:nvSpPr>
          <p:cNvPr id="6" name="Text 4"/>
          <p:cNvSpPr/>
          <p:nvPr/>
        </p:nvSpPr>
        <p:spPr>
          <a:xfrm>
            <a:off x="320040" y="822960"/>
            <a:ext cx="11521440" cy="411480"/>
          </a:xfrm>
          <a:prstGeom prst="rect">
            <a:avLst/>
          </a:prstGeom>
          <a:noFill/>
          <a:ln/>
        </p:spPr>
        <p:txBody>
          <a:bodyPr wrap="square" rtlCol="0" anchor="ctr"/>
          <a:lstStyle/>
          <a:p>
            <a:pPr indent="0" marL="0">
              <a:buNone/>
            </a:pPr>
            <a:r>
              <a:rPr lang="en-US" sz="1200" i="1" dirty="0">
                <a:solidFill>
                  <a:srgbClr val="83C5BE"/>
                </a:solidFill>
                <a:latin typeface="Calibri" pitchFamily="34" charset="0"/>
                <a:ea typeface="Calibri" pitchFamily="34" charset="-122"/>
                <a:cs typeface="Calibri" pitchFamily="34" charset="-120"/>
              </a:rPr>
              <a:t>The last step. Your dashboard goes live in the cloud.</a:t>
            </a:r>
            <a:endParaRPr lang="en-US" sz="1200" dirty="0"/>
          </a:p>
        </p:txBody>
      </p:sp>
      <p:sp>
        <p:nvSpPr>
          <p:cNvPr id="7" name="Shape 5"/>
          <p:cNvSpPr/>
          <p:nvPr/>
        </p:nvSpPr>
        <p:spPr>
          <a:xfrm>
            <a:off x="320040" y="1444752"/>
            <a:ext cx="11475720" cy="576072"/>
          </a:xfrm>
          <a:prstGeom prst="roundRect">
            <a:avLst>
              <a:gd name="adj" fmla="val 11111"/>
            </a:avLst>
          </a:prstGeom>
          <a:solidFill>
            <a:srgbClr val="FFFFFF"/>
          </a:solidFill>
          <a:ln w="10160">
            <a:solidFill>
              <a:srgbClr val="D0DCE4"/>
            </a:solidFill>
            <a:prstDash val="solid"/>
          </a:ln>
        </p:spPr>
      </p:sp>
      <p:sp>
        <p:nvSpPr>
          <p:cNvPr id="8" name="Shape 6"/>
          <p:cNvSpPr/>
          <p:nvPr/>
        </p:nvSpPr>
        <p:spPr>
          <a:xfrm>
            <a:off x="438912" y="1554480"/>
            <a:ext cx="438912" cy="438912"/>
          </a:xfrm>
          <a:prstGeom prst="ellipse">
            <a:avLst/>
          </a:prstGeom>
          <a:solidFill>
            <a:srgbClr val="006D77"/>
          </a:solidFill>
          <a:ln/>
        </p:spPr>
      </p:sp>
      <p:sp>
        <p:nvSpPr>
          <p:cNvPr id="9" name="Text 7"/>
          <p:cNvSpPr/>
          <p:nvPr/>
        </p:nvSpPr>
        <p:spPr>
          <a:xfrm>
            <a:off x="438912" y="1554480"/>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1005840" y="1490472"/>
            <a:ext cx="347472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Save your file one last time</a:t>
            </a:r>
            <a:endParaRPr lang="en-US" sz="1300" dirty="0"/>
          </a:p>
        </p:txBody>
      </p:sp>
      <p:sp>
        <p:nvSpPr>
          <p:cNvPr id="11" name="Text 9"/>
          <p:cNvSpPr/>
          <p:nvPr/>
        </p:nvSpPr>
        <p:spPr>
          <a:xfrm>
            <a:off x="1005840" y="1792224"/>
            <a:ext cx="10424160" cy="27432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Ctrl+S. Make sure the file is saved as HC_Patient_Dashboard.pbix.</a:t>
            </a:r>
            <a:endParaRPr lang="en-US" sz="1100" dirty="0"/>
          </a:p>
        </p:txBody>
      </p:sp>
      <p:sp>
        <p:nvSpPr>
          <p:cNvPr id="12" name="Shape 10"/>
          <p:cNvSpPr/>
          <p:nvPr/>
        </p:nvSpPr>
        <p:spPr>
          <a:xfrm>
            <a:off x="320040" y="2075688"/>
            <a:ext cx="11475720" cy="576072"/>
          </a:xfrm>
          <a:prstGeom prst="roundRect">
            <a:avLst>
              <a:gd name="adj" fmla="val 11111"/>
            </a:avLst>
          </a:prstGeom>
          <a:solidFill>
            <a:srgbClr val="FFFFFF"/>
          </a:solidFill>
          <a:ln w="10160">
            <a:solidFill>
              <a:srgbClr val="D0DCE4"/>
            </a:solidFill>
            <a:prstDash val="solid"/>
          </a:ln>
        </p:spPr>
      </p:sp>
      <p:sp>
        <p:nvSpPr>
          <p:cNvPr id="13" name="Shape 11"/>
          <p:cNvSpPr/>
          <p:nvPr/>
        </p:nvSpPr>
        <p:spPr>
          <a:xfrm>
            <a:off x="438912" y="2185416"/>
            <a:ext cx="438912" cy="438912"/>
          </a:xfrm>
          <a:prstGeom prst="ellipse">
            <a:avLst/>
          </a:prstGeom>
          <a:solidFill>
            <a:srgbClr val="006D77"/>
          </a:solidFill>
          <a:ln/>
        </p:spPr>
      </p:sp>
      <p:sp>
        <p:nvSpPr>
          <p:cNvPr id="14" name="Text 12"/>
          <p:cNvSpPr/>
          <p:nvPr/>
        </p:nvSpPr>
        <p:spPr>
          <a:xfrm>
            <a:off x="438912" y="2185416"/>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1005840" y="2121408"/>
            <a:ext cx="347472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Sign in to Power BI Desktop</a:t>
            </a:r>
            <a:endParaRPr lang="en-US" sz="1300" dirty="0"/>
          </a:p>
        </p:txBody>
      </p:sp>
      <p:sp>
        <p:nvSpPr>
          <p:cNvPr id="16" name="Text 14"/>
          <p:cNvSpPr/>
          <p:nvPr/>
        </p:nvSpPr>
        <p:spPr>
          <a:xfrm>
            <a:off x="1005840" y="2423160"/>
            <a:ext cx="10424160" cy="27432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Top-right corner → Sign In → enter your Power BI account email and password. Wait for your name to appear.</a:t>
            </a:r>
            <a:endParaRPr lang="en-US" sz="1100" dirty="0"/>
          </a:p>
        </p:txBody>
      </p:sp>
      <p:sp>
        <p:nvSpPr>
          <p:cNvPr id="17" name="Shape 15"/>
          <p:cNvSpPr/>
          <p:nvPr/>
        </p:nvSpPr>
        <p:spPr>
          <a:xfrm>
            <a:off x="320040" y="2706624"/>
            <a:ext cx="11475720" cy="576072"/>
          </a:xfrm>
          <a:prstGeom prst="roundRect">
            <a:avLst>
              <a:gd name="adj" fmla="val 11111"/>
            </a:avLst>
          </a:prstGeom>
          <a:solidFill>
            <a:srgbClr val="FFFFFF"/>
          </a:solidFill>
          <a:ln w="10160">
            <a:solidFill>
              <a:srgbClr val="D0DCE4"/>
            </a:solidFill>
            <a:prstDash val="solid"/>
          </a:ln>
        </p:spPr>
      </p:sp>
      <p:sp>
        <p:nvSpPr>
          <p:cNvPr id="18" name="Shape 16"/>
          <p:cNvSpPr/>
          <p:nvPr/>
        </p:nvSpPr>
        <p:spPr>
          <a:xfrm>
            <a:off x="438912" y="2816352"/>
            <a:ext cx="438912" cy="438912"/>
          </a:xfrm>
          <a:prstGeom prst="ellipse">
            <a:avLst/>
          </a:prstGeom>
          <a:solidFill>
            <a:srgbClr val="006D77"/>
          </a:solidFill>
          <a:ln/>
        </p:spPr>
      </p:sp>
      <p:sp>
        <p:nvSpPr>
          <p:cNvPr id="19" name="Text 17"/>
          <p:cNvSpPr/>
          <p:nvPr/>
        </p:nvSpPr>
        <p:spPr>
          <a:xfrm>
            <a:off x="438912" y="2816352"/>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1005840" y="2752344"/>
            <a:ext cx="347472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Click Publish</a:t>
            </a:r>
            <a:endParaRPr lang="en-US" sz="1300" dirty="0"/>
          </a:p>
        </p:txBody>
      </p:sp>
      <p:sp>
        <p:nvSpPr>
          <p:cNvPr id="21" name="Text 19"/>
          <p:cNvSpPr/>
          <p:nvPr/>
        </p:nvSpPr>
        <p:spPr>
          <a:xfrm>
            <a:off x="1005840" y="3054096"/>
            <a:ext cx="10424160" cy="27432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Home ribbon → "Publish" button. A dialog asks: "Where do you want to publish?" → select "My Workspace" → click Select.</a:t>
            </a:r>
            <a:endParaRPr lang="en-US" sz="1100" dirty="0"/>
          </a:p>
        </p:txBody>
      </p:sp>
      <p:sp>
        <p:nvSpPr>
          <p:cNvPr id="22" name="Shape 20"/>
          <p:cNvSpPr/>
          <p:nvPr/>
        </p:nvSpPr>
        <p:spPr>
          <a:xfrm>
            <a:off x="320040" y="3337560"/>
            <a:ext cx="11475720" cy="576072"/>
          </a:xfrm>
          <a:prstGeom prst="roundRect">
            <a:avLst>
              <a:gd name="adj" fmla="val 11111"/>
            </a:avLst>
          </a:prstGeom>
          <a:solidFill>
            <a:srgbClr val="FFFFFF"/>
          </a:solidFill>
          <a:ln w="10160">
            <a:solidFill>
              <a:srgbClr val="D0DCE4"/>
            </a:solidFill>
            <a:prstDash val="solid"/>
          </a:ln>
        </p:spPr>
      </p:sp>
      <p:sp>
        <p:nvSpPr>
          <p:cNvPr id="23" name="Shape 21"/>
          <p:cNvSpPr/>
          <p:nvPr/>
        </p:nvSpPr>
        <p:spPr>
          <a:xfrm>
            <a:off x="438912" y="3447288"/>
            <a:ext cx="438912" cy="438912"/>
          </a:xfrm>
          <a:prstGeom prst="ellipse">
            <a:avLst/>
          </a:prstGeom>
          <a:solidFill>
            <a:srgbClr val="008891"/>
          </a:solidFill>
          <a:ln/>
        </p:spPr>
      </p:sp>
      <p:sp>
        <p:nvSpPr>
          <p:cNvPr id="24" name="Text 22"/>
          <p:cNvSpPr/>
          <p:nvPr/>
        </p:nvSpPr>
        <p:spPr>
          <a:xfrm>
            <a:off x="438912" y="3447288"/>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1005840" y="3383280"/>
            <a:ext cx="347472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Wait for upload</a:t>
            </a:r>
            <a:endParaRPr lang="en-US" sz="1300" dirty="0"/>
          </a:p>
        </p:txBody>
      </p:sp>
      <p:sp>
        <p:nvSpPr>
          <p:cNvPr id="26" name="Text 24"/>
          <p:cNvSpPr/>
          <p:nvPr/>
        </p:nvSpPr>
        <p:spPr>
          <a:xfrm>
            <a:off x="1005840" y="3685032"/>
            <a:ext cx="10424160" cy="27432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A progress bar appears. It uploads the Semantic Model (data + measures) and the Report (visuals) separately. Takes 30–90 seconds.</a:t>
            </a:r>
            <a:endParaRPr lang="en-US" sz="1100" dirty="0"/>
          </a:p>
        </p:txBody>
      </p:sp>
      <p:sp>
        <p:nvSpPr>
          <p:cNvPr id="27" name="Shape 25"/>
          <p:cNvSpPr/>
          <p:nvPr/>
        </p:nvSpPr>
        <p:spPr>
          <a:xfrm>
            <a:off x="320040" y="3968496"/>
            <a:ext cx="11475720" cy="576072"/>
          </a:xfrm>
          <a:prstGeom prst="roundRect">
            <a:avLst>
              <a:gd name="adj" fmla="val 11111"/>
            </a:avLst>
          </a:prstGeom>
          <a:solidFill>
            <a:srgbClr val="FFFFFF"/>
          </a:solidFill>
          <a:ln w="10160">
            <a:solidFill>
              <a:srgbClr val="D0DCE4"/>
            </a:solidFill>
            <a:prstDash val="solid"/>
          </a:ln>
        </p:spPr>
      </p:sp>
      <p:sp>
        <p:nvSpPr>
          <p:cNvPr id="28" name="Shape 26"/>
          <p:cNvSpPr/>
          <p:nvPr/>
        </p:nvSpPr>
        <p:spPr>
          <a:xfrm>
            <a:off x="438912" y="4078224"/>
            <a:ext cx="438912" cy="438912"/>
          </a:xfrm>
          <a:prstGeom prst="ellipse">
            <a:avLst/>
          </a:prstGeom>
          <a:solidFill>
            <a:srgbClr val="008891"/>
          </a:solidFill>
          <a:ln/>
        </p:spPr>
      </p:sp>
      <p:sp>
        <p:nvSpPr>
          <p:cNvPr id="29" name="Text 27"/>
          <p:cNvSpPr/>
          <p:nvPr/>
        </p:nvSpPr>
        <p:spPr>
          <a:xfrm>
            <a:off x="438912" y="4078224"/>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1005840" y="4014216"/>
            <a:ext cx="347472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Click the link to open</a:t>
            </a:r>
            <a:endParaRPr lang="en-US" sz="1300" dirty="0"/>
          </a:p>
        </p:txBody>
      </p:sp>
      <p:sp>
        <p:nvSpPr>
          <p:cNvPr id="31" name="Text 29"/>
          <p:cNvSpPr/>
          <p:nvPr/>
        </p:nvSpPr>
        <p:spPr>
          <a:xfrm>
            <a:off x="1005840" y="4315968"/>
            <a:ext cx="10424160" cy="27432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A success message appears: "Success! Open HC_Patient_Dashboard.pbix in Power BI." Click the link. Your browser opens the report.</a:t>
            </a:r>
            <a:endParaRPr lang="en-US" sz="1100" dirty="0"/>
          </a:p>
        </p:txBody>
      </p:sp>
      <p:sp>
        <p:nvSpPr>
          <p:cNvPr id="32" name="Shape 30"/>
          <p:cNvSpPr/>
          <p:nvPr/>
        </p:nvSpPr>
        <p:spPr>
          <a:xfrm>
            <a:off x="320040" y="4599432"/>
            <a:ext cx="11475720" cy="576072"/>
          </a:xfrm>
          <a:prstGeom prst="roundRect">
            <a:avLst>
              <a:gd name="adj" fmla="val 11111"/>
            </a:avLst>
          </a:prstGeom>
          <a:solidFill>
            <a:srgbClr val="FFFFFF"/>
          </a:solidFill>
          <a:ln w="10160">
            <a:solidFill>
              <a:srgbClr val="D0DCE4"/>
            </a:solidFill>
            <a:prstDash val="solid"/>
          </a:ln>
        </p:spPr>
      </p:sp>
      <p:sp>
        <p:nvSpPr>
          <p:cNvPr id="33" name="Shape 31"/>
          <p:cNvSpPr/>
          <p:nvPr/>
        </p:nvSpPr>
        <p:spPr>
          <a:xfrm>
            <a:off x="438912" y="4709160"/>
            <a:ext cx="438912" cy="438912"/>
          </a:xfrm>
          <a:prstGeom prst="ellipse">
            <a:avLst/>
          </a:prstGeom>
          <a:solidFill>
            <a:srgbClr val="E29F18"/>
          </a:solidFill>
          <a:ln/>
        </p:spPr>
      </p:sp>
      <p:sp>
        <p:nvSpPr>
          <p:cNvPr id="34" name="Text 32"/>
          <p:cNvSpPr/>
          <p:nvPr/>
        </p:nvSpPr>
        <p:spPr>
          <a:xfrm>
            <a:off x="438912" y="4709160"/>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5" name="Text 33"/>
          <p:cNvSpPr/>
          <p:nvPr/>
        </p:nvSpPr>
        <p:spPr>
          <a:xfrm>
            <a:off x="1005840" y="4645152"/>
            <a:ext cx="347472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Verify all 4 pages in browser</a:t>
            </a:r>
            <a:endParaRPr lang="en-US" sz="1300" dirty="0"/>
          </a:p>
        </p:txBody>
      </p:sp>
      <p:sp>
        <p:nvSpPr>
          <p:cNvPr id="36" name="Text 34"/>
          <p:cNvSpPr/>
          <p:nvPr/>
        </p:nvSpPr>
        <p:spPr>
          <a:xfrm>
            <a:off x="1005840" y="4946904"/>
            <a:ext cx="10424160" cy="27432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Click through all 4 pages. All visuals should render. Try clicking a slicer — other visuals should filter. Try right-clicking a Doctor → Drill through.</a:t>
            </a:r>
            <a:endParaRPr lang="en-US" sz="1100" dirty="0"/>
          </a:p>
        </p:txBody>
      </p:sp>
      <p:sp>
        <p:nvSpPr>
          <p:cNvPr id="37" name="Shape 35"/>
          <p:cNvSpPr/>
          <p:nvPr/>
        </p:nvSpPr>
        <p:spPr>
          <a:xfrm>
            <a:off x="320040" y="5230368"/>
            <a:ext cx="11475720" cy="576072"/>
          </a:xfrm>
          <a:prstGeom prst="roundRect">
            <a:avLst>
              <a:gd name="adj" fmla="val 11111"/>
            </a:avLst>
          </a:prstGeom>
          <a:solidFill>
            <a:srgbClr val="FFFFFF"/>
          </a:solidFill>
          <a:ln w="10160">
            <a:solidFill>
              <a:srgbClr val="D0DCE4"/>
            </a:solidFill>
            <a:prstDash val="solid"/>
          </a:ln>
        </p:spPr>
      </p:sp>
      <p:sp>
        <p:nvSpPr>
          <p:cNvPr id="38" name="Shape 36"/>
          <p:cNvSpPr/>
          <p:nvPr/>
        </p:nvSpPr>
        <p:spPr>
          <a:xfrm>
            <a:off x="438912" y="5340096"/>
            <a:ext cx="438912" cy="438912"/>
          </a:xfrm>
          <a:prstGeom prst="ellipse">
            <a:avLst/>
          </a:prstGeom>
          <a:solidFill>
            <a:srgbClr val="E29F18"/>
          </a:solidFill>
          <a:ln/>
        </p:spPr>
      </p:sp>
      <p:sp>
        <p:nvSpPr>
          <p:cNvPr id="39" name="Text 37"/>
          <p:cNvSpPr/>
          <p:nvPr/>
        </p:nvSpPr>
        <p:spPr>
          <a:xfrm>
            <a:off x="438912" y="5340096"/>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0" name="Text 38"/>
          <p:cNvSpPr/>
          <p:nvPr/>
        </p:nvSpPr>
        <p:spPr>
          <a:xfrm>
            <a:off x="1005840" y="5276088"/>
            <a:ext cx="347472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Pin one visual to a Dashboard</a:t>
            </a:r>
            <a:endParaRPr lang="en-US" sz="1300" dirty="0"/>
          </a:p>
        </p:txBody>
      </p:sp>
      <p:sp>
        <p:nvSpPr>
          <p:cNvPr id="41" name="Text 39"/>
          <p:cNvSpPr/>
          <p:nvPr/>
        </p:nvSpPr>
        <p:spPr>
          <a:xfrm>
            <a:off x="1005840" y="5577840"/>
            <a:ext cx="10424160" cy="27432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On Page 1, hover over the Total Admissions KPI card → pin icon (📌) appears → click it → "New Dashboard" → name it "CMO Executive Dashboard" → Pin.</a:t>
            </a:r>
            <a:endParaRPr lang="en-US" sz="1100" dirty="0"/>
          </a:p>
        </p:txBody>
      </p:sp>
      <p:sp>
        <p:nvSpPr>
          <p:cNvPr id="42" name="Shape 40"/>
          <p:cNvSpPr/>
          <p:nvPr/>
        </p:nvSpPr>
        <p:spPr>
          <a:xfrm>
            <a:off x="320040" y="5861304"/>
            <a:ext cx="11475720" cy="576072"/>
          </a:xfrm>
          <a:prstGeom prst="roundRect">
            <a:avLst>
              <a:gd name="adj" fmla="val 11111"/>
            </a:avLst>
          </a:prstGeom>
          <a:solidFill>
            <a:srgbClr val="FFFFFF"/>
          </a:solidFill>
          <a:ln w="10160">
            <a:solidFill>
              <a:srgbClr val="D0DCE4"/>
            </a:solidFill>
            <a:prstDash val="solid"/>
          </a:ln>
        </p:spPr>
      </p:sp>
      <p:sp>
        <p:nvSpPr>
          <p:cNvPr id="43" name="Shape 41"/>
          <p:cNvSpPr/>
          <p:nvPr/>
        </p:nvSpPr>
        <p:spPr>
          <a:xfrm>
            <a:off x="438912" y="5971032"/>
            <a:ext cx="438912" cy="438912"/>
          </a:xfrm>
          <a:prstGeom prst="ellipse">
            <a:avLst/>
          </a:prstGeom>
          <a:solidFill>
            <a:srgbClr val="1E8449"/>
          </a:solidFill>
          <a:ln/>
        </p:spPr>
      </p:sp>
      <p:sp>
        <p:nvSpPr>
          <p:cNvPr id="44" name="Text 42"/>
          <p:cNvSpPr/>
          <p:nvPr/>
        </p:nvSpPr>
        <p:spPr>
          <a:xfrm>
            <a:off x="438912" y="5971032"/>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5" name="Text 43"/>
          <p:cNvSpPr/>
          <p:nvPr/>
        </p:nvSpPr>
        <p:spPr>
          <a:xfrm>
            <a:off x="1005840" y="5907024"/>
            <a:ext cx="3474720" cy="320040"/>
          </a:xfrm>
          <a:prstGeom prst="rect">
            <a:avLst/>
          </a:prstGeom>
          <a:noFill/>
          <a:ln/>
        </p:spPr>
        <p:txBody>
          <a:bodyPr wrap="square" rtlCol="0" anchor="ctr"/>
          <a:lstStyle/>
          <a:p>
            <a:pPr indent="0" marL="0">
              <a:buNone/>
            </a:pPr>
            <a:r>
              <a:rPr lang="en-US" sz="1300" b="1" dirty="0">
                <a:solidFill>
                  <a:srgbClr val="1A2B4A"/>
                </a:solidFill>
                <a:latin typeface="Calibri" pitchFamily="34" charset="0"/>
                <a:ea typeface="Calibri" pitchFamily="34" charset="-122"/>
                <a:cs typeface="Calibri" pitchFamily="34" charset="-120"/>
              </a:rPr>
              <a:t>Share the report link</a:t>
            </a:r>
            <a:endParaRPr lang="en-US" sz="1300" dirty="0"/>
          </a:p>
        </p:txBody>
      </p:sp>
      <p:sp>
        <p:nvSpPr>
          <p:cNvPr id="46" name="Text 44"/>
          <p:cNvSpPr/>
          <p:nvPr/>
        </p:nvSpPr>
        <p:spPr>
          <a:xfrm>
            <a:off x="1005840" y="6208776"/>
            <a:ext cx="10424160" cy="27432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Top ribbon in browser → Share → "Copy link". Anyone with a Power BI Pro account at your organization can now view it.</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5FAFA"/>
          </a:solidFill>
          <a:ln/>
        </p:spPr>
      </p:sp>
      <p:sp>
        <p:nvSpPr>
          <p:cNvPr id="3" name="Shape 1"/>
          <p:cNvSpPr/>
          <p:nvPr/>
        </p:nvSpPr>
        <p:spPr>
          <a:xfrm>
            <a:off x="0" y="0"/>
            <a:ext cx="82296" cy="6858000"/>
          </a:xfrm>
          <a:prstGeom prst="rect">
            <a:avLst/>
          </a:prstGeom>
          <a:solidFill>
            <a:srgbClr val="006D77"/>
          </a:solidFill>
          <a:ln/>
        </p:spPr>
      </p:sp>
      <p:sp>
        <p:nvSpPr>
          <p:cNvPr id="4" name="Shape 2"/>
          <p:cNvSpPr/>
          <p:nvPr/>
        </p:nvSpPr>
        <p:spPr>
          <a:xfrm>
            <a:off x="0" y="0"/>
            <a:ext cx="12161520" cy="1371600"/>
          </a:xfrm>
          <a:prstGeom prst="rect">
            <a:avLst/>
          </a:prstGeom>
          <a:solidFill>
            <a:srgbClr val="006D77"/>
          </a:solidFill>
          <a:ln/>
        </p:spPr>
      </p:sp>
      <p:sp>
        <p:nvSpPr>
          <p:cNvPr id="5" name="Text 3"/>
          <p:cNvSpPr/>
          <p:nvPr/>
        </p:nvSpPr>
        <p:spPr>
          <a:xfrm>
            <a:off x="320040" y="164592"/>
            <a:ext cx="1152144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What Your Completed Dashboard Delivers</a:t>
            </a:r>
            <a:endParaRPr lang="en-US" sz="2400" dirty="0"/>
          </a:p>
        </p:txBody>
      </p:sp>
      <p:sp>
        <p:nvSpPr>
          <p:cNvPr id="6" name="Text 4"/>
          <p:cNvSpPr/>
          <p:nvPr/>
        </p:nvSpPr>
        <p:spPr>
          <a:xfrm>
            <a:off x="320040" y="822960"/>
            <a:ext cx="11521440" cy="411480"/>
          </a:xfrm>
          <a:prstGeom prst="rect">
            <a:avLst/>
          </a:prstGeom>
          <a:noFill/>
          <a:ln/>
        </p:spPr>
        <p:txBody>
          <a:bodyPr wrap="square" rtlCol="0" anchor="ctr"/>
          <a:lstStyle/>
          <a:p>
            <a:pPr indent="0" marL="0">
              <a:buNone/>
            </a:pPr>
            <a:r>
              <a:rPr lang="en-US" sz="1200" i="1" dirty="0">
                <a:solidFill>
                  <a:srgbClr val="83C5BE"/>
                </a:solidFill>
                <a:latin typeface="Calibri" pitchFamily="34" charset="0"/>
                <a:ea typeface="Calibri" pitchFamily="34" charset="-122"/>
                <a:cs typeface="Calibri" pitchFamily="34" charset="-120"/>
              </a:rPr>
              <a:t>Summary of all 4 pages and what business question each answers.</a:t>
            </a:r>
            <a:endParaRPr lang="en-US" sz="1200" dirty="0"/>
          </a:p>
        </p:txBody>
      </p:sp>
      <p:sp>
        <p:nvSpPr>
          <p:cNvPr id="7" name="Shape 5"/>
          <p:cNvSpPr/>
          <p:nvPr/>
        </p:nvSpPr>
        <p:spPr>
          <a:xfrm>
            <a:off x="320040" y="1463040"/>
            <a:ext cx="11475720" cy="1170432"/>
          </a:xfrm>
          <a:prstGeom prst="roundRect">
            <a:avLst>
              <a:gd name="adj" fmla="val 7031"/>
            </a:avLst>
          </a:prstGeom>
          <a:solidFill>
            <a:srgbClr val="FFFFFF"/>
          </a:solidFill>
          <a:ln w="10160">
            <a:solidFill>
              <a:srgbClr val="D0DCE4"/>
            </a:solidFill>
            <a:prstDash val="solid"/>
          </a:ln>
        </p:spPr>
      </p:sp>
      <p:sp>
        <p:nvSpPr>
          <p:cNvPr id="8" name="Shape 6"/>
          <p:cNvSpPr/>
          <p:nvPr/>
        </p:nvSpPr>
        <p:spPr>
          <a:xfrm>
            <a:off x="320040" y="1463040"/>
            <a:ext cx="1463040" cy="1170432"/>
          </a:xfrm>
          <a:prstGeom prst="roundRect">
            <a:avLst>
              <a:gd name="adj" fmla="val 7031"/>
            </a:avLst>
          </a:prstGeom>
          <a:solidFill>
            <a:srgbClr val="006D77"/>
          </a:solidFill>
          <a:ln/>
        </p:spPr>
      </p:sp>
      <p:sp>
        <p:nvSpPr>
          <p:cNvPr id="9" name="Text 7"/>
          <p:cNvSpPr/>
          <p:nvPr/>
        </p:nvSpPr>
        <p:spPr>
          <a:xfrm>
            <a:off x="320040" y="1554480"/>
            <a:ext cx="1463040" cy="384048"/>
          </a:xfrm>
          <a:prstGeom prst="rect">
            <a:avLst/>
          </a:prstGeom>
          <a:noFill/>
          <a:ln/>
        </p:spPr>
        <p:txBody>
          <a:bodyPr wrap="square"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PAGE 1</a:t>
            </a:r>
            <a:endParaRPr lang="en-US" sz="1200" dirty="0"/>
          </a:p>
        </p:txBody>
      </p:sp>
      <p:sp>
        <p:nvSpPr>
          <p:cNvPr id="10" name="Text 8"/>
          <p:cNvSpPr/>
          <p:nvPr/>
        </p:nvSpPr>
        <p:spPr>
          <a:xfrm>
            <a:off x="320040" y="1938528"/>
            <a:ext cx="1463040" cy="502920"/>
          </a:xfrm>
          <a:prstGeom prst="rect">
            <a:avLst/>
          </a:prstGeom>
          <a:noFill/>
          <a:ln/>
        </p:spPr>
        <p:txBody>
          <a:bodyPr wrap="square" rtlCol="0" anchor="ctr"/>
          <a:lstStyle/>
          <a:p>
            <a:pPr algn="ctr" indent="0" marL="0">
              <a:buNone/>
            </a:pPr>
            <a:r>
              <a:rPr lang="en-US" sz="1300" b="1" dirty="0">
                <a:solidFill>
                  <a:srgbClr val="D0F0F0"/>
                </a:solidFill>
                <a:latin typeface="Calibri" pitchFamily="34" charset="0"/>
                <a:ea typeface="Calibri" pitchFamily="34" charset="-122"/>
                <a:cs typeface="Calibri" pitchFamily="34" charset="-120"/>
              </a:rPr>
              <a:t>Executive Overview</a:t>
            </a:r>
            <a:endParaRPr lang="en-US" sz="1300" dirty="0"/>
          </a:p>
        </p:txBody>
      </p:sp>
      <p:sp>
        <p:nvSpPr>
          <p:cNvPr id="11" name="Text 9"/>
          <p:cNvSpPr/>
          <p:nvPr/>
        </p:nvSpPr>
        <p:spPr>
          <a:xfrm>
            <a:off x="1920240" y="1554480"/>
            <a:ext cx="9692640" cy="384048"/>
          </a:xfrm>
          <a:prstGeom prst="rect">
            <a:avLst/>
          </a:prstGeom>
          <a:noFill/>
          <a:ln/>
        </p:spPr>
        <p:txBody>
          <a:bodyPr wrap="square" rtlCol="0" anchor="ctr"/>
          <a:lstStyle/>
          <a:p>
            <a:pPr indent="0" marL="0">
              <a:buNone/>
            </a:pPr>
            <a:r>
              <a:rPr lang="en-US" sz="1100" b="1" dirty="0">
                <a:solidFill>
                  <a:srgbClr val="1A2B4A"/>
                </a:solidFill>
                <a:latin typeface="Calibri" pitchFamily="34" charset="0"/>
                <a:ea typeface="Calibri" pitchFamily="34" charset="-122"/>
                <a:cs typeface="Calibri" pitchFamily="34" charset="-120"/>
              </a:rPr>
              <a:t>Answers: Q1 — Monthly admissions trend, hospital rankings, admission types</a:t>
            </a:r>
            <a:endParaRPr lang="en-US" sz="1100" dirty="0"/>
          </a:p>
        </p:txBody>
      </p:sp>
      <p:sp>
        <p:nvSpPr>
          <p:cNvPr id="12" name="Text 10"/>
          <p:cNvSpPr/>
          <p:nvPr/>
        </p:nvSpPr>
        <p:spPr>
          <a:xfrm>
            <a:off x="1920240" y="1993392"/>
            <a:ext cx="9692640" cy="50292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Visuals: 4 KPI cards + Line chart + Donut + Bar chart + 3 Slicers</a:t>
            </a:r>
            <a:endParaRPr lang="en-US" sz="1100" dirty="0"/>
          </a:p>
        </p:txBody>
      </p:sp>
      <p:sp>
        <p:nvSpPr>
          <p:cNvPr id="13" name="Shape 11"/>
          <p:cNvSpPr/>
          <p:nvPr/>
        </p:nvSpPr>
        <p:spPr>
          <a:xfrm>
            <a:off x="320040" y="2724912"/>
            <a:ext cx="11475720" cy="1170432"/>
          </a:xfrm>
          <a:prstGeom prst="roundRect">
            <a:avLst>
              <a:gd name="adj" fmla="val 7031"/>
            </a:avLst>
          </a:prstGeom>
          <a:solidFill>
            <a:srgbClr val="FFFFFF"/>
          </a:solidFill>
          <a:ln w="10160">
            <a:solidFill>
              <a:srgbClr val="D0DCE4"/>
            </a:solidFill>
            <a:prstDash val="solid"/>
          </a:ln>
        </p:spPr>
      </p:sp>
      <p:sp>
        <p:nvSpPr>
          <p:cNvPr id="14" name="Shape 12"/>
          <p:cNvSpPr/>
          <p:nvPr/>
        </p:nvSpPr>
        <p:spPr>
          <a:xfrm>
            <a:off x="320040" y="2724912"/>
            <a:ext cx="1463040" cy="1170432"/>
          </a:xfrm>
          <a:prstGeom prst="roundRect">
            <a:avLst>
              <a:gd name="adj" fmla="val 7031"/>
            </a:avLst>
          </a:prstGeom>
          <a:solidFill>
            <a:srgbClr val="008891"/>
          </a:solidFill>
          <a:ln/>
        </p:spPr>
      </p:sp>
      <p:sp>
        <p:nvSpPr>
          <p:cNvPr id="15" name="Text 13"/>
          <p:cNvSpPr/>
          <p:nvPr/>
        </p:nvSpPr>
        <p:spPr>
          <a:xfrm>
            <a:off x="320040" y="2816352"/>
            <a:ext cx="1463040" cy="384048"/>
          </a:xfrm>
          <a:prstGeom prst="rect">
            <a:avLst/>
          </a:prstGeom>
          <a:noFill/>
          <a:ln/>
        </p:spPr>
        <p:txBody>
          <a:bodyPr wrap="square"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PAGE 2</a:t>
            </a:r>
            <a:endParaRPr lang="en-US" sz="1200" dirty="0"/>
          </a:p>
        </p:txBody>
      </p:sp>
      <p:sp>
        <p:nvSpPr>
          <p:cNvPr id="16" name="Text 14"/>
          <p:cNvSpPr/>
          <p:nvPr/>
        </p:nvSpPr>
        <p:spPr>
          <a:xfrm>
            <a:off x="320040" y="3200400"/>
            <a:ext cx="1463040" cy="502920"/>
          </a:xfrm>
          <a:prstGeom prst="rect">
            <a:avLst/>
          </a:prstGeom>
          <a:noFill/>
          <a:ln/>
        </p:spPr>
        <p:txBody>
          <a:bodyPr wrap="square" rtlCol="0" anchor="ctr"/>
          <a:lstStyle/>
          <a:p>
            <a:pPr algn="ctr" indent="0" marL="0">
              <a:buNone/>
            </a:pPr>
            <a:r>
              <a:rPr lang="en-US" sz="1300" b="1" dirty="0">
                <a:solidFill>
                  <a:srgbClr val="D0F0F0"/>
                </a:solidFill>
                <a:latin typeface="Calibri" pitchFamily="34" charset="0"/>
                <a:ea typeface="Calibri" pitchFamily="34" charset="-122"/>
                <a:cs typeface="Calibri" pitchFamily="34" charset="-120"/>
              </a:rPr>
              <a:t>Department Analysis</a:t>
            </a:r>
            <a:endParaRPr lang="en-US" sz="1300" dirty="0"/>
          </a:p>
        </p:txBody>
      </p:sp>
      <p:sp>
        <p:nvSpPr>
          <p:cNvPr id="17" name="Text 15"/>
          <p:cNvSpPr/>
          <p:nvPr/>
        </p:nvSpPr>
        <p:spPr>
          <a:xfrm>
            <a:off x="1920240" y="2816352"/>
            <a:ext cx="9692640" cy="384048"/>
          </a:xfrm>
          <a:prstGeom prst="rect">
            <a:avLst/>
          </a:prstGeom>
          <a:noFill/>
          <a:ln/>
        </p:spPr>
        <p:txBody>
          <a:bodyPr wrap="square" rtlCol="0" anchor="ctr"/>
          <a:lstStyle/>
          <a:p>
            <a:pPr indent="0" marL="0">
              <a:buNone/>
            </a:pPr>
            <a:r>
              <a:rPr lang="en-US" sz="1100" b="1" dirty="0">
                <a:solidFill>
                  <a:srgbClr val="1A2B4A"/>
                </a:solidFill>
                <a:latin typeface="Calibri" pitchFamily="34" charset="0"/>
                <a:ea typeface="Calibri" pitchFamily="34" charset="-122"/>
                <a:cs typeface="Calibri" pitchFamily="34" charset="-120"/>
              </a:rPr>
              <a:t>Answers: Q1 &amp; Q2 — Which departments are busiest and what is average length of stay</a:t>
            </a:r>
            <a:endParaRPr lang="en-US" sz="1100" dirty="0"/>
          </a:p>
        </p:txBody>
      </p:sp>
      <p:sp>
        <p:nvSpPr>
          <p:cNvPr id="18" name="Text 16"/>
          <p:cNvSpPr/>
          <p:nvPr/>
        </p:nvSpPr>
        <p:spPr>
          <a:xfrm>
            <a:off x="1920240" y="3255264"/>
            <a:ext cx="9692640" cy="50292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Visuals: Column chart + Bar chart + Bar chart (doctors) + Matrix + Slicer</a:t>
            </a:r>
            <a:endParaRPr lang="en-US" sz="1100" dirty="0"/>
          </a:p>
        </p:txBody>
      </p:sp>
      <p:sp>
        <p:nvSpPr>
          <p:cNvPr id="19" name="Shape 17"/>
          <p:cNvSpPr/>
          <p:nvPr/>
        </p:nvSpPr>
        <p:spPr>
          <a:xfrm>
            <a:off x="320040" y="3986784"/>
            <a:ext cx="11475720" cy="1170432"/>
          </a:xfrm>
          <a:prstGeom prst="roundRect">
            <a:avLst>
              <a:gd name="adj" fmla="val 7031"/>
            </a:avLst>
          </a:prstGeom>
          <a:solidFill>
            <a:srgbClr val="FFFFFF"/>
          </a:solidFill>
          <a:ln w="10160">
            <a:solidFill>
              <a:srgbClr val="D0DCE4"/>
            </a:solidFill>
            <a:prstDash val="solid"/>
          </a:ln>
        </p:spPr>
      </p:sp>
      <p:sp>
        <p:nvSpPr>
          <p:cNvPr id="20" name="Shape 18"/>
          <p:cNvSpPr/>
          <p:nvPr/>
        </p:nvSpPr>
        <p:spPr>
          <a:xfrm>
            <a:off x="320040" y="3986784"/>
            <a:ext cx="1463040" cy="1170432"/>
          </a:xfrm>
          <a:prstGeom prst="roundRect">
            <a:avLst>
              <a:gd name="adj" fmla="val 7031"/>
            </a:avLst>
          </a:prstGeom>
          <a:solidFill>
            <a:srgbClr val="E29F18"/>
          </a:solidFill>
          <a:ln/>
        </p:spPr>
      </p:sp>
      <p:sp>
        <p:nvSpPr>
          <p:cNvPr id="21" name="Text 19"/>
          <p:cNvSpPr/>
          <p:nvPr/>
        </p:nvSpPr>
        <p:spPr>
          <a:xfrm>
            <a:off x="320040" y="4078224"/>
            <a:ext cx="1463040" cy="384048"/>
          </a:xfrm>
          <a:prstGeom prst="rect">
            <a:avLst/>
          </a:prstGeom>
          <a:noFill/>
          <a:ln/>
        </p:spPr>
        <p:txBody>
          <a:bodyPr wrap="square"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PAGE 3</a:t>
            </a:r>
            <a:endParaRPr lang="en-US" sz="1200" dirty="0"/>
          </a:p>
        </p:txBody>
      </p:sp>
      <p:sp>
        <p:nvSpPr>
          <p:cNvPr id="22" name="Text 20"/>
          <p:cNvSpPr/>
          <p:nvPr/>
        </p:nvSpPr>
        <p:spPr>
          <a:xfrm>
            <a:off x="320040" y="4462272"/>
            <a:ext cx="1463040" cy="502920"/>
          </a:xfrm>
          <a:prstGeom prst="rect">
            <a:avLst/>
          </a:prstGeom>
          <a:noFill/>
          <a:ln/>
        </p:spPr>
        <p:txBody>
          <a:bodyPr wrap="square" rtlCol="0" anchor="ctr"/>
          <a:lstStyle/>
          <a:p>
            <a:pPr algn="ctr" indent="0" marL="0">
              <a:buNone/>
            </a:pPr>
            <a:r>
              <a:rPr lang="en-US" sz="1300" b="1" dirty="0">
                <a:solidFill>
                  <a:srgbClr val="D0F0F0"/>
                </a:solidFill>
                <a:latin typeface="Calibri" pitchFamily="34" charset="0"/>
                <a:ea typeface="Calibri" pitchFamily="34" charset="-122"/>
                <a:cs typeface="Calibri" pitchFamily="34" charset="-120"/>
              </a:rPr>
              <a:t>Financial Summary</a:t>
            </a:r>
            <a:endParaRPr lang="en-US" sz="1300" dirty="0"/>
          </a:p>
        </p:txBody>
      </p:sp>
      <p:sp>
        <p:nvSpPr>
          <p:cNvPr id="23" name="Text 21"/>
          <p:cNvSpPr/>
          <p:nvPr/>
        </p:nvSpPr>
        <p:spPr>
          <a:xfrm>
            <a:off x="1920240" y="4078224"/>
            <a:ext cx="9692640" cy="384048"/>
          </a:xfrm>
          <a:prstGeom prst="rect">
            <a:avLst/>
          </a:prstGeom>
          <a:noFill/>
          <a:ln/>
        </p:spPr>
        <p:txBody>
          <a:bodyPr wrap="square" rtlCol="0" anchor="ctr"/>
          <a:lstStyle/>
          <a:p>
            <a:pPr indent="0" marL="0">
              <a:buNone/>
            </a:pPr>
            <a:r>
              <a:rPr lang="en-US" sz="1100" b="1" dirty="0">
                <a:solidFill>
                  <a:srgbClr val="1A2B4A"/>
                </a:solidFill>
                <a:latin typeface="Calibri" pitchFamily="34" charset="0"/>
                <a:ea typeface="Calibri" pitchFamily="34" charset="-122"/>
                <a:cs typeface="Calibri" pitchFamily="34" charset="-120"/>
              </a:rPr>
              <a:t>Answers: Q2 &amp; Q3 — Revenue by month/hospital, insurance coverage rate, out-of-pocket</a:t>
            </a:r>
            <a:endParaRPr lang="en-US" sz="1100" dirty="0"/>
          </a:p>
        </p:txBody>
      </p:sp>
      <p:sp>
        <p:nvSpPr>
          <p:cNvPr id="24" name="Text 22"/>
          <p:cNvSpPr/>
          <p:nvPr/>
        </p:nvSpPr>
        <p:spPr>
          <a:xfrm>
            <a:off x="1920240" y="4517136"/>
            <a:ext cx="9692640" cy="50292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Visuals: 100% Stacked bar + Column chart + Treemap + 4 KPI cards + Gauge</a:t>
            </a:r>
            <a:endParaRPr lang="en-US" sz="1100" dirty="0"/>
          </a:p>
        </p:txBody>
      </p:sp>
      <p:sp>
        <p:nvSpPr>
          <p:cNvPr id="25" name="Shape 23"/>
          <p:cNvSpPr/>
          <p:nvPr/>
        </p:nvSpPr>
        <p:spPr>
          <a:xfrm>
            <a:off x="320040" y="5248656"/>
            <a:ext cx="11475720" cy="1170432"/>
          </a:xfrm>
          <a:prstGeom prst="roundRect">
            <a:avLst>
              <a:gd name="adj" fmla="val 7031"/>
            </a:avLst>
          </a:prstGeom>
          <a:solidFill>
            <a:srgbClr val="FFFFFF"/>
          </a:solidFill>
          <a:ln w="10160">
            <a:solidFill>
              <a:srgbClr val="D0DCE4"/>
            </a:solidFill>
            <a:prstDash val="solid"/>
          </a:ln>
        </p:spPr>
      </p:sp>
      <p:sp>
        <p:nvSpPr>
          <p:cNvPr id="26" name="Shape 24"/>
          <p:cNvSpPr/>
          <p:nvPr/>
        </p:nvSpPr>
        <p:spPr>
          <a:xfrm>
            <a:off x="320040" y="5248656"/>
            <a:ext cx="1463040" cy="1170432"/>
          </a:xfrm>
          <a:prstGeom prst="roundRect">
            <a:avLst>
              <a:gd name="adj" fmla="val 7031"/>
            </a:avLst>
          </a:prstGeom>
          <a:solidFill>
            <a:srgbClr val="E67E22"/>
          </a:solidFill>
          <a:ln/>
        </p:spPr>
      </p:sp>
      <p:sp>
        <p:nvSpPr>
          <p:cNvPr id="27" name="Text 25"/>
          <p:cNvSpPr/>
          <p:nvPr/>
        </p:nvSpPr>
        <p:spPr>
          <a:xfrm>
            <a:off x="320040" y="5340096"/>
            <a:ext cx="1463040" cy="384048"/>
          </a:xfrm>
          <a:prstGeom prst="rect">
            <a:avLst/>
          </a:prstGeom>
          <a:noFill/>
          <a:ln/>
        </p:spPr>
        <p:txBody>
          <a:bodyPr wrap="square"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PAGE 4</a:t>
            </a:r>
            <a:endParaRPr lang="en-US" sz="1200" dirty="0"/>
          </a:p>
        </p:txBody>
      </p:sp>
      <p:sp>
        <p:nvSpPr>
          <p:cNvPr id="28" name="Text 26"/>
          <p:cNvSpPr/>
          <p:nvPr/>
        </p:nvSpPr>
        <p:spPr>
          <a:xfrm>
            <a:off x="320040" y="5724144"/>
            <a:ext cx="1463040" cy="502920"/>
          </a:xfrm>
          <a:prstGeom prst="rect">
            <a:avLst/>
          </a:prstGeom>
          <a:noFill/>
          <a:ln/>
        </p:spPr>
        <p:txBody>
          <a:bodyPr wrap="square" rtlCol="0" anchor="ctr"/>
          <a:lstStyle/>
          <a:p>
            <a:pPr algn="ctr" indent="0" marL="0">
              <a:buNone/>
            </a:pPr>
            <a:r>
              <a:rPr lang="en-US" sz="1300" b="1" dirty="0">
                <a:solidFill>
                  <a:srgbClr val="D0F0F0"/>
                </a:solidFill>
                <a:latin typeface="Calibri" pitchFamily="34" charset="0"/>
                <a:ea typeface="Calibri" pitchFamily="34" charset="-122"/>
                <a:cs typeface="Calibri" pitchFamily="34" charset="-120"/>
              </a:rPr>
              <a:t>Quality &amp; Satisfaction</a:t>
            </a:r>
            <a:endParaRPr lang="en-US" sz="1300" dirty="0"/>
          </a:p>
        </p:txBody>
      </p:sp>
      <p:sp>
        <p:nvSpPr>
          <p:cNvPr id="29" name="Text 27"/>
          <p:cNvSpPr/>
          <p:nvPr/>
        </p:nvSpPr>
        <p:spPr>
          <a:xfrm>
            <a:off x="1920240" y="5340096"/>
            <a:ext cx="9692640" cy="384048"/>
          </a:xfrm>
          <a:prstGeom prst="rect">
            <a:avLst/>
          </a:prstGeom>
          <a:noFill/>
          <a:ln/>
        </p:spPr>
        <p:txBody>
          <a:bodyPr wrap="square" rtlCol="0" anchor="ctr"/>
          <a:lstStyle/>
          <a:p>
            <a:pPr indent="0" marL="0">
              <a:buNone/>
            </a:pPr>
            <a:r>
              <a:rPr lang="en-US" sz="1100" b="1" dirty="0">
                <a:solidFill>
                  <a:srgbClr val="1A2B4A"/>
                </a:solidFill>
                <a:latin typeface="Calibri" pitchFamily="34" charset="0"/>
                <a:ea typeface="Calibri" pitchFamily="34" charset="-122"/>
                <a:cs typeface="Calibri" pitchFamily="34" charset="-120"/>
              </a:rPr>
              <a:t>Answers: Q4 — Doctor performance, satisfaction trends, patient outcome breakdown</a:t>
            </a:r>
            <a:endParaRPr lang="en-US" sz="1100" dirty="0"/>
          </a:p>
        </p:txBody>
      </p:sp>
      <p:sp>
        <p:nvSpPr>
          <p:cNvPr id="30" name="Text 28"/>
          <p:cNvSpPr/>
          <p:nvPr/>
        </p:nvSpPr>
        <p:spPr>
          <a:xfrm>
            <a:off x="1920240" y="5779008"/>
            <a:ext cx="9692640" cy="502920"/>
          </a:xfrm>
          <a:prstGeom prst="rect">
            <a:avLst/>
          </a:prstGeom>
          <a:noFill/>
          <a:ln/>
        </p:spPr>
        <p:txBody>
          <a:bodyPr wrap="square" rtlCol="0" anchor="ctr"/>
          <a:lstStyle/>
          <a:p>
            <a:pPr indent="0" marL="0">
              <a:buNone/>
            </a:pPr>
            <a:r>
              <a:rPr lang="en-US" sz="1100" dirty="0">
                <a:solidFill>
                  <a:srgbClr val="3D5A6C"/>
                </a:solidFill>
                <a:latin typeface="Calibri" pitchFamily="34" charset="0"/>
                <a:ea typeface="Calibri" pitchFamily="34" charset="-122"/>
                <a:cs typeface="Calibri" pitchFamily="34" charset="-120"/>
              </a:rPr>
              <a:t>Visuals: Bar chart + Column chart + Scatter chart + Table + Drill-through</a:t>
            </a:r>
            <a:endParaRPr lang="en-US" sz="1100" dirty="0"/>
          </a:p>
        </p:txBody>
      </p:sp>
      <p:sp>
        <p:nvSpPr>
          <p:cNvPr id="31" name="Shape 29"/>
          <p:cNvSpPr/>
          <p:nvPr/>
        </p:nvSpPr>
        <p:spPr>
          <a:xfrm>
            <a:off x="320040" y="6492240"/>
            <a:ext cx="11475720" cy="256032"/>
          </a:xfrm>
          <a:prstGeom prst="roundRect">
            <a:avLst>
              <a:gd name="adj" fmla="val 21429"/>
            </a:avLst>
          </a:prstGeom>
          <a:solidFill>
            <a:srgbClr val="006D77"/>
          </a:solidFill>
          <a:ln w="10160">
            <a:solidFill>
              <a:srgbClr val="006D77"/>
            </a:solidFill>
            <a:prstDash val="solid"/>
          </a:ln>
        </p:spPr>
      </p:sp>
      <p:sp>
        <p:nvSpPr>
          <p:cNvPr id="32" name="Text 30"/>
          <p:cNvSpPr/>
          <p:nvPr/>
        </p:nvSpPr>
        <p:spPr>
          <a:xfrm>
            <a:off x="475488" y="6519672"/>
            <a:ext cx="11064240" cy="201168"/>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DAX Measures built: Total Admissions · Total Patients · Total Revenue · Total Insurance · Total Out of Pocket · Avg Length of Stay · Avg Satisfaction · Avg Bill · Insurance Rate % · Recovery Rate % · YTD Revenue · Monthly Admissions · Prev Year Revenue · Revenue Growth %</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A2B4A"/>
          </a:solidFill>
          <a:ln/>
        </p:spPr>
      </p:sp>
      <p:sp>
        <p:nvSpPr>
          <p:cNvPr id="3" name="Shape 1"/>
          <p:cNvSpPr/>
          <p:nvPr/>
        </p:nvSpPr>
        <p:spPr>
          <a:xfrm>
            <a:off x="0" y="0"/>
            <a:ext cx="502920" cy="6858000"/>
          </a:xfrm>
          <a:prstGeom prst="rect">
            <a:avLst/>
          </a:prstGeom>
          <a:solidFill>
            <a:srgbClr val="006D77"/>
          </a:solidFill>
          <a:ln/>
        </p:spPr>
      </p:sp>
      <p:sp>
        <p:nvSpPr>
          <p:cNvPr id="4" name="Shape 2"/>
          <p:cNvSpPr/>
          <p:nvPr/>
        </p:nvSpPr>
        <p:spPr>
          <a:xfrm>
            <a:off x="0" y="6446520"/>
            <a:ext cx="12161520" cy="411480"/>
          </a:xfrm>
          <a:prstGeom prst="rect">
            <a:avLst/>
          </a:prstGeom>
          <a:solidFill>
            <a:srgbClr val="E29F18"/>
          </a:solidFill>
          <a:ln/>
        </p:spPr>
      </p:sp>
      <p:sp>
        <p:nvSpPr>
          <p:cNvPr id="5" name="Text 3"/>
          <p:cNvSpPr/>
          <p:nvPr/>
        </p:nvSpPr>
        <p:spPr>
          <a:xfrm>
            <a:off x="8412480" y="1645920"/>
            <a:ext cx="3200400" cy="3200400"/>
          </a:xfrm>
          <a:prstGeom prst="rect">
            <a:avLst/>
          </a:prstGeom>
          <a:noFill/>
          <a:ln/>
        </p:spPr>
        <p:txBody>
          <a:bodyPr wrap="square" rtlCol="0" anchor="ctr"/>
          <a:lstStyle/>
          <a:p>
            <a:pPr algn="ctr" indent="0" marL="0">
              <a:buNone/>
            </a:pPr>
            <a:r>
              <a:rPr lang="en-US" sz="11000" dirty="0">
                <a:solidFill>
                  <a:srgbClr val="000000"/>
                </a:solidFill>
              </a:rPr>
              <a:t>🏥</a:t>
            </a:r>
            <a:endParaRPr lang="en-US" sz="11000" dirty="0"/>
          </a:p>
        </p:txBody>
      </p:sp>
      <p:sp>
        <p:nvSpPr>
          <p:cNvPr id="6" name="Text 4"/>
          <p:cNvSpPr/>
          <p:nvPr/>
        </p:nvSpPr>
        <p:spPr>
          <a:xfrm>
            <a:off x="822960" y="914400"/>
            <a:ext cx="7315200" cy="457200"/>
          </a:xfrm>
          <a:prstGeom prst="rect">
            <a:avLst/>
          </a:prstGeom>
          <a:noFill/>
          <a:ln/>
        </p:spPr>
        <p:txBody>
          <a:bodyPr wrap="square" rtlCol="0" anchor="ctr"/>
          <a:lstStyle/>
          <a:p>
            <a:pPr indent="0" marL="0">
              <a:buNone/>
            </a:pPr>
            <a:r>
              <a:rPr lang="en-US" sz="1200" b="1" spc="500" kern="0" dirty="0">
                <a:solidFill>
                  <a:srgbClr val="83C5BE"/>
                </a:solidFill>
                <a:latin typeface="Calibri" pitchFamily="34" charset="0"/>
                <a:ea typeface="Calibri" pitchFamily="34" charset="-122"/>
                <a:cs typeface="Calibri" pitchFamily="34" charset="-120"/>
              </a:rPr>
              <a:t>PROJECT COMPLETE</a:t>
            </a:r>
            <a:endParaRPr lang="en-US" sz="1200" dirty="0"/>
          </a:p>
        </p:txBody>
      </p:sp>
      <p:sp>
        <p:nvSpPr>
          <p:cNvPr id="7" name="Text 5"/>
          <p:cNvSpPr/>
          <p:nvPr/>
        </p:nvSpPr>
        <p:spPr>
          <a:xfrm>
            <a:off x="822960" y="1417320"/>
            <a:ext cx="7315200" cy="2194560"/>
          </a:xfrm>
          <a:prstGeom prst="rect">
            <a:avLst/>
          </a:prstGeom>
          <a:noFill/>
          <a:ln/>
        </p:spPr>
        <p:txBody>
          <a:bodyPr wrap="square" rtlCol="0" anchor="ctr"/>
          <a:lstStyle/>
          <a:p>
            <a:pPr indent="0" marL="0">
              <a:lnSpc>
                <a:spcPct val="110000"/>
              </a:lnSpc>
              <a:buNone/>
            </a:pPr>
            <a:r>
              <a:rPr lang="en-US" sz="4400" b="1" dirty="0">
                <a:solidFill>
                  <a:srgbClr val="FFFFFF"/>
                </a:solidFill>
                <a:latin typeface="Calibri" pitchFamily="34" charset="0"/>
                <a:ea typeface="Calibri" pitchFamily="34" charset="-122"/>
                <a:cs typeface="Calibri" pitchFamily="34" charset="-120"/>
              </a:rPr>
              <a:t>You built a</a:t>
            </a:r>
            <a:endParaRPr lang="en-US" sz="4400" dirty="0"/>
          </a:p>
          <a:p>
            <a:pPr indent="0" marL="0">
              <a:lnSpc>
                <a:spcPct val="110000"/>
              </a:lnSpc>
              <a:buNone/>
            </a:pPr>
            <a:r>
              <a:rPr lang="en-US" sz="4400" b="1" dirty="0">
                <a:solidFill>
                  <a:srgbClr val="FFFFFF"/>
                </a:solidFill>
                <a:latin typeface="Calibri" pitchFamily="34" charset="0"/>
                <a:ea typeface="Calibri" pitchFamily="34" charset="-122"/>
                <a:cs typeface="Calibri" pitchFamily="34" charset="-120"/>
              </a:rPr>
              <a:t>real healthcare</a:t>
            </a:r>
            <a:endParaRPr lang="en-US" sz="4400" dirty="0"/>
          </a:p>
          <a:p>
            <a:pPr indent="0" marL="0">
              <a:lnSpc>
                <a:spcPct val="110000"/>
              </a:lnSpc>
              <a:buNone/>
            </a:pPr>
            <a:r>
              <a:rPr lang="en-US" sz="4400" b="1" dirty="0">
                <a:solidFill>
                  <a:srgbClr val="FFFFFF"/>
                </a:solidFill>
                <a:latin typeface="Calibri" pitchFamily="34" charset="0"/>
                <a:ea typeface="Calibri" pitchFamily="34" charset="-122"/>
                <a:cs typeface="Calibri" pitchFamily="34" charset="-120"/>
              </a:rPr>
              <a:t>analytics dashboard.</a:t>
            </a:r>
            <a:endParaRPr lang="en-US" sz="4400" dirty="0"/>
          </a:p>
        </p:txBody>
      </p:sp>
      <p:sp>
        <p:nvSpPr>
          <p:cNvPr id="8" name="Text 6"/>
          <p:cNvSpPr/>
          <p:nvPr/>
        </p:nvSpPr>
        <p:spPr>
          <a:xfrm>
            <a:off x="822960" y="3794760"/>
            <a:ext cx="7315200" cy="365760"/>
          </a:xfrm>
          <a:prstGeom prst="rect">
            <a:avLst/>
          </a:prstGeom>
          <a:noFill/>
          <a:ln/>
        </p:spPr>
        <p:txBody>
          <a:bodyPr wrap="square" rtlCol="0" anchor="ctr"/>
          <a:lstStyle/>
          <a:p>
            <a:pPr indent="0" marL="0">
              <a:buNone/>
            </a:pPr>
            <a:r>
              <a:rPr lang="en-US" sz="1300" b="1" dirty="0">
                <a:solidFill>
                  <a:srgbClr val="83C5BE"/>
                </a:solidFill>
                <a:latin typeface="Calibri" pitchFamily="34" charset="0"/>
                <a:ea typeface="Calibri" pitchFamily="34" charset="-122"/>
                <a:cs typeface="Calibri" pitchFamily="34" charset="-120"/>
              </a:rPr>
              <a:t>What you did in this project:</a:t>
            </a:r>
            <a:endParaRPr lang="en-US" sz="1300" dirty="0"/>
          </a:p>
        </p:txBody>
      </p:sp>
      <p:sp>
        <p:nvSpPr>
          <p:cNvPr id="9" name="Text 7"/>
          <p:cNvSpPr/>
          <p:nvPr/>
        </p:nvSpPr>
        <p:spPr>
          <a:xfrm>
            <a:off x="822960" y="4251960"/>
            <a:ext cx="7315200" cy="347472"/>
          </a:xfrm>
          <a:prstGeom prst="rect">
            <a:avLst/>
          </a:prstGeom>
          <a:noFill/>
          <a:ln/>
        </p:spPr>
        <p:txBody>
          <a:bodyPr wrap="square" rtlCol="0" anchor="ctr"/>
          <a:lstStyle/>
          <a:p>
            <a:pPr indent="0" marL="0">
              <a:buNone/>
            </a:pPr>
            <a:r>
              <a:rPr lang="en-US" sz="1200" dirty="0">
                <a:solidFill>
                  <a:srgbClr val="83C5BE"/>
                </a:solidFill>
                <a:latin typeface="Calibri" pitchFamily="34" charset="0"/>
                <a:ea typeface="Calibri" pitchFamily="34" charset="-122"/>
                <a:cs typeface="Calibri" pitchFamily="34" charset="-120"/>
              </a:rPr>
              <a:t>✔  Loaded and cleaned 1,500 rows across 2 CSV files using Power Query</a:t>
            </a:r>
            <a:endParaRPr lang="en-US" sz="1200" dirty="0"/>
          </a:p>
        </p:txBody>
      </p:sp>
      <p:sp>
        <p:nvSpPr>
          <p:cNvPr id="10" name="Text 8"/>
          <p:cNvSpPr/>
          <p:nvPr/>
        </p:nvSpPr>
        <p:spPr>
          <a:xfrm>
            <a:off x="822960" y="4654296"/>
            <a:ext cx="7315200" cy="347472"/>
          </a:xfrm>
          <a:prstGeom prst="rect">
            <a:avLst/>
          </a:prstGeom>
          <a:noFill/>
          <a:ln/>
        </p:spPr>
        <p:txBody>
          <a:bodyPr wrap="square" rtlCol="0" anchor="ctr"/>
          <a:lstStyle/>
          <a:p>
            <a:pPr indent="0" marL="0">
              <a:buNone/>
            </a:pPr>
            <a:r>
              <a:rPr lang="en-US" sz="1200" dirty="0">
                <a:solidFill>
                  <a:srgbClr val="83C5BE"/>
                </a:solidFill>
                <a:latin typeface="Calibri" pitchFamily="34" charset="0"/>
                <a:ea typeface="Calibri" pitchFamily="34" charset="-122"/>
                <a:cs typeface="Calibri" pitchFamily="34" charset="-120"/>
              </a:rPr>
              <a:t>✔  Built a Star Schema model with 3 tables and 2 relationships</a:t>
            </a:r>
            <a:endParaRPr lang="en-US" sz="1200" dirty="0"/>
          </a:p>
        </p:txBody>
      </p:sp>
      <p:sp>
        <p:nvSpPr>
          <p:cNvPr id="11" name="Text 9"/>
          <p:cNvSpPr/>
          <p:nvPr/>
        </p:nvSpPr>
        <p:spPr>
          <a:xfrm>
            <a:off x="822960" y="5056632"/>
            <a:ext cx="7315200" cy="347472"/>
          </a:xfrm>
          <a:prstGeom prst="rect">
            <a:avLst/>
          </a:prstGeom>
          <a:noFill/>
          <a:ln/>
        </p:spPr>
        <p:txBody>
          <a:bodyPr wrap="square" rtlCol="0" anchor="ctr"/>
          <a:lstStyle/>
          <a:p>
            <a:pPr indent="0" marL="0">
              <a:buNone/>
            </a:pPr>
            <a:r>
              <a:rPr lang="en-US" sz="1200" dirty="0">
                <a:solidFill>
                  <a:srgbClr val="D0F0F0"/>
                </a:solidFill>
                <a:latin typeface="Calibri" pitchFamily="34" charset="0"/>
                <a:ea typeface="Calibri" pitchFamily="34" charset="-122"/>
                <a:cs typeface="Calibri" pitchFamily="34" charset="-120"/>
              </a:rPr>
              <a:t>✔  Wrote 14 DAX measures including CALCULATE, FILTER, DIVIDE, and time intelligence</a:t>
            </a:r>
            <a:endParaRPr lang="en-US" sz="1200" dirty="0"/>
          </a:p>
        </p:txBody>
      </p:sp>
      <p:sp>
        <p:nvSpPr>
          <p:cNvPr id="12" name="Text 10"/>
          <p:cNvSpPr/>
          <p:nvPr/>
        </p:nvSpPr>
        <p:spPr>
          <a:xfrm>
            <a:off x="822960" y="5458968"/>
            <a:ext cx="7315200" cy="347472"/>
          </a:xfrm>
          <a:prstGeom prst="rect">
            <a:avLst/>
          </a:prstGeom>
          <a:noFill/>
          <a:ln/>
        </p:spPr>
        <p:txBody>
          <a:bodyPr wrap="square" rtlCol="0" anchor="ctr"/>
          <a:lstStyle/>
          <a:p>
            <a:pPr indent="0" marL="0">
              <a:buNone/>
            </a:pPr>
            <a:r>
              <a:rPr lang="en-US" sz="1200" dirty="0">
                <a:solidFill>
                  <a:srgbClr val="D0F0F0"/>
                </a:solidFill>
                <a:latin typeface="Calibri" pitchFamily="34" charset="0"/>
                <a:ea typeface="Calibri" pitchFamily="34" charset="-122"/>
                <a:cs typeface="Calibri" pitchFamily="34" charset="-120"/>
              </a:rPr>
              <a:t>✔  Designed a 4-page professional interactive report</a:t>
            </a:r>
            <a:endParaRPr lang="en-US" sz="1200" dirty="0"/>
          </a:p>
        </p:txBody>
      </p:sp>
      <p:sp>
        <p:nvSpPr>
          <p:cNvPr id="13" name="Text 11"/>
          <p:cNvSpPr/>
          <p:nvPr/>
        </p:nvSpPr>
        <p:spPr>
          <a:xfrm>
            <a:off x="822960" y="5861304"/>
            <a:ext cx="7315200" cy="347472"/>
          </a:xfrm>
          <a:prstGeom prst="rect">
            <a:avLst/>
          </a:prstGeom>
          <a:noFill/>
          <a:ln/>
        </p:spPr>
        <p:txBody>
          <a:bodyPr wrap="square" rtlCol="0" anchor="ctr"/>
          <a:lstStyle/>
          <a:p>
            <a:pPr indent="0" marL="0">
              <a:buNone/>
            </a:pPr>
            <a:r>
              <a:rPr lang="en-US" sz="1200" dirty="0">
                <a:solidFill>
                  <a:srgbClr val="D0F0F0"/>
                </a:solidFill>
                <a:latin typeface="Calibri" pitchFamily="34" charset="0"/>
                <a:ea typeface="Calibri" pitchFamily="34" charset="-122"/>
                <a:cs typeface="Calibri" pitchFamily="34" charset="-120"/>
              </a:rPr>
              <a:t>✔  Published to Power BI Service and created a live Executive Dashboard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2026-07-21T23:06:35Z</dcterms:created>
  <dcterms:modified xsi:type="dcterms:W3CDTF">2026-07-21T23:06:35Z</dcterms:modified>
</cp:coreProperties>
</file>